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71" r:id="rId3"/>
    <p:sldId id="324" r:id="rId4"/>
    <p:sldId id="330" r:id="rId6"/>
    <p:sldId id="331" r:id="rId7"/>
    <p:sldId id="323" r:id="rId8"/>
  </p:sldIdLst>
  <p:sldSz cx="12192000" cy="6858000"/>
  <p:notesSz cx="6858000" cy="9144000"/>
  <p:embeddedFontLst>
    <p:embeddedFont>
      <p:font typeface="Open Sans Bold" panose="020B0806030504020204"/>
      <p:bold r:id="rId12"/>
    </p:embeddedFont>
    <p:embeddedFont>
      <p:font typeface="Montserrat Bold" panose="00000800000000000000" charset="0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E0B4"/>
    <a:srgbClr val="C4BD97"/>
    <a:srgbClr val="BFFFDC"/>
    <a:srgbClr val="10253F"/>
    <a:srgbClr val="F79646"/>
    <a:srgbClr val="4F6228"/>
    <a:srgbClr val="4F7FBD"/>
    <a:srgbClr val="EAD700"/>
    <a:srgbClr val="7030A0"/>
    <a:srgbClr val="336A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8" autoAdjust="0"/>
    <p:restoredTop sz="86450" autoAdjust="0"/>
  </p:normalViewPr>
  <p:slideViewPr>
    <p:cSldViewPr showGuides="1">
      <p:cViewPr>
        <p:scale>
          <a:sx n="100" d="100"/>
          <a:sy n="100" d="100"/>
        </p:scale>
        <p:origin x="-882" y="-1387"/>
      </p:cViewPr>
      <p:guideLst>
        <p:guide orient="horz" pos="1327"/>
        <p:guide pos="1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4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SUS\OneDrive\Desktop\test%20(3)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ASUS\OneDrive\Desktop\test%20(3)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ASUS\OneDrive\Desktop\test%20(3)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ASUS\OneDrive\Desktop\test%20(3)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ASUS\OneDrive\Desktop\test%20(3)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ASUS\OneDrive\Desktop\test%20(3)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ASUS\OneDrive\Desktop\test%20(3)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ASUS\OneDrive\Desktop\test%20(3)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ASUS\OneDrive\Desktop\test%20(3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5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500">
                <a:solidFill>
                  <a:schemeClr val="accent6"/>
                </a:solidFill>
              </a:rPr>
              <a:t>INDO</a:t>
            </a:r>
            <a:endParaRPr lang="vi-VN" sz="1500">
              <a:solidFill>
                <a:schemeClr val="accent6"/>
              </a:solidFill>
            </a:endParaRPr>
          </a:p>
        </c:rich>
      </c:tx>
      <c:layout>
        <c:manualLayout>
          <c:xMode val="edge"/>
          <c:yMode val="edge"/>
          <c:x val="0.501214083367058"/>
          <c:y val="0.26902287065011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06717927964387"/>
          <c:y val="0.0616302186878728"/>
          <c:w val="0.359166329421287"/>
          <c:h val="0.88220675944334"/>
        </c:manualLayout>
      </c:layout>
      <c:doughnutChart>
        <c:varyColors val="1"/>
        <c:ser>
          <c:idx val="0"/>
          <c:order val="0"/>
          <c:tx>
            <c:strRef>
              <c:f>'VN-INDO'!$C$16</c:f>
              <c:strCache>
                <c:ptCount val="1"/>
                <c:pt idx="0">
                  <c:v>INDO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5">
                  <a:lumMod val="75000"/>
                </a:schemeClr>
              </a:solidFill>
            </c:spPr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'VN-INDO'!$D$15:$E$15</c:f>
              <c:strCache>
                <c:ptCount val="2"/>
                <c:pt idx="0">
                  <c:v>JV</c:v>
                </c:pt>
                <c:pt idx="1">
                  <c:v>JV2</c:v>
                </c:pt>
              </c:strCache>
            </c:strRef>
          </c:cat>
          <c:val>
            <c:numRef>
              <c:f>'VN-INDO'!$D$16:$E$16</c:f>
              <c:numCache>
                <c:formatCode>General</c:formatCode>
                <c:ptCount val="2"/>
                <c:pt idx="0">
                  <c:v>99</c:v>
                </c:pt>
                <c:pt idx="1">
                  <c:v>571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6"/>
        <c:holeSize val="60"/>
      </c:doughnut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79846216106839"/>
          <c:y val="0.656063618290258"/>
          <c:w val="0.12161068393363"/>
          <c:h val="0.27833001988071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600">
                <a:solidFill>
                  <a:schemeClr val="accent6"/>
                </a:solidFill>
              </a:rPr>
              <a:t>VN</a:t>
            </a:r>
            <a:endParaRPr lang="vi-VN" sz="1600">
              <a:solidFill>
                <a:schemeClr val="accent6"/>
              </a:solidFill>
            </a:endParaRPr>
          </a:p>
        </c:rich>
      </c:tx>
      <c:layout>
        <c:manualLayout>
          <c:xMode val="edge"/>
          <c:yMode val="edge"/>
          <c:x val="0.526102792391744"/>
          <c:y val="0.23621968973560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06717927964387"/>
          <c:y val="0.0616302186878728"/>
          <c:w val="0.359166329421287"/>
          <c:h val="0.88220675944334"/>
        </c:manualLayout>
      </c:layout>
      <c:doughnutChart>
        <c:varyColors val="1"/>
        <c:ser>
          <c:idx val="0"/>
          <c:order val="0"/>
          <c:tx>
            <c:strRef>
              <c:f>'VN-INDO'!$C$5</c:f>
              <c:strCache>
                <c:ptCount val="1"/>
                <c:pt idx="0">
                  <c:v>VN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</c:spPr>
          <c:explosion val="1"/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'VN-INDO'!$D$4:$E$4</c:f>
              <c:strCache>
                <c:ptCount val="2"/>
                <c:pt idx="0">
                  <c:v>VH</c:v>
                </c:pt>
                <c:pt idx="1">
                  <c:v>VH2</c:v>
                </c:pt>
              </c:strCache>
            </c:strRef>
          </c:cat>
          <c:val>
            <c:numRef>
              <c:f>'VN-INDO'!$D$5:$E$5</c:f>
              <c:numCache>
                <c:formatCode>General</c:formatCode>
                <c:ptCount val="2"/>
                <c:pt idx="0">
                  <c:v>282</c:v>
                </c:pt>
                <c:pt idx="1">
                  <c:v>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84"/>
        <c:holeSize val="60"/>
      </c:doughnut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244840145690004"/>
          <c:y val="0.656198584355933"/>
          <c:w val="0.161270740590854"/>
          <c:h val="0.20474137931034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2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2000" dirty="0">
                <a:solidFill>
                  <a:schemeClr val="accent6"/>
                </a:solidFill>
              </a:rPr>
              <a:t>CLG</a:t>
            </a:r>
            <a:endParaRPr lang="vi-VN" sz="2000" dirty="0">
              <a:solidFill>
                <a:schemeClr val="accent6"/>
              </a:solidFill>
            </a:endParaRPr>
          </a:p>
        </c:rich>
      </c:tx>
      <c:layout>
        <c:manualLayout>
          <c:xMode val="edge"/>
          <c:yMode val="edge"/>
          <c:x val="0.443915501338887"/>
          <c:y val="0.24254473161033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309431716750967"/>
          <c:y val="0.0155199172271081"/>
          <c:w val="0.557274620648616"/>
          <c:h val="0.968960165545784"/>
        </c:manualLayout>
      </c:layout>
      <c:doughnutChart>
        <c:varyColors val="1"/>
        <c:ser>
          <c:idx val="0"/>
          <c:order val="0"/>
          <c:tx>
            <c:strRef>
              <c:f>'VN-INDO'!$O$4</c:f>
              <c:strCache>
                <c:ptCount val="1"/>
                <c:pt idx="0">
                  <c:v>CLG</c:v>
                </c:pt>
              </c:strCache>
            </c:strRef>
          </c:tx>
          <c:spPr>
            <a:ln w="12700" cmpd="sng">
              <a:solidFill>
                <a:schemeClr val="bg1"/>
              </a:solidFill>
              <a:prstDash val="solid"/>
            </a:ln>
            <a:sp3d contourW="12700"/>
          </c:spPr>
          <c:explosion val="0"/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12700" cmpd="sng">
                <a:solidFill>
                  <a:schemeClr val="bg1"/>
                </a:solidFill>
                <a:prstDash val="solid"/>
              </a:ln>
              <a:effectLst/>
              <a:sp3d contourW="12700"/>
            </c:spPr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 w="12700" cmpd="sng">
                <a:solidFill>
                  <a:schemeClr val="bg1"/>
                </a:solidFill>
                <a:prstDash val="solid"/>
              </a:ln>
              <a:effectLst/>
              <a:sp3d contourW="12700"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shade val="95000"/>
                          <a:satMod val="10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'VN-INDO'!$P$3:$Q$3</c:f>
              <c:strCache>
                <c:ptCount val="2"/>
                <c:pt idx="0">
                  <c:v>VN</c:v>
                </c:pt>
                <c:pt idx="1">
                  <c:v>INDO</c:v>
                </c:pt>
              </c:strCache>
            </c:strRef>
          </c:cat>
          <c:val>
            <c:numRef>
              <c:f>'VN-INDO'!$P$4:$Q$4</c:f>
              <c:numCache>
                <c:formatCode>General</c:formatCode>
                <c:ptCount val="2"/>
                <c:pt idx="0">
                  <c:v>305</c:v>
                </c:pt>
                <c:pt idx="1">
                  <c:v>670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14"/>
        <c:holeSize val="59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</a:p>
  </c:txPr>
  <c:externalData r:id="rId1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27033970882101"/>
          <c:y val="0.0143215180809166"/>
          <c:w val="0.963531258920925"/>
          <c:h val="0.83186537773003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're-vh'!$C$4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're-vh'!$A$5:$A$9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Sole attachment</c:v>
                </c:pt>
                <c:pt idx="4">
                  <c:v>Heel/Tip height inconsistent</c:v>
                </c:pt>
              </c:strCache>
            </c:strRef>
          </c:cat>
          <c:val>
            <c:numRef>
              <c:f>'re-vh'!$C$5:$C$9</c:f>
              <c:numCache>
                <c:formatCode>General</c:formatCode>
                <c:ptCount val="5"/>
                <c:pt idx="0">
                  <c:v>143</c:v>
                </c:pt>
                <c:pt idx="1">
                  <c:v>121</c:v>
                </c:pt>
                <c:pt idx="2">
                  <c:v>115</c:v>
                </c:pt>
                <c:pt idx="3">
                  <c:v>68</c:v>
                </c:pt>
                <c:pt idx="4">
                  <c:v>53</c:v>
                </c:pt>
              </c:numCache>
            </c:numRef>
          </c:val>
        </c:ser>
        <c:ser>
          <c:idx val="1"/>
          <c:order val="1"/>
          <c:tx>
            <c:strRef>
              <c:f>'re-vh'!$D$4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-0.00331619963521804"/>
                  <c:y val="0.035415222543676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dirty="0"/>
                      <a:t>Cleanness,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15.38%</a:t>
                    </a:r>
                    <a:endParaRPr lang="en-US" sz="900" b="1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70485823246559"/>
                      <c:h val="0.0952950991827129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65136854180939"/>
                  <c:y val="0.0648617721954206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 algn="r">
                      <a:lnSpc>
                        <a:spcPts val="800"/>
                      </a:lnSpc>
                      <a:spcBef>
                        <a:spcPts val="1200"/>
                      </a:spcBef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13.01%</a:t>
                    </a:r>
                    <a:endParaRPr lang="en-US" sz="900" b="1" dirty="0">
                      <a:solidFill>
                        <a:srgbClr val="00B050"/>
                      </a:solid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0"/>
                <a:lstStyle/>
                <a:p>
                  <a:pPr algn="r">
                    <a:defRPr lang="en-US" sz="9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4434752322835"/>
                      <c:h val="0.272070068370742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414807002078694"/>
                  <c:y val="0.052621117211591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Midsole/Outsole to upper bond gap,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12.37%</a:t>
                    </a:r>
                    <a:endParaRPr lang="en-US" sz="900" b="1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52486605369024"/>
                      <c:h val="0.158834832189046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383706040744462"/>
                  <c:y val="0.038916973779874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dirty="0"/>
                      <a:t> </a:t>
                    </a: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Sole attachment</a:t>
                    </a:r>
                    <a:r>
                      <a:rPr lang="en-US" sz="900" b="1" dirty="0"/>
                      <a:t>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7.31%</a:t>
                    </a:r>
                    <a:endParaRPr lang="en-US" sz="900" b="1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78676836345548"/>
                      <c:h val="0.161337924249877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0.380415621650345"/>
                  <c:y val="0.056501977843175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Heel/Tip height inconsistent</a:t>
                    </a:r>
                    <a:r>
                      <a:rPr lang="en-US" sz="900" b="1" dirty="0"/>
                      <a:t>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5.7%</a:t>
                    </a:r>
                    <a:endParaRPr lang="en-US" sz="900" b="1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78676836345548"/>
                      <c:h val="0.11362518445646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're-vh'!$A$5:$A$9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Sole attachment</c:v>
                </c:pt>
                <c:pt idx="4">
                  <c:v>Heel/Tip height inconsistent</c:v>
                </c:pt>
              </c:strCache>
            </c:strRef>
          </c:cat>
          <c:val>
            <c:numRef>
              <c:f>'re-vh'!$D$5:$D$9</c:f>
              <c:numCache>
                <c:formatCode>0.00%</c:formatCode>
                <c:ptCount val="5"/>
                <c:pt idx="0">
                  <c:v>0.153763440860215</c:v>
                </c:pt>
                <c:pt idx="1">
                  <c:v>0.13010752688172</c:v>
                </c:pt>
                <c:pt idx="2">
                  <c:v>0.123655913978495</c:v>
                </c:pt>
                <c:pt idx="3">
                  <c:v>0.0731182795698925</c:v>
                </c:pt>
                <c:pt idx="4">
                  <c:v>0.056989247311828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"/>
        <c:overlap val="40"/>
        <c:axId val="366460779"/>
        <c:axId val="98868821"/>
      </c:barChart>
      <c:catAx>
        <c:axId val="366460779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8868821"/>
        <c:crosses val="autoZero"/>
        <c:auto val="1"/>
        <c:lblAlgn val="ctr"/>
        <c:lblOffset val="100"/>
        <c:noMultiLvlLbl val="0"/>
      </c:catAx>
      <c:valAx>
        <c:axId val="98868821"/>
        <c:scaling>
          <c:orientation val="minMax"/>
          <c:max val="255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66460779"/>
        <c:crosses val="autoZero"/>
        <c:crossBetween val="between"/>
        <c:majorUnit val="100"/>
      </c:valAx>
      <c:spPr>
        <a:gradFill>
          <a:gsLst>
            <a:gs pos="21000">
              <a:srgbClr val="D9D9D9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chemeClr val="bg1">
                <a:lumMod val="75000"/>
              </a:schemeClr>
            </a:gs>
          </a:gsLst>
          <a:lin ang="21594000" scaled="0"/>
        </a:gradFill>
        <a:ln>
          <a:noFill/>
        </a:ln>
        <a:effectLst/>
      </c:spPr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293815287680318"/>
          <c:y val="0.014756826983343"/>
          <c:w val="0.210578676836346"/>
          <c:h val="0.113625184456468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</a:p>
  </c:txPr>
  <c:externalData r:id="rId1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32743362831858"/>
          <c:y val="0.0107411385606874"/>
          <c:w val="0.94775906365972"/>
          <c:h val="0.76992481203007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're-vh2'!$C$4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're-vh2'!$A$5:$A$9</c:f>
              <c:strCache>
                <c:ptCount val="5"/>
                <c:pt idx="0">
                  <c:v>Cleanness</c:v>
                </c:pt>
                <c:pt idx="1">
                  <c:v>Airbag quality/stain</c:v>
                </c:pt>
                <c:pt idx="2">
                  <c:v>Midsole/Outsole to upper bond gap</c:v>
                </c:pt>
                <c:pt idx="3">
                  <c:v>Others</c:v>
                </c:pt>
                <c:pt idx="4">
                  <c:v>Thread end</c:v>
                </c:pt>
              </c:strCache>
            </c:strRef>
          </c:cat>
          <c:val>
            <c:numRef>
              <c:f>'re-vh2'!$C$5:$C$9</c:f>
              <c:numCache>
                <c:formatCode>General</c:formatCode>
                <c:ptCount val="5"/>
                <c:pt idx="0">
                  <c:v>49</c:v>
                </c:pt>
                <c:pt idx="1">
                  <c:v>27</c:v>
                </c:pt>
                <c:pt idx="2">
                  <c:v>23</c:v>
                </c:pt>
                <c:pt idx="3">
                  <c:v>19</c:v>
                </c:pt>
                <c:pt idx="4">
                  <c:v>17</c:v>
                </c:pt>
              </c:numCache>
            </c:numRef>
          </c:val>
        </c:ser>
        <c:ser>
          <c:idx val="1"/>
          <c:order val="1"/>
          <c:tx>
            <c:strRef>
              <c:f>'re-vh2'!$D$4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0.375436269458167"/>
                  <c:y val="0.014748450740781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Cleanness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27.53%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89864842423752"/>
                      <c:h val="0.353622270676041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1.16946644730595e-7"/>
                  <c:y val="0.030783157092537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 Airbag quality/stain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15.17%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5843143757254"/>
                      <c:h val="0.16379734382685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000121507563875088"/>
                  <c:y val="0.0310160176789966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Midsole/Outsole to upper bond gap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12.92%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5843143757254"/>
                      <c:h val="0.132808657156911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00268146961702781"/>
                  <c:y val="0.0233776382045988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Others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10.67%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4516750735711"/>
                      <c:h val="0.126099990151746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0.253573936476777"/>
                  <c:y val="-0.00584447683796208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 </a:t>
                    </a: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 9.55%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712651334805613"/>
                      <c:h val="0.16391360412043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're-vh2'!$A$5:$A$9</c:f>
              <c:strCache>
                <c:ptCount val="5"/>
                <c:pt idx="0">
                  <c:v>Cleanness</c:v>
                </c:pt>
                <c:pt idx="1">
                  <c:v>Airbag quality/stain</c:v>
                </c:pt>
                <c:pt idx="2">
                  <c:v>Midsole/Outsole to upper bond gap</c:v>
                </c:pt>
                <c:pt idx="3">
                  <c:v>Others</c:v>
                </c:pt>
                <c:pt idx="4">
                  <c:v>Thread end</c:v>
                </c:pt>
              </c:strCache>
            </c:strRef>
          </c:cat>
          <c:val>
            <c:numRef>
              <c:f>'re-vh2'!$D$5:$D$9</c:f>
              <c:numCache>
                <c:formatCode>0.00%</c:formatCode>
                <c:ptCount val="5"/>
                <c:pt idx="0">
                  <c:v>0.275280898876405</c:v>
                </c:pt>
                <c:pt idx="1">
                  <c:v>0.151685393258427</c:v>
                </c:pt>
                <c:pt idx="2">
                  <c:v>0.129213483146067</c:v>
                </c:pt>
                <c:pt idx="3">
                  <c:v>0.106741573033708</c:v>
                </c:pt>
                <c:pt idx="4">
                  <c:v>0.0955056179775281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"/>
        <c:overlap val="40"/>
        <c:axId val="680829220"/>
        <c:axId val="857071183"/>
      </c:barChart>
      <c:catAx>
        <c:axId val="680829220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857071183"/>
        <c:crosses val="autoZero"/>
        <c:auto val="1"/>
        <c:lblAlgn val="ctr"/>
        <c:lblOffset val="100"/>
        <c:noMultiLvlLbl val="0"/>
      </c:catAx>
      <c:valAx>
        <c:axId val="857071183"/>
        <c:scaling>
          <c:orientation val="minMax"/>
          <c:max val="92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80829220"/>
        <c:crosses val="autoZero"/>
        <c:crossBetween val="between"/>
        <c:majorUnit val="5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 b="1">
          <a:solidFill>
            <a:schemeClr val="bg1"/>
          </a:solidFill>
        </a:defRPr>
      </a:pPr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91178989437625"/>
          <c:y val="0.0107104605498036"/>
          <c:w val="0.947116757065373"/>
          <c:h val="0.8416279900035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'RE-JV'!$C$5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'RE-JV'!$A$6:$A$10</c:f>
              <c:strCache>
                <c:ptCount val="5"/>
                <c:pt idx="0">
                  <c:v>Midsole/Outsole to upper bond gap</c:v>
                </c:pt>
                <c:pt idx="1">
                  <c:v>Over cement</c:v>
                </c:pt>
                <c:pt idx="2">
                  <c:v>Cleanness</c:v>
                </c:pt>
                <c:pt idx="3">
                  <c:v>Thread end</c:v>
                </c:pt>
                <c:pt idx="4">
                  <c:v>Sockliner position</c:v>
                </c:pt>
              </c:strCache>
            </c:strRef>
          </c:cat>
          <c:val>
            <c:numRef>
              <c:f>'RE-JV'!$C$6:$C$10</c:f>
              <c:numCache>
                <c:formatCode>General</c:formatCode>
                <c:ptCount val="5"/>
                <c:pt idx="0">
                  <c:v>392</c:v>
                </c:pt>
                <c:pt idx="1">
                  <c:v>320</c:v>
                </c:pt>
                <c:pt idx="2">
                  <c:v>233</c:v>
                </c:pt>
                <c:pt idx="3">
                  <c:v>195</c:v>
                </c:pt>
                <c:pt idx="4">
                  <c:v>80</c:v>
                </c:pt>
              </c:numCache>
            </c:numRef>
          </c:val>
        </c:ser>
        <c:ser>
          <c:idx val="1"/>
          <c:order val="1"/>
          <c:tx>
            <c:strRef>
              <c:f>'RE-JV'!$D$5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0.437548338317936"/>
                  <c:y val="0.0352862418405866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Midsole/Outsole to upper bond gap,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24.59%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27587494523102"/>
                      <c:h val="0.15514491081534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0605891551146778"/>
                  <c:y val="0.053804089671426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20.08%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6313871608803"/>
                      <c:h val="0.131437123837024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"/>
                  <c:y val="0.044464185226092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Cleanness</a:t>
                    </a:r>
                    <a:r>
                      <a:rPr lang="en-US" dirty="0"/>
                      <a:t>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14.62%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9416078899696"/>
                      <c:h val="0.123661910942119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00587285273821752"/>
                  <c:y val="0.050443118731377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12.23%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664543345237"/>
                      <c:h val="0.124108814674494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0.0117457054764352"/>
                  <c:y val="0.046332516441953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 err="1">
                        <a:solidFill>
                          <a:prstClr val="black"/>
                        </a:solidFill>
                      </a:rPr>
                      <a:t>Sockliner</a:t>
                    </a: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 position,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5.02%</a:t>
                    </a:r>
                    <a:endParaRPr lang="en-US" sz="10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54899727975935"/>
                      <c:h val="0.122002894841728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'RE-JV'!$A$6:$A$10</c:f>
              <c:strCache>
                <c:ptCount val="5"/>
                <c:pt idx="0">
                  <c:v>Midsole/Outsole to upper bond gap</c:v>
                </c:pt>
                <c:pt idx="1">
                  <c:v>Over cement</c:v>
                </c:pt>
                <c:pt idx="2">
                  <c:v>Cleanness</c:v>
                </c:pt>
                <c:pt idx="3">
                  <c:v>Thread end</c:v>
                </c:pt>
                <c:pt idx="4">
                  <c:v>Sockliner position</c:v>
                </c:pt>
              </c:strCache>
            </c:strRef>
          </c:cat>
          <c:val>
            <c:numRef>
              <c:f>'RE-JV'!$D$6:$D$10</c:f>
              <c:numCache>
                <c:formatCode>0.00%</c:formatCode>
                <c:ptCount val="5"/>
                <c:pt idx="0">
                  <c:v>0.245922208281054</c:v>
                </c:pt>
                <c:pt idx="1">
                  <c:v>0.200752823086575</c:v>
                </c:pt>
                <c:pt idx="2">
                  <c:v>0.146173149309912</c:v>
                </c:pt>
                <c:pt idx="3">
                  <c:v>0.122333751568381</c:v>
                </c:pt>
                <c:pt idx="4">
                  <c:v>0.0501882057716437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4"/>
        <c:overlap val="40"/>
        <c:axId val="560799717"/>
        <c:axId val="945051863"/>
      </c:barChart>
      <c:catAx>
        <c:axId val="560799717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45051863"/>
        <c:crosses val="autoZero"/>
        <c:auto val="1"/>
        <c:lblAlgn val="ctr"/>
        <c:lblOffset val="100"/>
        <c:noMultiLvlLbl val="0"/>
      </c:catAx>
      <c:valAx>
        <c:axId val="945051863"/>
        <c:scaling>
          <c:orientation val="minMax"/>
          <c:max val="65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60799717"/>
        <c:crosses val="autoZero"/>
        <c:crossBetween val="between"/>
        <c:majorUnit val="20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</a:p>
  </c:txPr>
  <c:externalData r:id="rId1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50622892477753"/>
          <c:y val="0"/>
          <c:w val="0.966390160183066"/>
          <c:h val="0.8265524625267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'RE-JV2'!$C$4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'RE-JV2'!$A$5:$A$9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Thread end</c:v>
                </c:pt>
                <c:pt idx="4">
                  <c:v>Toe off center</c:v>
                </c:pt>
              </c:strCache>
            </c:strRef>
          </c:cat>
          <c:val>
            <c:numRef>
              <c:f>'RE-JV2'!$C$5:$C$9</c:f>
              <c:numCache>
                <c:formatCode>General</c:formatCode>
                <c:ptCount val="5"/>
                <c:pt idx="0">
                  <c:v>390</c:v>
                </c:pt>
                <c:pt idx="1">
                  <c:v>387</c:v>
                </c:pt>
                <c:pt idx="2">
                  <c:v>237</c:v>
                </c:pt>
                <c:pt idx="3">
                  <c:v>186</c:v>
                </c:pt>
                <c:pt idx="4">
                  <c:v>142</c:v>
                </c:pt>
              </c:numCache>
            </c:numRef>
          </c:val>
        </c:ser>
        <c:ser>
          <c:idx val="1"/>
          <c:order val="1"/>
          <c:tx>
            <c:strRef>
              <c:f>'RE-JV2'!$D$4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1.15607364089878e-7"/>
                  <c:y val="0.014138118790660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10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 Cleanness,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19.28%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4600331469434"/>
                      <c:h val="0.137909931569006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"/>
                  <c:y val="0.0293547348538396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10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</a:t>
                    </a:r>
                    <a:r>
                      <a:rPr lang="en-US" dirty="0"/>
                      <a:t>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19.13%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5763572766974"/>
                      <c:h val="0.113108598519016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332394293250565"/>
                  <c:y val="0.034067745133537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10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Midsole/Outsole to upper bond gap</a:t>
                    </a:r>
                    <a:r>
                      <a:rPr lang="en-US" sz="900" dirty="0"/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11.72%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6096059546116"/>
                      <c:h val="0.0906147480055781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438194915865585"/>
                  <c:y val="0.036765128375377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10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</a:t>
                    </a:r>
                    <a:r>
                      <a:rPr lang="en-US" sz="900" dirty="0"/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9.19%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27715709468521"/>
                      <c:h val="0.113017393675674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587285409610764"/>
                  <c:y val="0.04633297246616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>
                      <a:defRPr lang="en-US" sz="10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Toe off center,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7.02%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967758031012369"/>
                      <c:h val="0.0835700859058419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'RE-JV2'!$A$5:$A$9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Thread end</c:v>
                </c:pt>
                <c:pt idx="4">
                  <c:v>Toe off center</c:v>
                </c:pt>
              </c:strCache>
            </c:strRef>
          </c:cat>
          <c:val>
            <c:numRef>
              <c:f>'RE-JV2'!$D$5:$D$9</c:f>
              <c:numCache>
                <c:formatCode>0.00%</c:formatCode>
                <c:ptCount val="5"/>
                <c:pt idx="0">
                  <c:v>0.192782995551162</c:v>
                </c:pt>
                <c:pt idx="1">
                  <c:v>0.191300049431537</c:v>
                </c:pt>
                <c:pt idx="2">
                  <c:v>0.117152743450321</c:v>
                </c:pt>
                <c:pt idx="3">
                  <c:v>0.0919426594167079</c:v>
                </c:pt>
                <c:pt idx="4">
                  <c:v>0.0701927829955512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4"/>
        <c:overlap val="40"/>
        <c:axId val="702337599"/>
        <c:axId val="807014670"/>
      </c:barChart>
      <c:catAx>
        <c:axId val="702337599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807014670"/>
        <c:crosses val="autoZero"/>
        <c:auto val="1"/>
        <c:lblAlgn val="ctr"/>
        <c:lblOffset val="100"/>
        <c:noMultiLvlLbl val="0"/>
      </c:catAx>
      <c:valAx>
        <c:axId val="807014670"/>
        <c:scaling>
          <c:orientation val="minMax"/>
          <c:max val="65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02337599"/>
        <c:crosses val="autoZero"/>
        <c:crossBetween val="between"/>
        <c:majorUnit val="20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 sz="1000">
          <a:solidFill>
            <a:schemeClr val="bg1"/>
          </a:solidFill>
        </a:defRPr>
      </a:pPr>
    </a:p>
  </c:txPr>
  <c:externalData r:id="rId1">
    <c:autoUpdate val="1"/>
  </c:externalData>
</c:chartSpace>
</file>

<file path=ppt/charts/chart8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2/chart" xmlns:ns5="http://schemas.openxmlformats.org/officeDocument/2006/relationships">
  <ns0:date1904 val="0"/>
  <ns0:lang val="zh-CN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.382874617737003"/>
          <ns0:y val="0.0314214463840399"/>
          <ns0:w val="0.607951070336391"/>
          <ns0:h val="0.953615960099751"/>
        </ns0:manualLayout>
      </ns0:layout>
      <ns0:pie3DChart>
        <ns0:varyColors val="1"/>
        <ns0:ser>
          <ns0:idx val="0"/>
          <ns0:order val="0"/>
          <ns0:tx>
            <ns0:strRef>
              <ns0:f>'re-vh'!$G$7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explosion val="0"/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</ns0:spPr>
          </ns0:dPt>
          <ns0:dPt>
            <ns0:idx val="1"/>
            <ns0:bubble3D val="0"/>
            <ns0:spPr>
              <ns3:solidFill>
                <ns3:srgbClr val="9BBB59"/>
              </ns3:solidFill>
              <ns3:ln>
                <ns3:noFill/>
              </ns3:ln>
              <ns3:effectLst/>
            </ns0:spPr>
          </ns0:dPt>
          <ns0:dPt>
            <ns0:idx val="2"/>
            <ns0:bubble3D val="0"/>
            <ns0:spPr>
              <ns3:solidFill>
                <ns3:schemeClr val="accent5"/>
              </ns3:solidFill>
              <ns3:ln>
                <ns3:noFill/>
              </ns3:ln>
              <ns3:effectLst/>
            </ns0:spPr>
          </ns0:dPt>
          <ns0:dPt>
            <ns0:idx val="3"/>
            <ns0:bubble3D val="0"/>
            <ns0:spPr>
              <ns3:solidFill>
                <ns3:schemeClr val="accent1">
                  <ns3:lumMod val="60000"/>
                </ns3:schemeClr>
              </ns3:solidFill>
              <ns3:ln>
                <ns3:noFill/>
              </ns3:ln>
              <ns3:effectLst/>
            </ns0:spPr>
          </ns0:dPt>
          <ns0:dPt>
            <ns0:idx val="4"/>
            <ns0:bubble3D val="0"/>
            <ns0:spPr>
              <ns3:solidFill>
                <ns3:srgbClr val="5F7530"/>
              </ns3:solidFill>
              <ns3:ln>
                <ns3:noFill/>
              </ns3:ln>
              <ns3:effectLst/>
            </ns0:spPr>
          </ns0:dPt>
          <ns0:dPt>
            <ns0:idx val="5"/>
            <ns0:bubble3D val="0"/>
            <ns0:spPr>
              <ns3:solidFill>
                <ns3:srgbClr val="CBCBCB"/>
              </ns3:solidFill>
              <ns3:ln>
                <ns3:noFill/>
              </ns3:ln>
              <ns3:effectLst/>
            </ns0:spPr>
          </ns0:dPt>
          <ns0:dLbls>
            <ns0:dLbl>
              <ns0:idx val="4"/>
              <ns0:layout>
                <ns0:manualLayout>
                  <ns0:x val="0.130438488766886"/>
                  <ns0:y val="0.00115921729795478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/>
                </ns0:ext>
              </ns0:extLst>
            </ns0:dLbl>
            <ns0:dLbl>
              <ns0:idx val="5"/>
              <ns0:layout/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7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</ns3:p>
              </ns0:txPr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/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>
                <ns4:layout/>
                <ns4:showLeaderLines val="0"/>
                <ns4:leaderLines/>
              </ns0:ext>
            </ns0:extLst>
          </ns0:dLbls>
          <ns0:cat>
            <ns0:strRef>
              <ns0:f>'re-vh'!$F$8:$F$13</ns0:f>
              <ns0:strCache>
                <ns0:ptCount val="6"/>
                <ns0:pt idx="0">
                  <ns0:v>USA</ns0:v>
                </ns0:pt>
                <ns0:pt idx="1">
                  <ns0:v>CHINA</ns0:v>
                </ns0:pt>
                <ns0:pt idx="2">
                  <ns0:v>JAPAN</ns0:v>
                </ns0:pt>
                <ns0:pt idx="3">
                  <ns0:v>NETHERLANDS</ns0:v>
                </ns0:pt>
                <ns0:pt idx="4">
                  <ns0:v>BELGIUM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're-vh'!$G$8:$G$13</ns0:f>
              <ns0:numCache>
                <ns0:formatCode>General</ns0:formatCode>
                <ns0:ptCount val="6"/>
                <ns0:pt idx="0">
                  <ns0:v>145</ns0:v>
                </ns0:pt>
                <ns0:pt idx="1">
                  <ns0:v>25</ns0:v>
                </ns0:pt>
                <ns0:pt idx="2">
                  <ns0:v>23</ns0:v>
                </ns0:pt>
                <ns0:pt idx="3">
                  <ns0:v>13</ns0:v>
                </ns0:pt>
                <ns0:pt idx="4">
                  <ns0:v>12</ns0:v>
                </ns0:pt>
                <ns0:pt idx="5">
                  <ns0:v>64</ns0:v>
                </ns0:pt>
              </ns0:numCache>
            </ns0:numRef>
          </ns0:val>
        </ns0:ser>
        <ns0:ser>
          <ns0:idx val="1"/>
          <ns0:order val="1"/>
          <ns0:tx>
            <ns0:strRef>
              <ns0:f>'re-vh'!$I$7</ns0:f>
              <ns0:strCache>
                <ns0:ptCount val="1"/>
                <ns0:pt idx="0">
                  <ns0:v>%</ns0:v>
                </ns0:pt>
              </ns0:strCache>
            </ns0:strRef>
          </ns0:tx>
          <ns0:explosion val="0"/>
          <ns0:dPt>
            <ns0:idx val="0"/>
            <ns0:bubble3D val="0"/>
          </ns0:dPt>
          <ns0:dPt>
            <ns0:idx val="1"/>
            <ns0:bubble3D val="0"/>
          </ns0:dPt>
          <ns0:dPt>
            <ns0:idx val="2"/>
            <ns0:bubble3D val="0"/>
          </ns0:dPt>
          <ns0:dPt>
            <ns0:idx val="3"/>
            <ns0:bubble3D val="0"/>
          </ns0:dPt>
          <ns0:dPt>
            <ns0:idx val="4"/>
            <ns0:bubble3D val="0"/>
          </ns0:dPt>
          <ns0:dPt>
            <ns0:idx val="5"/>
            <ns0:bubble3D val="0"/>
          </ns0:dPt>
          <ns0:dLbls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800" b="0" i="0" u="none" strike="noStrike" kern="1200" baseline="0">
                    <ns3:solidFill>
                      <ns3:schemeClr val="tx1"/>
                    </ns3:solidFill>
                    <ns3:latin typeface="+mn-lt"/>
                    <ns3:ea typeface="+mn-ea"/>
                    <ns3:cs typeface="+mn-cs"/>
                  </ns3:defRPr>
                </ns3:pPr>
              </ns3:p>
            </ns0:txPr>
            <ns0:dLblPos val="bestFit"/>
            <ns0:showLegendKey val="0"/>
            <ns0:showVal val="0"/>
            <ns0:showCatName val="0"/>
            <ns0:showSerName val="0"/>
            <ns0:showPercent val="1"/>
            <ns0:showBubbleSize val="0"/>
            <ns0:showLeaderLines val="1"/>
            <ns0:extLst>
              <ns0:ext uri="{CE6537A1-D6FC-4f65-9D91-7224C49458BB}">
                <ns4:layout/>
                <ns4:showLeaderLines val="1"/>
                <ns4:leaderLines/>
              </ns0:ext>
            </ns0:extLst>
          </ns0:dLbls>
          <ns0:cat>
            <ns0:strRef>
              <ns0:f>'re-vh'!$F$8:$F$13</ns0:f>
              <ns0:strCache>
                <ns0:ptCount val="6"/>
                <ns0:pt idx="0">
                  <ns0:v>USA</ns0:v>
                </ns0:pt>
                <ns0:pt idx="1">
                  <ns0:v>CHINA</ns0:v>
                </ns0:pt>
                <ns0:pt idx="2">
                  <ns0:v>JAPAN</ns0:v>
                </ns0:pt>
                <ns0:pt idx="3">
                  <ns0:v>NETHERLANDS</ns0:v>
                </ns0:pt>
                <ns0:pt idx="4">
                  <ns0:v>BELGIUM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're-vh'!$I$8:$I$13</ns0:f>
              <ns0:numCache>
                <ns0:formatCode>0.00%</ns0:formatCode>
                <ns0:ptCount val="6"/>
                <ns0:pt idx="0">
                  <ns0:v>0.514184397163121</ns0:v>
                </ns0:pt>
                <ns0:pt idx="1">
                  <ns0:v>0.0886524822695035</ns0:v>
                </ns0:pt>
                <ns0:pt idx="2">
                  <ns0:v>0.0815602836879433</ns0:v>
                </ns0:pt>
                <ns0:pt idx="3">
                  <ns0:v>0.0460992907801418</ns0:v>
                </ns0:pt>
                <ns0:pt idx="4">
                  <ns0:v>0.0425531914893617</ns0:v>
                </ns0:pt>
                <ns0:pt idx="5">
                  <ns0:v>0.226950354609929</ns0:v>
                </ns0:pt>
              </ns0:numCache>
            </ns0:numRef>
          </ns0:val>
        </ns0:ser>
        <ns0:dLbls>
          <ns0:showLegendKey val="0"/>
          <ns0:showVal val="0"/>
          <ns0:showCatName val="0"/>
          <ns0:showSerName val="0"/>
          <ns0:showPercent val="1"/>
          <ns0:showBubbleSize val="0"/>
        </ns0:dLbls>
      </ns0:pie3DChart>
      <ns0:spPr>
        <ns3:noFill/>
        <ns3:ln>
          <ns3:noFill/>
        </ns3:ln>
        <ns3:effectLst/>
      </ns0:spPr>
    </ns0:plotArea>
    <ns0:legend>
      <ns0:legendPos val="b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ln>
                  <ns3:noFill/>
                </ns3:ln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ayout>
        <ns0:manualLayout>
          <ns0:xMode val="edge"/>
          <ns0:yMode val="edge"/>
          <ns0:x val="0.00917431192660551"/>
          <ns0:y val="0.127521274586142"/>
          <ns0:w val="0.396923595559729"/>
          <ns0:h val="0.648553512437628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</ns3:p>
      </ns0:txPr>
    </ns0:legend>
    <ns0:plotVisOnly val="1"/>
    <ns0:dispBlanksAs val="gap"/>
    <ns0:showDLblsOverMax val="0"/>
  </ns0:chart>
  <ns0:spPr>
    <ns3:noFill/>
    <ns3:ln w="9525" cap="flat" cmpd="sng" algn="ctr">
      <ns3:noFill/>
      <ns3:round/>
    </ns3:ln>
    <ns3:effectLst/>
  </ns0:spPr>
  <ns0:txPr>
    <ns3:bodyPr wrap="square"/>
    <ns3:lstStyle/>
    <ns3:p>
      <ns3:pPr>
        <ns3:defRPr lang="en-US" sz="800"/>
      </ns3:pPr>
    </ns3:p>
  </ns0:txPr>
  <ns0:externalData ns5:id="rId1">
    <ns0:autoUpdate val="1"/>
  </ns0:externalData>
</ns0:chartSpace>
</file>

<file path=ppt/charts/chart9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2/chart" xmlns:ns5="http://schemas.openxmlformats.org/officeDocument/2006/relationships">
  <ns0:date1904 val="0"/>
  <ns0:lang val="zh-CN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.393402565668907"/>
          <ns0:y val="0.0249252243270189"/>
          <ns0:w val="0.597434331093464"/>
          <ns0:h val="0.96011964107677"/>
        </ns0:manualLayout>
      </ns0:layout>
      <ns0:pie3DChart>
        <ns0:varyColors val="1"/>
        <ns0:ser>
          <ns0:idx val="0"/>
          <ns0:order val="0"/>
          <ns0:tx>
            <ns0:strRef>
              <ns0:f>'re-vh2'!$H$6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explosion val="0"/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1"/>
            <ns0:bubble3D val="0"/>
            <ns0:spPr>
              <ns3:solidFill>
                <ns3:srgbClr val="5E742E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2"/>
            <ns0:bubble3D val="0"/>
            <ns0:spPr>
              <ns3:solidFill>
                <ns3:srgbClr val="4AA9C3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3"/>
            <ns0:bubble3D val="0"/>
            <ns0:spPr>
              <ns3:solidFill>
                <ns3:srgbClr val="99B95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4"/>
            <ns0:bubble3D val="0"/>
            <ns0:spPr>
              <ns3:solidFill>
                <ns3:srgbClr val="134D1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Lbls>
            <ns0:dLbl>
              <ns0:idx val="0"/>
              <ns0:layout/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9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</ns3:p>
              </ns0:txPr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>
                    <ns0:manualLayout>
                      <ns0:w val="0.141756919374248"/>
                      <ns0:h val="0.125968679228424"/>
                    </ns0:manualLayout>
                  </ns4:layout>
                </ns0:ext>
              </ns0:extLst>
            </ns0:dLbl>
            <ns0:dLbl>
              <ns0:idx val="1"/>
              <ns0:layout/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9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</ns3:p>
              </ns0:txPr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>
                    <ns0:manualLayout>
                      <ns0:w val="0.141756919374248"/>
                      <ns0:h val="0.125968679228424"/>
                    </ns0:manualLayout>
                  </ns4:layout>
                </ns0:ext>
              </ns0:extLst>
            </ns0:dLbl>
            <ns0:dLbl>
              <ns0:idx val="2"/>
              <ns0:layout/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9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</ns3:p>
              </ns0:txPr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>
                    <ns0:manualLayout>
                      <ns0:w val="0.141756919374248"/>
                      <ns0:h val="0.125968679228424"/>
                    </ns0:manualLayout>
                  </ns4:layout>
                </ns0:ext>
              </ns0:extLst>
            </ns0:dLbl>
            <ns0:dLbl>
              <ns0:idx val="3"/>
              <ns0:layout>
                <ns0:manualLayout>
                  <ns0:x val="0.13284630034964"/>
                  <ns0:y val="-0.179954396901601"/>
                </ns0:manualLayout>
              </ns0:layout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9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</ns3:p>
              </ns0:txPr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>
                    <ns0:manualLayout>
                      <ns0:w val="0.156498194945848"/>
                      <ns0:h val="0.125968679228424"/>
                    </ns0:manualLayout>
                  </ns4:layout>
                </ns0:ext>
              </ns0:extLst>
            </ns0:dLbl>
            <ns0:dLbl>
              <ns0:idx val="4"/>
              <ns0:layout>
                <ns0:manualLayout>
                  <ns0:x val="0.141148601912126"/>
                  <ns0:y val="-0.0184207994116616"/>
                </ns0:manualLayout>
              </ns0:layout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9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</ns3:p>
              </ns0:txPr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>
                    <ns0:manualLayout>
                      <ns0:w val="0.120397111913357"/>
                      <ns0:h val="0.125968679228424"/>
                    </ns0:manualLayout>
                  </ns4:layout>
                </ns0:ext>
              </ns0:extLst>
            </ns0:dLbl>
            <ns0:dLbl>
              <ns0:idx val="5"/>
              <ns0:layout>
                <ns0:manualLayout>
                  <ns0:x val="0.121167489983117"/>
                  <ns0:y val="0.115129161486393"/>
                </ns0:manualLayout>
              </ns0:layout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9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</ns3:p>
              </ns0:txPr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>
                    <ns0:manualLayout>
                      <ns0:w val="0.141756919374248"/>
                      <ns0:h val="0.125968679228424"/>
                    </ns0:manualLayout>
                  </ns4:layout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>
                <ns3:noAutofit/>
              </ns3:bodyPr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1"/>
            <ns0:extLst>
              <ns0:ext uri="{CE6537A1-D6FC-4f65-9D91-7224C49458BB}">
                <ns4:layout/>
                <ns4:showLeaderLines val="1"/>
                <ns4:leaderLines>
                  <ns0:spPr>
                    <ns3:ln w="9525" cap="flat" cmpd="sng" algn="ctr">
                      <ns3:solidFill>
                        <ns3:schemeClr val="tx1">
                          <ns3:shade val="95000"/>
                          <ns3:satMod val="105000"/>
                        </ns3:schemeClr>
                      </ns3:solidFill>
                      <ns3:prstDash val="solid"/>
                      <ns3:round/>
                    </ns3:ln>
                    <ns3:effectLst/>
                  </ns0:spPr>
                </ns4:leaderLines>
              </ns0:ext>
            </ns0:extLst>
          </ns0:dLbls>
          <ns0:cat>
            <ns0:strRef>
              <ns0:f>'re-vh2'!$G$7:$G$12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JAPAN</ns0:v>
                </ns0:pt>
                <ns0:pt idx="3">
                  <ns0:v>CHINA</ns0:v>
                </ns0:pt>
                <ns0:pt idx="4">
                  <ns0:v>PARAGUAY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're-vh2'!$H$7:$H$12</ns0:f>
              <ns0:numCache>
                <ns0:formatCode>General</ns0:formatCode>
                <ns0:ptCount val="6"/>
                <ns0:pt idx="0">
                  <ns0:v>8</ns0:v>
                </ns0:pt>
                <ns0:pt idx="1">
                  <ns0:v>5</ns0:v>
                </ns0:pt>
                <ns0:pt idx="2">
                  <ns0:v>2</ns0:v>
                </ns0:pt>
                <ns0:pt idx="3">
                  <ns0:v>2</ns0:v>
                </ns0:pt>
                <ns0:pt idx="4">
                  <ns0:v>1</ns0:v>
                </ns0:pt>
                <ns0:pt idx="5">
                  <ns0:v>5</ns0:v>
                </ns0:pt>
              </ns0:numCache>
            </ns0:numRef>
          </ns0:val>
        </ns0:ser>
        <ns0:ser>
          <ns0:idx val="1"/>
          <ns0:order val="1"/>
          <ns0:tx>
            <ns0:strRef>
              <ns0:f>'re-vh2'!$J$6</ns0:f>
              <ns0:strCache>
                <ns0:ptCount val="1"/>
                <ns0:pt idx="0">
                  <ns0:v>%</ns0:v>
                </ns0:pt>
              </ns0:strCache>
            </ns0:strRef>
          </ns0:tx>
          <ns0:explosion val="0"/>
          <ns0:dPt>
            <ns0:idx val="0"/>
            <ns0:bubble3D val="0"/>
          </ns0:dPt>
          <ns0:dPt>
            <ns0:idx val="1"/>
            <ns0:bubble3D val="0"/>
          </ns0:dPt>
          <ns0:dPt>
            <ns0:idx val="2"/>
            <ns0:bubble3D val="0"/>
          </ns0:dPt>
          <ns0:dPt>
            <ns0:idx val="3"/>
            <ns0:bubble3D val="0"/>
          </ns0:dPt>
          <ns0:dPt>
            <ns0:idx val="4"/>
            <ns0:bubble3D val="0"/>
          </ns0:dPt>
          <ns0:dPt>
            <ns0:idx val="5"/>
            <ns0:bubble3D val="0"/>
          </ns0:dPt>
          <ns0:dLbls>
            <ns0:delete val="1"/>
            <ns0:showVal val="0"/>
            <ns0:showPercent val="1"/>
          </ns0:dLbls>
          <ns0:cat>
            <ns0:strRef>
              <ns0:f>'re-vh2'!$G$7:$G$12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JAPAN</ns0:v>
                </ns0:pt>
                <ns0:pt idx="3">
                  <ns0:v>CHINA</ns0:v>
                </ns0:pt>
                <ns0:pt idx="4">
                  <ns0:v>PARAGUAY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're-vh2'!$J$7:$J$12</ns0:f>
              <ns0:numCache>
                <ns0:formatCode>0.00%</ns0:formatCode>
                <ns0:ptCount val="6"/>
                <ns0:pt idx="0">
                  <ns0:v>0.347826086956522</ns0:v>
                </ns0:pt>
                <ns0:pt idx="1">
                  <ns0:v>0.217391304347826</ns0:v>
                </ns0:pt>
                <ns0:pt idx="2">
                  <ns0:v>0.0869565217391304</ns0:v>
                </ns0:pt>
                <ns0:pt idx="3">
                  <ns0:v>0.0869565217391304</ns0:v>
                </ns0:pt>
                <ns0:pt idx="4">
                  <ns0:v>0.0434782608695652</ns0:v>
                </ns0:pt>
                <ns0:pt idx="5">
                  <ns0:v>0.217391304347826</ns0:v>
                </ns0:pt>
              </ns0:numCache>
            </ns0:numRef>
          </ns0:val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</ns0:pie3DChart>
      <ns0:spPr>
        <ns3:noFill/>
        <ns3:ln>
          <ns3:noFill/>
        </ns3:ln>
        <ns3:effectLst/>
      </ns0:spPr>
    </ns0:plotArea>
    <ns0:legend>
      <ns0:legendPos val="r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ayout>
        <ns0:manualLayout>
          <ns0:xMode val="edge"/>
          <ns0:yMode val="edge"/>
          <ns0:x val="0"/>
          <ns0:y val="0.182759485753757"/>
          <ns0:w val="0.397929636051811"/>
          <ns0:h val="0.586658774043005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</ns3:p>
      </ns0:txPr>
    </ns0:legend>
    <ns0:plotVisOnly val="1"/>
    <ns0:dispBlanksAs val="gap"/>
    <ns0:showDLblsOverMax val="0"/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 sz="900"/>
      </ns3:pPr>
    </ns3:p>
  </ns0:txPr>
  <ns0:externalData ns5:id="rId1">
    <ns0:autoUpdate val="1"/>
  </ns0:externalData>
</ns0:chartSpace>
</file>

<file path=ppt/charts/chart10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2/chart" xmlns:ns5="http://schemas.openxmlformats.org/officeDocument/2006/relationships">
  <ns0:date1904 val="0"/>
  <ns0:lang val="zh-CN"/>
  <ns0:roundedCorners val="0"/>
  <ns1:AlternateContent>
    <ns1:Choice Requires="c14">
      <ns2:style val="103"/>
    </ns1:Choice>
    <ns1:Fallback>
      <ns0:style val="3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"/>
          <ns0:y val="0.134136787199947"/>
          <ns0:w val="0.596648117674079"/>
          <ns0:h val="0.742644557396576"/>
        </ns0:manualLayout>
      </ns0:layout>
      <ns0:pie3DChart>
        <ns0:varyColors val="1"/>
        <ns0:ser>
          <ns0:idx val="0"/>
          <ns0:order val="0"/>
          <ns0:tx>
            <ns0:strRef>
              <ns0:f>'RE-JV2'!$H$8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explosion val="0"/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1"/>
            <ns0:bubble3D val="0"/>
            <ns0:spPr>
              <ns3:solidFill>
                <ns3:srgbClr val="4AA9C3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2"/>
            <ns0:bubble3D val="0"/>
            <ns0:spPr>
              <ns3:solidFill>
                <ns3:srgbClr val="5E742E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3"/>
            <ns0:bubble3D val="0"/>
            <ns0:spPr>
              <ns3:solidFill>
                <ns3:srgbClr val="99B95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4"/>
            <ns0:bubble3D val="0"/>
            <ns0:spPr>
              <ns3:solidFill>
                <ns3:schemeClr val="accent2">
                  <ns3:lumMod val="60000"/>
                  <ns3:lumOff val="40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Lbls>
            <ns0:dLbl>
              <ns0:idx val="5"/>
              <ns0:layout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/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>
                <ns4:layout/>
                <ns4:showLeaderLines val="0"/>
                <ns4:leaderLines/>
              </ns0:ext>
            </ns0:extLst>
          </ns0:dLbls>
          <ns0:cat>
            <ns0:strRef>
              <ns0:f>'RE-JV2'!$G$9:$G$14</ns0:f>
              <ns0:strCache>
                <ns0:ptCount val="6"/>
                <ns0:pt idx="0">
                  <ns0:v>USA</ns0:v>
                </ns0:pt>
                <ns0:pt idx="1">
                  <ns0:v>JAPAN</ns0:v>
                </ns0:pt>
                <ns0:pt idx="2">
                  <ns0:v>BELGIUM</ns0:v>
                </ns0:pt>
                <ns0:pt idx="3">
                  <ns0:v>CHINA</ns0:v>
                </ns0:pt>
                <ns0:pt idx="4">
                  <ns0:v>MEXICO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'RE-JV2'!$H$9:$H$14</ns0:f>
              <ns0:numCache>
                <ns0:formatCode>General</ns0:formatCode>
                <ns0:ptCount val="6"/>
                <ns0:pt idx="0">
                  <ns0:v>341</ns0:v>
                </ns0:pt>
                <ns0:pt idx="1">
                  <ns0:v>35</ns0:v>
                </ns0:pt>
                <ns0:pt idx="2">
                  <ns0:v>34</ns0:v>
                </ns0:pt>
                <ns0:pt idx="3">
                  <ns0:v>33</ns0:v>
                </ns0:pt>
                <ns0:pt idx="4">
                  <ns0:v>29</ns0:v>
                </ns0:pt>
                <ns0:pt idx="5">
                  <ns0:v>99</ns0:v>
                </ns0:pt>
              </ns0:numCache>
            </ns0:numRef>
          </ns0:val>
        </ns0:ser>
        <ns0:ser>
          <ns0:idx val="2"/>
          <ns0:order val="2"/>
          <ns0:tx>
            <ns0:strRef>
              <ns0:f>'RE-JV2'!$J$8</ns0:f>
              <ns0:strCache>
                <ns0:ptCount val="1"/>
                <ns0:pt idx="0">
                  <ns0:v>%</ns0:v>
                </ns0:pt>
              </ns0:strCache>
            </ns0:strRef>
          </ns0:tx>
          <ns0:explosion val="0"/>
          <ns0:dPt>
            <ns0:idx val="0"/>
            <ns0:bubble3D val="0"/>
            <ns0:spPr>
              <ns3:solidFill>
                <ns3:schemeClr val="accent1">
                  <ns3:shade val="50000"/>
                </ns3:schemeClr>
              </ns3:solidFill>
              <ns3:ln>
                <ns3:noFill/>
              </ns3:ln>
              <ns3:effectLst/>
            </ns0:spPr>
          </ns0:dPt>
          <ns0:dPt>
            <ns0:idx val="1"/>
            <ns0:bubble3D val="0"/>
            <ns0:spPr>
              <ns3:solidFill>
                <ns3:schemeClr val="accent1">
                  <ns3:shade val="70000"/>
                </ns3:schemeClr>
              </ns3:solidFill>
              <ns3:ln>
                <ns3:noFill/>
              </ns3:ln>
              <ns3:effectLst/>
            </ns0:spPr>
          </ns0:dPt>
          <ns0:dPt>
            <ns0:idx val="2"/>
            <ns0:bubble3D val="0"/>
            <ns0:spPr>
              <ns3:solidFill>
                <ns3:schemeClr val="accent1">
                  <ns3:shade val="90000"/>
                </ns3:schemeClr>
              </ns3:solidFill>
              <ns3:ln>
                <ns3:noFill/>
              </ns3:ln>
              <ns3:effectLst/>
            </ns0:spPr>
          </ns0:dPt>
          <ns0:dPt>
            <ns0:idx val="3"/>
            <ns0:bubble3D val="0"/>
            <ns0:spPr>
              <ns3:solidFill>
                <ns3:schemeClr val="accent1">
                  <ns3:tint val="90000"/>
                </ns3:schemeClr>
              </ns3:solidFill>
              <ns3:ln>
                <ns3:noFill/>
              </ns3:ln>
              <ns3:effectLst/>
            </ns0:spPr>
          </ns0:dPt>
          <ns0:dPt>
            <ns0:idx val="4"/>
            <ns0:bubble3D val="0"/>
            <ns0:spPr>
              <ns3:solidFill>
                <ns3:schemeClr val="accent1">
                  <ns3:tint val="70000"/>
                </ns3:schemeClr>
              </ns3:solidFill>
              <ns3:ln>
                <ns3:noFill/>
              </ns3:ln>
              <ns3:effectLst/>
            </ns0:spPr>
          </ns0:dPt>
          <ns0:dPt>
            <ns0:idx val="5"/>
            <ns0:bubble3D val="0"/>
            <ns0:spPr>
              <ns3:solidFill>
                <ns3:schemeClr val="accent1">
                  <ns3:tint val="50000"/>
                </ns3:schemeClr>
              </ns3:solidFill>
              <ns3:ln>
                <ns3:noFill/>
              </ns3:ln>
              <ns3:effectLst/>
            </ns0:spPr>
          </ns0:dPt>
          <ns0:dLbls>
            <ns0:delete val="1"/>
            <ns0:showVal val="0"/>
            <ns0:showPercent val="1"/>
          </ns0:dLbls>
          <ns0:cat>
            <ns0:strRef>
              <ns0:f>'RE-JV2'!$G$9:$G$14</ns0:f>
              <ns0:strCache>
                <ns0:ptCount val="6"/>
                <ns0:pt idx="0">
                  <ns0:v>USA</ns0:v>
                </ns0:pt>
                <ns0:pt idx="1">
                  <ns0:v>JAPAN</ns0:v>
                </ns0:pt>
                <ns0:pt idx="2">
                  <ns0:v>BELGIUM</ns0:v>
                </ns0:pt>
                <ns0:pt idx="3">
                  <ns0:v>CHINA</ns0:v>
                </ns0:pt>
                <ns0:pt idx="4">
                  <ns0:v>MEXICO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'RE-JV2'!$J$9:$J$14</ns0:f>
              <ns0:numCache>
                <ns0:formatCode>0.00%</ns0:formatCode>
                <ns0:ptCount val="6"/>
                <ns0:pt idx="0">
                  <ns0:v>0.597197898423818</ns0:v>
                </ns0:pt>
                <ns0:pt idx="1">
                  <ns0:v>0.0612959719789842</ns0:v>
                </ns0:pt>
                <ns0:pt idx="2">
                  <ns0:v>0.0595446584938704</ns0:v>
                </ns0:pt>
                <ns0:pt idx="3">
                  <ns0:v>0.0577933450087566</ns0:v>
                </ns0:pt>
                <ns0:pt idx="4">
                  <ns0:v>0.0507880910683012</ns0:v>
                </ns0:pt>
                <ns0:pt idx="5">
                  <ns0:v>0.17338003502627</ns0:v>
                </ns0:pt>
              </ns0:numCache>
            </ns0:numRef>
          </ns0:val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extLst>
          <ns0:ext uri="{02D57815-91ED-43cb-92C2-25804820EDAC}">
            <ns4:filteredPieSeries>
              <ns4:ser>
                <ns0:idx val="1"/>
                <ns0:order val="1"/>
                <ns0:tx>
                  <ns0:strRef>
                    <ns0:extLst>
                      <ns0:ext uri="{02D57815-91ED-43cb-92C2-25804820EDAC}">
                        <ns4:formulaRef>
                          <ns4:sqref>'RE-JV2'!$I$8</ns4:sqref>
                        </ns4:formulaRef>
                      </ns0:ext>
                    </ns0:extLst>
                    <ns0:strCache>
                      <ns0:ptCount val="1"/>
                      <ns0:pt idx="0">
                        <ns0:v>Sum of Fail</ns0:v>
                      </ns0:pt>
                    </ns0:strCache>
                  </ns0:strRef>
                </ns0:tx>
                <ns0:explosion val="0"/>
                <ns0:dPt>
                  <ns0:idx val="0"/>
                  <ns0:bubble3D val="0"/>
                  <ns0:spPr>
                    <ns3:solidFill>
                      <ns3:schemeClr val="accent1">
                        <ns3:shade val="5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1"/>
                  <ns0:bubble3D val="0"/>
                  <ns0:spPr>
                    <ns3:solidFill>
                      <ns3:schemeClr val="accent1">
                        <ns3:shade val="7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2"/>
                  <ns0:bubble3D val="0"/>
                  <ns0:spPr>
                    <ns3:solidFill>
                      <ns3:schemeClr val="accent1">
                        <ns3:shade val="9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3"/>
                  <ns0:bubble3D val="0"/>
                  <ns0:spPr>
                    <ns3:solidFill>
                      <ns3:schemeClr val="accent1">
                        <ns3:tint val="9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4"/>
                  <ns0:bubble3D val="0"/>
                  <ns0:spPr>
                    <ns3:solidFill>
                      <ns3:schemeClr val="accent1">
                        <ns3:tint val="7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5"/>
                  <ns0:bubble3D val="0"/>
                  <ns0:spPr>
                    <ns3:solidFill>
                      <ns3:schemeClr val="accent1">
                        <ns3:tint val="5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Lbls>
                  <ns0:delete val="1"/>
                </ns0:dLbls>
                <ns0:cat>
                  <ns0:strRef>
                    <ns0:extLst>
                      <ns0:ext uri="{02D57815-91ED-43cb-92C2-25804820EDAC}">
                        <ns4:fullRef>
                          <ns4:sqref/>
                        </ns4:fullRef>
                        <ns4:formulaRef>
                          <ns4:sqref>'RE-JV2'!$G$9:$G$14</ns4:sqref>
                        </ns4:formulaRef>
                      </ns0:ext>
                    </ns0:extLst>
                    <ns0:strCache>
                      <ns0:ptCount val="6"/>
                      <ns0:pt idx="0">
                        <ns0:v>USA</ns0:v>
                      </ns0:pt>
                      <ns0:pt idx="1">
                        <ns0:v>JAPAN</ns0:v>
                      </ns0:pt>
                      <ns0:pt idx="2">
                        <ns0:v>BELGIUM</ns0:v>
                      </ns0:pt>
                      <ns0:pt idx="3">
                        <ns0:v>CHINA</ns0:v>
                      </ns0:pt>
                      <ns0:pt idx="4">
                        <ns0:v>MEXICO</ns0:v>
                      </ns0:pt>
                      <ns0:pt idx="5">
                        <ns0:v>OTHERS</ns0:v>
                      </ns0:pt>
                    </ns0:strCache>
                  </ns0:strRef>
                </ns0:cat>
                <ns0:val>
                  <ns0:numRef>
                    <ns0:extLst>
                      <ns0:ext uri="{02D57815-91ED-43cb-92C2-25804820EDAC}">
                        <ns4:formulaRef>
                          <ns4:sqref>'RE-JV2'!$I$9:$I$14</ns4:sqref>
                        </ns4:formulaRef>
                      </ns0:ext>
                    </ns0:extLst>
                    <ns0:numCache>
                      <ns0:formatCode>General</ns0:formatCode>
                      <ns0:ptCount val="6"/>
                      <ns0:pt idx="0">
                        <ns0:v>571</ns0:v>
                      </ns0:pt>
                      <ns0:pt idx="1">
                        <ns0:v>571</ns0:v>
                      </ns0:pt>
                      <ns0:pt idx="2">
                        <ns0:v>571</ns0:v>
                      </ns0:pt>
                      <ns0:pt idx="3">
                        <ns0:v>571</ns0:v>
                      </ns0:pt>
                      <ns0:pt idx="4">
                        <ns0:v>571</ns0:v>
                      </ns0:pt>
                      <ns0:pt idx="5">
                        <ns0:v>571</ns0:v>
                      </ns0:pt>
                    </ns0:numCache>
                  </ns0:numRef>
                </ns0:val>
              </ns4:ser>
            </ns4:filteredPieSeries>
          </ns0:ext>
        </ns0:extLst>
      </ns0:pie3DChart>
      <ns0:spPr>
        <ns3:noFill/>
        <ns3:ln>
          <ns3:noFill/>
        </ns3:ln>
        <ns3:effectLst/>
      </ns0:spPr>
    </ns0:plotArea>
    <ns0:legend>
      <ns0:legendPos val="t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ayout>
        <ns0:manualLayout>
          <ns0:xMode val="edge"/>
          <ns0:yMode val="edge"/>
          <ns0:x val="0.61605092910242"/>
          <ns0:y val="0.111424957110922"/>
          <ns0:w val="0.38394907089758"/>
          <ns0:h val="0.645331725695961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</ns3:p>
      </ns0:txPr>
    </ns0:legend>
    <ns0:plotVisOnly val="1"/>
    <ns0:dispBlanksAs val="gap"/>
    <ns0:showDLblsOverMax val="0"/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 sz="700" b="1"/>
      </ns3:pPr>
    </ns3:p>
  </ns0:txPr>
  <ns0:externalData ns5:id="rId1">
    <ns0:autoUpdate val="1"/>
  </ns0:externalData>
</ns0:chartSpace>
</file>

<file path=ppt/charts/chart11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2/chart" xmlns:ns5="http://schemas.openxmlformats.org/officeDocument/2006/relationships">
  <ns0:date1904 val="0"/>
  <ns0:lang val="zh-CN"/>
  <ns0:roundedCorners val="0"/>
  <ns1:AlternateContent>
    <ns1:Choice Requires="c14">
      <ns2:style val="103"/>
    </ns1:Choice>
    <ns1:Fallback>
      <ns0:style val="3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.0139236981342244"/>
          <ns0:y val="0.147168492485939"/>
          <ns0:w val="0.568365357839042"/>
          <ns0:h val="0.647236798325124"/>
        </ns0:manualLayout>
      </ns0:layout>
      <ns0:pie3DChart>
        <ns0:varyColors val="1"/>
        <ns0:ser>
          <ns0:idx val="0"/>
          <ns0:order val="0"/>
          <ns0:tx>
            <ns0:strRef>
              <ns0:f>'RE-JV'!$G$6</ns0:f>
              <ns0:strCache>
                <ns0:ptCount val="1"/>
                <ns0:pt idx="0">
                  <ns0:v>Fail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explosion val="0"/>
          <ns0:dPt>
            <ns0:idx val="0"/>
            <ns0:bubble3D val="0"/>
            <ns0:spPr>
              <ns3:solidFill>
                <ns3:srgbClr val="99B95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1"/>
            <ns0:bubble3D val="0"/>
            <ns0:spPr>
              <ns3:solidFill>
                <ns3:srgbClr val="4E80BB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2"/>
            <ns0:bubble3D val="0"/>
            <ns0:spPr>
              <ns3:solidFill>
                <ns3:srgbClr val="5E742E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3"/>
            <ns0:bubble3D val="0"/>
            <ns0:spPr>
              <ns3:solidFill>
                <ns3:schemeClr val="accent4">
                  <ns3:lumMod val="50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4"/>
            <ns0:bubble3D val="0"/>
            <ns0:spPr>
              <ns3:solidFill>
                <ns3:srgbClr val="4AA9C3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</ns0:dPt>
          <ns0:dLbls>
            <ns0:dLbl>
              <ns0:idx val="4"/>
              <ns0:layout>
                <ns0:manualLayout>
                  <ns0:x val="0.07371775896434"/>
                  <ns0:y val="0.0124899112694577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>
                    <ns0:manualLayout>
                      <ns0:w val="0.111445279866332"/>
                      <ns0:h val="0.0909532058905615"/>
                    </ns0:manualLayout>
                  </ns4:layout>
                </ns0:ext>
              </ns0:extLst>
            </ns0:dLbl>
            <ns0:dLbl>
              <ns0:idx val="5"/>
              <ns0:layout>
                <ns0:manualLayout>
                  <ns0:x val="0.111736032995875"/>
                  <ns0:y val="0.099517836205112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4:layout>
                    <ns0:manualLayout>
                      <ns0:w val="0.15349484823169"/>
                      <ns0:h val="0.122885138074178"/>
                    </ns0:manualLayout>
                  </ns4:layout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>
                <ns4:layout/>
                <ns4:showLeaderLines val="0"/>
                <ns4:leaderLines/>
              </ns0:ext>
            </ns0:extLst>
          </ns0:dLbls>
          <ns0:cat>
            <ns0:strRef>
              <ns0:f>'RE-JV'!$F$7:$F$12</ns0:f>
              <ns0:strCache>
                <ns0:ptCount val="6"/>
                <ns0:pt idx="0">
                  <ns0:v>CHINA</ns0:v>
                </ns0:pt>
                <ns0:pt idx="1">
                  <ns0:v>USA</ns0:v>
                </ns0:pt>
                <ns0:pt idx="2">
                  <ns0:v>BELGIUM</ns0:v>
                </ns0:pt>
                <ns0:pt idx="3">
                  <ns0:v>CANADA</ns0:v>
                </ns0:pt>
                <ns0:pt idx="4">
                  <ns0:v>JAPAN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'RE-JV'!$G$7:$G$12</ns0:f>
              <ns0:numCache>
                <ns0:formatCode>General</ns0:formatCode>
                <ns0:ptCount val="6"/>
                <ns0:pt idx="0">
                  <ns0:v>32</ns0:v>
                </ns0:pt>
                <ns0:pt idx="1">
                  <ns0:v>26</ns0:v>
                </ns0:pt>
                <ns0:pt idx="2">
                  <ns0:v>13</ns0:v>
                </ns0:pt>
                <ns0:pt idx="3">
                  <ns0:v>7</ns0:v>
                </ns0:pt>
                <ns0:pt idx="4">
                  <ns0:v>4</ns0:v>
                </ns0:pt>
                <ns0:pt idx="5">
                  <ns0:v>17</ns0:v>
                </ns0:pt>
              </ns0:numCache>
            </ns0:numRef>
          </ns0:val>
        </ns0:ser>
        <ns0:ser>
          <ns0:idx val="2"/>
          <ns0:order val="2"/>
          <ns0:tx>
            <ns0:strRef>
              <ns0:f>'RE-JV'!$I$6</ns0:f>
              <ns0:strCache>
                <ns0:ptCount val="1"/>
                <ns0:pt idx="0">
                  <ns0:v>% Fail</ns0:v>
                </ns0:pt>
              </ns0:strCache>
            </ns0:strRef>
          </ns0:tx>
          <ns0:explosion val="0"/>
          <ns0:dPt>
            <ns0:idx val="0"/>
            <ns0:bubble3D val="0"/>
            <ns0:spPr>
              <ns3:solidFill>
                <ns3:schemeClr val="accent1">
                  <ns3:shade val="50000"/>
                </ns3:schemeClr>
              </ns3:solidFill>
              <ns3:ln>
                <ns3:noFill/>
              </ns3:ln>
              <ns3:effectLst/>
            </ns0:spPr>
          </ns0:dPt>
          <ns0:dPt>
            <ns0:idx val="1"/>
            <ns0:bubble3D val="0"/>
            <ns0:spPr>
              <ns3:solidFill>
                <ns3:schemeClr val="accent1">
                  <ns3:shade val="70000"/>
                </ns3:schemeClr>
              </ns3:solidFill>
              <ns3:ln>
                <ns3:noFill/>
              </ns3:ln>
              <ns3:effectLst/>
            </ns0:spPr>
          </ns0:dPt>
          <ns0:dPt>
            <ns0:idx val="2"/>
            <ns0:bubble3D val="0"/>
            <ns0:spPr>
              <ns3:solidFill>
                <ns3:schemeClr val="accent1">
                  <ns3:shade val="90000"/>
                </ns3:schemeClr>
              </ns3:solidFill>
              <ns3:ln>
                <ns3:noFill/>
              </ns3:ln>
              <ns3:effectLst/>
            </ns0:spPr>
          </ns0:dPt>
          <ns0:dPt>
            <ns0:idx val="3"/>
            <ns0:bubble3D val="0"/>
            <ns0:spPr>
              <ns3:solidFill>
                <ns3:schemeClr val="accent1">
                  <ns3:tint val="90000"/>
                </ns3:schemeClr>
              </ns3:solidFill>
              <ns3:ln>
                <ns3:noFill/>
              </ns3:ln>
              <ns3:effectLst/>
            </ns0:spPr>
          </ns0:dPt>
          <ns0:dPt>
            <ns0:idx val="4"/>
            <ns0:bubble3D val="0"/>
            <ns0:spPr>
              <ns3:solidFill>
                <ns3:schemeClr val="accent1">
                  <ns3:tint val="70000"/>
                </ns3:schemeClr>
              </ns3:solidFill>
              <ns3:ln>
                <ns3:noFill/>
              </ns3:ln>
              <ns3:effectLst/>
            </ns0:spPr>
          </ns0:dPt>
          <ns0:dPt>
            <ns0:idx val="5"/>
            <ns0:bubble3D val="0"/>
            <ns0:spPr>
              <ns3:solidFill>
                <ns3:schemeClr val="accent1">
                  <ns3:tint val="50000"/>
                </ns3:schemeClr>
              </ns3:solidFill>
              <ns3:ln>
                <ns3:noFill/>
              </ns3:ln>
              <ns3:effectLst/>
            </ns0:spPr>
          </ns0:dPt>
          <ns0:dLbls>
            <ns0:delete val="1"/>
            <ns0:showVal val="0"/>
            <ns0:showPercent val="1"/>
          </ns0:dLbls>
          <ns0:cat>
            <ns0:strRef>
              <ns0:f>'RE-JV'!$F$7:$F$12</ns0:f>
              <ns0:strCache>
                <ns0:ptCount val="6"/>
                <ns0:pt idx="0">
                  <ns0:v>CHINA</ns0:v>
                </ns0:pt>
                <ns0:pt idx="1">
                  <ns0:v>USA</ns0:v>
                </ns0:pt>
                <ns0:pt idx="2">
                  <ns0:v>BELGIUM</ns0:v>
                </ns0:pt>
                <ns0:pt idx="3">
                  <ns0:v>CANADA</ns0:v>
                </ns0:pt>
                <ns0:pt idx="4">
                  <ns0:v>JAPAN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'RE-JV'!$I$7:$I$12</ns0:f>
              <ns0:numCache>
                <ns0:formatCode>0.00%</ns0:formatCode>
                <ns0:ptCount val="6"/>
                <ns0:pt idx="0">
                  <ns0:v>0.323232323232323</ns0:v>
                </ns0:pt>
                <ns0:pt idx="1">
                  <ns0:v>0.262626262626263</ns0:v>
                </ns0:pt>
                <ns0:pt idx="2">
                  <ns0:v>0.131313131313131</ns0:v>
                </ns0:pt>
                <ns0:pt idx="3">
                  <ns0:v>0.0707070707070707</ns0:v>
                </ns0:pt>
                <ns0:pt idx="4">
                  <ns0:v>0.0404040404040404</ns0:v>
                </ns0:pt>
                <ns0:pt idx="5">
                  <ns0:v>0.171717171717172</ns0:v>
                </ns0:pt>
              </ns0:numCache>
            </ns0:numRef>
          </ns0:val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extLst>
          <ns0:ext uri="{02D57815-91ED-43cb-92C2-25804820EDAC}">
            <ns4:filteredPieSeries>
              <ns4:ser>
                <ns0:idx val="1"/>
                <ns0:order val="1"/>
                <ns0:tx>
                  <ns0:strRef>
                    <ns0:extLst>
                      <ns0:ext uri="{02D57815-91ED-43cb-92C2-25804820EDAC}">
                        <ns4:formulaRef>
                          <ns4:sqref>'RE-JV'!$H$6</ns4:sqref>
                        </ns4:formulaRef>
                      </ns0:ext>
                    </ns0:extLst>
                    <ns0:strCache>
                      <ns0:ptCount val="1"/>
                      <ns0:pt idx="0">
                        <ns0:v>Sum of Fail</ns0:v>
                      </ns0:pt>
                    </ns0:strCache>
                  </ns0:strRef>
                </ns0:tx>
                <ns0:explosion val="0"/>
                <ns0:dPt>
                  <ns0:idx val="0"/>
                  <ns0:bubble3D val="0"/>
                  <ns0:spPr>
                    <ns3:solidFill>
                      <ns3:schemeClr val="accent1">
                        <ns3:shade val="5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1"/>
                  <ns0:bubble3D val="0"/>
                  <ns0:spPr>
                    <ns3:solidFill>
                      <ns3:schemeClr val="accent1">
                        <ns3:shade val="7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2"/>
                  <ns0:bubble3D val="0"/>
                  <ns0:spPr>
                    <ns3:solidFill>
                      <ns3:schemeClr val="accent1">
                        <ns3:shade val="9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3"/>
                  <ns0:bubble3D val="0"/>
                  <ns0:spPr>
                    <ns3:solidFill>
                      <ns3:schemeClr val="accent1">
                        <ns3:tint val="9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4"/>
                  <ns0:bubble3D val="0"/>
                  <ns0:spPr>
                    <ns3:solidFill>
                      <ns3:schemeClr val="accent1">
                        <ns3:tint val="7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Pt>
                  <ns0:idx val="5"/>
                  <ns0:bubble3D val="0"/>
                  <ns0:spPr>
                    <ns3:solidFill>
                      <ns3:schemeClr val="accent1">
                        <ns3:tint val="50000"/>
                      </ns3:schemeClr>
                    </ns3:solidFill>
                    <ns3:ln>
                      <ns3:noFill/>
                    </ns3:ln>
                    <ns3:effectLst/>
                  </ns0:spPr>
                </ns0:dPt>
                <ns0:dLbls>
                  <ns0:delete val="1"/>
                </ns0:dLbls>
                <ns0:cat>
                  <ns0:strRef>
                    <ns0:extLst>
                      <ns0:ext uri="{02D57815-91ED-43cb-92C2-25804820EDAC}">
                        <ns4:fullRef>
                          <ns4:sqref/>
                        </ns4:fullRef>
                        <ns4:formulaRef>
                          <ns4:sqref>'RE-JV'!$F$7:$F$12</ns4:sqref>
                        </ns4:formulaRef>
                      </ns0:ext>
                    </ns0:extLst>
                    <ns0:strCache>
                      <ns0:ptCount val="6"/>
                      <ns0:pt idx="0">
                        <ns0:v>CHINA</ns0:v>
                      </ns0:pt>
                      <ns0:pt idx="1">
                        <ns0:v>USA</ns0:v>
                      </ns0:pt>
                      <ns0:pt idx="2">
                        <ns0:v>BELGIUM</ns0:v>
                      </ns0:pt>
                      <ns0:pt idx="3">
                        <ns0:v>CANADA</ns0:v>
                      </ns0:pt>
                      <ns0:pt idx="4">
                        <ns0:v>JAPAN</ns0:v>
                      </ns0:pt>
                      <ns0:pt idx="5">
                        <ns0:v>OTHERS</ns0:v>
                      </ns0:pt>
                    </ns0:strCache>
                  </ns0:strRef>
                </ns0:cat>
                <ns0:val>
                  <ns0:numRef>
                    <ns0:extLst>
                      <ns0:ext uri="{02D57815-91ED-43cb-92C2-25804820EDAC}">
                        <ns4:formulaRef>
                          <ns4:sqref>'RE-JV'!$H$7:$H$12</ns4:sqref>
                        </ns4:formulaRef>
                      </ns0:ext>
                    </ns0:extLst>
                    <ns0:numCache>
                      <ns0:formatCode>General</ns0:formatCode>
                      <ns0:ptCount val="6"/>
                      <ns0:pt idx="0">
                        <ns0:v>99</ns0:v>
                      </ns0:pt>
                      <ns0:pt idx="1">
                        <ns0:v>99</ns0:v>
                      </ns0:pt>
                      <ns0:pt idx="2">
                        <ns0:v>99</ns0:v>
                      </ns0:pt>
                      <ns0:pt idx="3">
                        <ns0:v>99</ns0:v>
                      </ns0:pt>
                      <ns0:pt idx="4">
                        <ns0:v>99</ns0:v>
                      </ns0:pt>
                      <ns0:pt idx="5">
                        <ns0:v>99</ns0:v>
                      </ns0:pt>
                    </ns0:numCache>
                  </ns0:numRef>
                </ns0:val>
              </ns4:ser>
            </ns4:filteredPieSeries>
          </ns0:ext>
        </ns0:extLst>
      </ns0:pie3DChart>
      <ns0:spPr>
        <ns3:noFill/>
        <ns3:ln>
          <ns3:noFill/>
        </ns3:ln>
        <ns3:effectLst/>
      </ns0:spPr>
    </ns0:plotArea>
    <ns0:legend>
      <ns0:legendPos val="t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</ns3:p>
        </ns0:txPr>
      </ns0:legendEntry>
      <ns0:layout>
        <ns0:manualLayout>
          <ns0:xMode val="edge"/>
          <ns0:yMode val="edge"/>
          <ns0:x val="0.62099693678641"/>
          <ns0:y val="0.102644818855429"/>
          <ns0:w val="0.36229462545252"/>
          <ns0:h val="0.588679836702948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</ns3:p>
      </ns0:txPr>
    </ns0:legend>
    <ns0:plotVisOnly val="1"/>
    <ns0:dispBlanksAs val="gap"/>
    <ns0:showDLblsOverMax val="0"/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/>
      </ns3:pPr>
    </ns3:p>
  </ns0:txPr>
  <ns0:externalData ns5:id="rId1">
    <ns0:autoUpdate val="1"/>
  </ns0:externalData>
</ns0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28826317256761"/>
          <c:y val="0.051871898962562"/>
          <c:w val="0.651733102253033"/>
          <c:h val="0.54325452214278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QC!$AF$81</c:f>
              <c:strCache>
                <c:ptCount val="1"/>
                <c:pt idx="0">
                  <c:v>Airbag quality/stain</c:v>
                </c:pt>
              </c:strCache>
            </c:strRef>
          </c:tx>
          <c:spPr>
            <a:solidFill>
              <a:srgbClr val="59E4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QC!$AF$82:$AF$91</c:f>
              <c:numCache>
                <c:formatCode>General</c:formatCode>
                <c:ptCount val="10"/>
              </c:numCache>
            </c:numRef>
          </c:val>
        </c:ser>
        <c:ser>
          <c:idx val="1"/>
          <c:order val="1"/>
          <c:tx>
            <c:strRef>
              <c:f>QC!$AG$81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QC!$AG$82:$AG$91</c:f>
              <c:numCache>
                <c:formatCode>General</c:formatCode>
                <c:ptCount val="10"/>
                <c:pt idx="0">
                  <c:v>1218</c:v>
                </c:pt>
                <c:pt idx="1">
                  <c:v>15</c:v>
                </c:pt>
                <c:pt idx="2">
                  <c:v>1901</c:v>
                </c:pt>
                <c:pt idx="3">
                  <c:v>32</c:v>
                </c:pt>
                <c:pt idx="4">
                  <c:v>1792</c:v>
                </c:pt>
                <c:pt idx="5">
                  <c:v>25</c:v>
                </c:pt>
                <c:pt idx="7">
                  <c:v>20</c:v>
                </c:pt>
                <c:pt idx="8">
                  <c:v>1491</c:v>
                </c:pt>
                <c:pt idx="9">
                  <c:v>48</c:v>
                </c:pt>
              </c:numCache>
            </c:numRef>
          </c:val>
        </c:ser>
        <c:ser>
          <c:idx val="2"/>
          <c:order val="2"/>
          <c:tx>
            <c:strRef>
              <c:f>QC!$AH$81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QC!$AH$82:$AH$91</c:f>
              <c:numCache>
                <c:formatCode>General</c:formatCode>
                <c:ptCount val="10"/>
                <c:pt idx="2">
                  <c:v>1787</c:v>
                </c:pt>
                <c:pt idx="3">
                  <c:v>35</c:v>
                </c:pt>
                <c:pt idx="5">
                  <c:v>21</c:v>
                </c:pt>
                <c:pt idx="6">
                  <c:v>2395</c:v>
                </c:pt>
                <c:pt idx="7">
                  <c:v>14</c:v>
                </c:pt>
                <c:pt idx="9">
                  <c:v>40</c:v>
                </c:pt>
              </c:numCache>
            </c:numRef>
          </c:val>
        </c:ser>
        <c:ser>
          <c:idx val="3"/>
          <c:order val="3"/>
          <c:tx>
            <c:strRef>
              <c:f>QC!$AI$81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QC!$AI$82:$AI$91</c:f>
              <c:numCache>
                <c:formatCode>General</c:formatCode>
                <c:ptCount val="10"/>
                <c:pt idx="0">
                  <c:v>1269</c:v>
                </c:pt>
                <c:pt idx="1">
                  <c:v>14</c:v>
                </c:pt>
                <c:pt idx="3">
                  <c:v>29</c:v>
                </c:pt>
                <c:pt idx="4">
                  <c:v>1479</c:v>
                </c:pt>
                <c:pt idx="6">
                  <c:v>2764</c:v>
                </c:pt>
                <c:pt idx="8">
                  <c:v>1649</c:v>
                </c:pt>
                <c:pt idx="9">
                  <c:v>49</c:v>
                </c:pt>
              </c:numCache>
            </c:numRef>
          </c:val>
        </c:ser>
        <c:ser>
          <c:idx val="4"/>
          <c:order val="4"/>
          <c:tx>
            <c:strRef>
              <c:f>QC!$AJ$81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QC!$AJ$82:$AJ$91</c:f>
              <c:numCache>
                <c:formatCode>General</c:formatCode>
                <c:ptCount val="10"/>
                <c:pt idx="2">
                  <c:v>1991</c:v>
                </c:pt>
                <c:pt idx="4">
                  <c:v>1496</c:v>
                </c:pt>
                <c:pt idx="5">
                  <c:v>22</c:v>
                </c:pt>
                <c:pt idx="8">
                  <c:v>1588</c:v>
                </c:pt>
              </c:numCache>
            </c:numRef>
          </c:val>
        </c:ser>
        <c:ser>
          <c:idx val="5"/>
          <c:order val="5"/>
          <c:tx>
            <c:strRef>
              <c:f>QC!$AK$81</c:f>
              <c:strCache>
                <c:ptCount val="1"/>
                <c:pt idx="0">
                  <c:v>Wrinkle bottom</c:v>
                </c:pt>
              </c:strCache>
            </c:strRef>
          </c:tx>
          <c:spPr>
            <a:solidFill>
              <a:srgbClr val="FAC09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QC!$AK$82:$AK$91</c:f>
              <c:numCache>
                <c:formatCode>General</c:formatCode>
                <c:ptCount val="10"/>
                <c:pt idx="6">
                  <c:v>2611</c:v>
                </c:pt>
              </c:numCache>
            </c:numRef>
          </c:val>
        </c:ser>
        <c:ser>
          <c:idx val="6"/>
          <c:order val="6"/>
          <c:tx>
            <c:strRef>
              <c:f>QC!$AL$81</c:f>
              <c:strCache>
                <c:ptCount val="1"/>
                <c:pt idx="0">
                  <c:v>Wrinkle upper</c:v>
                </c:pt>
              </c:strCache>
            </c:strRef>
          </c:tx>
          <c:spPr>
            <a:solidFill>
              <a:srgbClr val="B9FE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QC!$AL$82:$AL$91</c:f>
              <c:numCache>
                <c:formatCode>General</c:formatCode>
                <c:ptCount val="10"/>
                <c:pt idx="7">
                  <c:v>17</c:v>
                </c:pt>
              </c:numCache>
            </c:numRef>
          </c:val>
        </c:ser>
        <c:ser>
          <c:idx val="7"/>
          <c:order val="7"/>
          <c:tx>
            <c:strRef>
              <c:f>QC!$AM$81</c:f>
              <c:strCache>
                <c:ptCount val="1"/>
                <c:pt idx="0">
                  <c:v>Heel/Tip height inconsistent</c:v>
                </c:pt>
              </c:strCache>
            </c:strRef>
          </c:tx>
          <c:spPr>
            <a:solidFill>
              <a:srgbClr val="336A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QC!$AM$82:$AM$91</c:f>
              <c:numCache>
                <c:formatCode>General</c:formatCode>
                <c:ptCount val="10"/>
                <c:pt idx="0">
                  <c:v>1022</c:v>
                </c:pt>
              </c:numCache>
            </c:numRef>
          </c:val>
        </c:ser>
        <c:ser>
          <c:idx val="8"/>
          <c:order val="8"/>
          <c:tx>
            <c:strRef>
              <c:f>QC!$AN$81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QC!$AN$82:$AN$91</c:f>
              <c:numCache>
                <c:formatCode>General</c:formatCode>
                <c:ptCount val="10"/>
                <c:pt idx="1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20531423"/>
        <c:axId val="291423313"/>
      </c:barChart>
      <c:catAx>
        <c:axId val="42053142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rnd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>
                    <a:alpha val="100000"/>
                  </a:srgbClr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0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</a:p>
        </c:txPr>
        <c:crossAx val="291423313"/>
        <c:crosses val="autoZero"/>
        <c:auto val="1"/>
        <c:lblAlgn val="ctr"/>
        <c:lblOffset val="100"/>
        <c:noMultiLvlLbl val="0"/>
      </c:catAx>
      <c:valAx>
        <c:axId val="29142331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0531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</a:p>
  </c:txPr>
  <c:externalData r:id="rId1">
    <c:autoUpdate val="1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28826317256761"/>
          <c:y val="0.0492505353319058"/>
          <c:w val="0.651733102253033"/>
          <c:h val="0.53098574259509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MA!$AM$81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MA!$AM$82:$AM$91</c:f>
              <c:numCache>
                <c:formatCode>General</c:formatCode>
                <c:ptCount val="10"/>
                <c:pt idx="0">
                  <c:v>21</c:v>
                </c:pt>
                <c:pt idx="1">
                  <c:v>2</c:v>
                </c:pt>
                <c:pt idx="2">
                  <c:v>37</c:v>
                </c:pt>
                <c:pt idx="3">
                  <c:v>1</c:v>
                </c:pt>
                <c:pt idx="4">
                  <c:v>30</c:v>
                </c:pt>
                <c:pt idx="6">
                  <c:v>24</c:v>
                </c:pt>
                <c:pt idx="8">
                  <c:v>44</c:v>
                </c:pt>
              </c:numCache>
            </c:numRef>
          </c:val>
        </c:ser>
        <c:ser>
          <c:idx val="1"/>
          <c:order val="1"/>
          <c:tx>
            <c:strRef>
              <c:f>MA!$AN$81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MA!$AN$82:$AN$91</c:f>
              <c:numCache>
                <c:formatCode>General</c:formatCode>
                <c:ptCount val="10"/>
                <c:pt idx="0">
                  <c:v>20</c:v>
                </c:pt>
                <c:pt idx="2">
                  <c:v>37</c:v>
                </c:pt>
                <c:pt idx="4">
                  <c:v>41</c:v>
                </c:pt>
                <c:pt idx="6">
                  <c:v>30</c:v>
                </c:pt>
                <c:pt idx="8">
                  <c:v>36</c:v>
                </c:pt>
              </c:numCache>
            </c:numRef>
          </c:val>
        </c:ser>
        <c:ser>
          <c:idx val="2"/>
          <c:order val="2"/>
          <c:tx>
            <c:strRef>
              <c:f>MA!$AO$81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MA!$AO$82:$AO$91</c:f>
              <c:numCache>
                <c:formatCode>General</c:formatCode>
                <c:ptCount val="10"/>
                <c:pt idx="0">
                  <c:v>24</c:v>
                </c:pt>
                <c:pt idx="1">
                  <c:v>2</c:v>
                </c:pt>
                <c:pt idx="2">
                  <c:v>34</c:v>
                </c:pt>
                <c:pt idx="6">
                  <c:v>19</c:v>
                </c:pt>
                <c:pt idx="8">
                  <c:v>42</c:v>
                </c:pt>
              </c:numCache>
            </c:numRef>
          </c:val>
        </c:ser>
        <c:ser>
          <c:idx val="3"/>
          <c:order val="3"/>
          <c:tx>
            <c:strRef>
              <c:f>MA!$AP$81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MA!$AP$82:$AP$91</c:f>
              <c:numCache>
                <c:formatCode>General</c:formatCode>
                <c:ptCount val="10"/>
                <c:pt idx="5">
                  <c:v>6</c:v>
                </c:pt>
              </c:numCache>
            </c:numRef>
          </c:val>
        </c:ser>
        <c:ser>
          <c:idx val="4"/>
          <c:order val="4"/>
          <c:tx>
            <c:strRef>
              <c:f>MA!$AQ$81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MA!$AQ$82:$AQ$91</c:f>
              <c:numCache>
                <c:formatCode>General</c:formatCode>
                <c:ptCount val="10"/>
                <c:pt idx="5">
                  <c:v>3</c:v>
                </c:pt>
                <c:pt idx="9">
                  <c:v>1</c:v>
                </c:pt>
              </c:numCache>
            </c:numRef>
          </c:val>
        </c:ser>
        <c:ser>
          <c:idx val="5"/>
          <c:order val="5"/>
          <c:tx>
            <c:strRef>
              <c:f>MA!$AR$81</c:f>
              <c:strCache>
                <c:ptCount val="1"/>
                <c:pt idx="0">
                  <c:v>Sole attachment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MA!$AR$82:$AR$91</c:f>
              <c:numCache>
                <c:formatCode>General</c:formatCode>
                <c:ptCount val="10"/>
                <c:pt idx="5">
                  <c:v>1</c:v>
                </c:pt>
              </c:numCache>
            </c:numRef>
          </c:val>
        </c:ser>
        <c:ser>
          <c:idx val="6"/>
          <c:order val="6"/>
          <c:tx>
            <c:strRef>
              <c:f>MA!$AS$81</c:f>
              <c:strCache>
                <c:ptCount val="1"/>
                <c:pt idx="0">
                  <c:v>Wrinkle upper</c:v>
                </c:pt>
              </c:strCache>
            </c:strRef>
          </c:tx>
          <c:spPr>
            <a:solidFill>
              <a:srgbClr val="B9FE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MA!$AS$82:$AS$91</c:f>
              <c:numCache>
                <c:formatCode>General</c:formatCode>
                <c:ptCount val="10"/>
                <c:pt idx="4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20531423"/>
        <c:axId val="291423313"/>
        <c:extLst>
          <c:ext xmlns:c15="http://schemas.microsoft.com/office/drawing/2012/chart" uri="{02D57815-91ED-43cb-92C2-25804820EDAC}">
            <c15:filteredBarSeries>
              <c15:ser>
                <c:idx val="7"/>
                <c:order val="7"/>
                <c:tx>
                  <c:strRef>
                    <c:extLst>
                      <c:ext uri="{02D57815-91ED-43cb-92C2-25804820EDAC}">
                        <c15:formulaRef>
                          <c15:sqref>MA!$AT$81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rgbClr val="FAC09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MA!$AJ$82:$AL$91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SE (GS)</c:v>
                        </c:pt>
                        <c:pt idx="2">
                          <c:v>AIR JORDAN 1 LOW SE (MS/WS)</c:v>
                        </c:pt>
                        <c:pt idx="4">
                          <c:v>JORDAN SPIZIKE LOW (GS)</c:v>
                        </c:pt>
                        <c:pt idx="6">
                          <c:v>NIKE AIR WINFLO 12 (MS/WS)</c:v>
                        </c:pt>
                        <c:pt idx="8">
                          <c:v>NIKE SB FORCE 58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MA!$AT$82:$AT$91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8"/>
                <c:order val="8"/>
                <c:tx>
                  <c:strRef>
                    <c:extLst>
                      <c:ext uri="{02D57815-91ED-43cb-92C2-25804820EDAC}">
                        <c15:formulaRef>
                          <c15:sqref>MA!$AU$81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rgbClr val="336A4E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MA!$AJ$82:$AL$91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SE (GS)</c:v>
                        </c:pt>
                        <c:pt idx="2">
                          <c:v>AIR JORDAN 1 LOW SE (MS/WS)</c:v>
                        </c:pt>
                        <c:pt idx="4">
                          <c:v>JORDAN SPIZIKE LOW (GS)</c:v>
                        </c:pt>
                        <c:pt idx="6">
                          <c:v>NIKE AIR WINFLO 12 (MS/WS)</c:v>
                        </c:pt>
                        <c:pt idx="8">
                          <c:v>NIKE SB FORCE 58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MA!$AU$82:$AU$91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</c:ext>
        </c:extLst>
      </c:barChart>
      <c:catAx>
        <c:axId val="42053142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</a:p>
        </c:txPr>
        <c:crossAx val="291423313"/>
        <c:crosses val="autoZero"/>
        <c:auto val="1"/>
        <c:lblAlgn val="ctr"/>
        <c:lblOffset val="100"/>
        <c:noMultiLvlLbl val="0"/>
      </c:catAx>
      <c:valAx>
        <c:axId val="29142331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0531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</a:p>
  </c:txPr>
  <c:externalData r:id="rId1">
    <c:autoUpdate val="1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28826317256761"/>
          <c:y val="0.0534635053463505"/>
          <c:w val="0.653484806244773"/>
          <c:h val="0.53632260402596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QC!$AF$126</c:f>
              <c:strCache>
                <c:ptCount val="1"/>
                <c:pt idx="0">
                  <c:v>Airbag quality/stain</c:v>
                </c:pt>
              </c:strCache>
            </c:strRef>
          </c:tx>
          <c:spPr>
            <a:solidFill>
              <a:srgbClr val="59E4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QC!$AF$127:$AF$136</c:f>
              <c:numCache>
                <c:formatCode>General</c:formatCode>
                <c:ptCount val="10"/>
                <c:pt idx="6">
                  <c:v>1709</c:v>
                </c:pt>
                <c:pt idx="7">
                  <c:v>24</c:v>
                </c:pt>
              </c:numCache>
            </c:numRef>
          </c:val>
        </c:ser>
        <c:ser>
          <c:idx val="1"/>
          <c:order val="1"/>
          <c:tx>
            <c:strRef>
              <c:f>QC!$AG$126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QC!$AG$127:$AG$136</c:f>
              <c:numCache>
                <c:formatCode>General</c:formatCode>
                <c:ptCount val="10"/>
                <c:pt idx="0">
                  <c:v>1334</c:v>
                </c:pt>
                <c:pt idx="1">
                  <c:v>10</c:v>
                </c:pt>
                <c:pt idx="2">
                  <c:v>1048</c:v>
                </c:pt>
                <c:pt idx="4">
                  <c:v>7089</c:v>
                </c:pt>
                <c:pt idx="5">
                  <c:v>19</c:v>
                </c:pt>
                <c:pt idx="6">
                  <c:v>2963</c:v>
                </c:pt>
                <c:pt idx="7">
                  <c:v>6</c:v>
                </c:pt>
                <c:pt idx="8">
                  <c:v>5790</c:v>
                </c:pt>
                <c:pt idx="9">
                  <c:v>3</c:v>
                </c:pt>
              </c:numCache>
            </c:numRef>
          </c:val>
        </c:ser>
        <c:ser>
          <c:idx val="2"/>
          <c:order val="2"/>
          <c:tx>
            <c:strRef>
              <c:f>QC!$AH$126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QC!$AH$127:$AH$136</c:f>
              <c:numCache>
                <c:formatCode>General</c:formatCode>
                <c:ptCount val="10"/>
                <c:pt idx="0">
                  <c:v>2139</c:v>
                </c:pt>
                <c:pt idx="1">
                  <c:v>5</c:v>
                </c:pt>
                <c:pt idx="2">
                  <c:v>1299</c:v>
                </c:pt>
                <c:pt idx="3">
                  <c:v>9</c:v>
                </c:pt>
                <c:pt idx="4">
                  <c:v>5708</c:v>
                </c:pt>
                <c:pt idx="6">
                  <c:v>2088</c:v>
                </c:pt>
                <c:pt idx="7">
                  <c:v>4</c:v>
                </c:pt>
                <c:pt idx="8">
                  <c:v>5152</c:v>
                </c:pt>
                <c:pt idx="9">
                  <c:v>4</c:v>
                </c:pt>
              </c:numCache>
            </c:numRef>
          </c:val>
        </c:ser>
        <c:ser>
          <c:idx val="3"/>
          <c:order val="3"/>
          <c:tx>
            <c:strRef>
              <c:f>QC!$AI$126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CDCDC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QC!$AI$127:$AI$136</c:f>
              <c:numCache>
                <c:formatCode>General</c:formatCode>
                <c:ptCount val="10"/>
                <c:pt idx="1">
                  <c:v>17</c:v>
                </c:pt>
              </c:numCache>
            </c:numRef>
          </c:val>
        </c:ser>
        <c:ser>
          <c:idx val="4"/>
          <c:order val="4"/>
          <c:tx>
            <c:strRef>
              <c:f>QC!$AJ$126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QC!$AJ$127:$AJ$136</c:f>
              <c:numCache>
                <c:formatCode>General</c:formatCode>
                <c:ptCount val="10"/>
                <c:pt idx="0">
                  <c:v>2196</c:v>
                </c:pt>
                <c:pt idx="2">
                  <c:v>912</c:v>
                </c:pt>
                <c:pt idx="4">
                  <c:v>6731</c:v>
                </c:pt>
                <c:pt idx="5">
                  <c:v>11</c:v>
                </c:pt>
                <c:pt idx="8">
                  <c:v>4611</c:v>
                </c:pt>
              </c:numCache>
            </c:numRef>
          </c:val>
        </c:ser>
        <c:ser>
          <c:idx val="5"/>
          <c:order val="5"/>
          <c:tx>
            <c:strRef>
              <c:f>QC!$AK$126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QC!$AK$127:$AK$136</c:f>
              <c:numCache>
                <c:formatCode>General</c:formatCode>
                <c:ptCount val="10"/>
                <c:pt idx="3">
                  <c:v>5</c:v>
                </c:pt>
              </c:numCache>
            </c:numRef>
          </c:val>
        </c:ser>
        <c:ser>
          <c:idx val="6"/>
          <c:order val="6"/>
          <c:tx>
            <c:strRef>
              <c:f>QC!$AL$126</c:f>
              <c:strCache>
                <c:ptCount val="1"/>
                <c:pt idx="0">
                  <c:v>Eyestay off center</c:v>
                </c:pt>
              </c:strCache>
            </c:strRef>
          </c:tx>
          <c:spPr>
            <a:solidFill>
              <a:srgbClr val="31859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QC!$AL$127:$AL$136</c:f>
              <c:numCache>
                <c:formatCode>General</c:formatCode>
                <c:ptCount val="10"/>
                <c:pt idx="5">
                  <c:v>8</c:v>
                </c:pt>
              </c:numCache>
            </c:numRef>
          </c:val>
        </c:ser>
        <c:ser>
          <c:idx val="7"/>
          <c:order val="7"/>
          <c:tx>
            <c:strRef>
              <c:f>QC!$AM$126</c:f>
              <c:strCache>
                <c:ptCount val="1"/>
                <c:pt idx="0">
                  <c:v>Miss match labeling on shoe or Outer carton and Inner box</c:v>
                </c:pt>
              </c:strCache>
            </c:strRef>
          </c:tx>
          <c:spPr>
            <a:solidFill>
              <a:srgbClr val="500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QC!$AM$127:$AM$136</c:f>
              <c:numCache>
                <c:formatCode>General</c:formatCode>
                <c:ptCount val="10"/>
                <c:pt idx="9">
                  <c:v>1</c:v>
                </c:pt>
              </c:numCache>
            </c:numRef>
          </c:val>
        </c:ser>
        <c:ser>
          <c:idx val="8"/>
          <c:order val="8"/>
          <c:tx>
            <c:strRef>
              <c:f>QC!$AN$126</c:f>
              <c:strCache>
                <c:ptCount val="1"/>
                <c:pt idx="0">
                  <c:v>Collar shape</c:v>
                </c:pt>
              </c:strCache>
            </c:strRef>
          </c:tx>
          <c:spPr>
            <a:solidFill>
              <a:srgbClr val="FE9B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QC!$AN$127:$AN$136</c:f>
              <c:numCache>
                <c:formatCode>General</c:formatCode>
                <c:ptCount val="10"/>
                <c:pt idx="3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3928685"/>
        <c:axId val="776699434"/>
        <c:extLst>
          <c:ext xmlns:c15="http://schemas.microsoft.com/office/drawing/2012/chart" uri="{02D57815-91ED-43cb-92C2-25804820EDAC}">
            <c15:filteredBarSeries>
              <c15:ser>
                <c:idx val="9"/>
                <c:order val="9"/>
                <c:tx>
                  <c:strRef>
                    <c:extLst>
                      <c:ext uri="{02D57815-91ED-43cb-92C2-25804820EDAC}">
                        <c15:formulaRef>
                          <c15:sqref>QC!$AO$126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rgbClr val="2A48A8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QC!$AO$127:$AO$136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10"/>
                <c:order val="10"/>
                <c:tx>
                  <c:strRef>
                    <c:extLst>
                      <c:ext uri="{02D57815-91ED-43cb-92C2-25804820EDAC}">
                        <c15:formulaRef>
                          <c15:sqref>QC!$AP$126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QC!$AP$127:$AP$136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11"/>
                <c:order val="11"/>
                <c:tx>
                  <c:strRef>
                    <c:extLst>
                      <c:ext uri="{02D57815-91ED-43cb-92C2-25804820EDAC}">
                        <c15:formulaRef>
                          <c15:sqref>QC!$AQ$126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QC!$AQ$127:$AQ$136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12"/>
                <c:order val="12"/>
                <c:tx>
                  <c:strRef>
                    <c:extLst>
                      <c:ext uri="{02D57815-91ED-43cb-92C2-25804820EDAC}">
                        <c15:formulaRef>
                          <c15:sqref>QC!$AR$126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QC!$AR$127:$AR$136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</c:ext>
        </c:extLst>
      </c:barChart>
      <c:catAx>
        <c:axId val="44392868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</a:p>
        </c:txPr>
        <c:crossAx val="776699434"/>
        <c:crosses val="autoZero"/>
        <c:auto val="1"/>
        <c:lblAlgn val="ctr"/>
        <c:lblOffset val="100"/>
        <c:noMultiLvlLbl val="0"/>
      </c:catAx>
      <c:valAx>
        <c:axId val="77669943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4392868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</a:p>
  </c:txPr>
  <c:externalData r:id="rId1">
    <c:autoUpdate val="1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28826317256761"/>
          <c:y val="0.0507278341420379"/>
          <c:w val="0.650696961248955"/>
          <c:h val="0.50711509539472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MA!$AM$129</c:f>
              <c:strCache>
                <c:ptCount val="1"/>
                <c:pt idx="0">
                  <c:v>Bottom Cosmetic</c:v>
                </c:pt>
              </c:strCache>
            </c:strRef>
          </c:tx>
          <c:spPr>
            <a:solidFill>
              <a:srgbClr val="D9969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</c:dPt>
          <c:dLbls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MA!$AM$130:$AM$139</c:f>
              <c:numCache>
                <c:formatCode>General</c:formatCode>
                <c:ptCount val="10"/>
                <c:pt idx="9">
                  <c:v>1</c:v>
                </c:pt>
              </c:numCache>
            </c:numRef>
          </c:val>
        </c:ser>
        <c:ser>
          <c:idx val="1"/>
          <c:order val="1"/>
          <c:tx>
            <c:strRef>
              <c:f>MA!$AN$129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MA!$AN$130:$AN$139</c:f>
              <c:numCache>
                <c:formatCode>General</c:formatCode>
                <c:ptCount val="10"/>
                <c:pt idx="0">
                  <c:v>7</c:v>
                </c:pt>
                <c:pt idx="1">
                  <c:v>2</c:v>
                </c:pt>
                <c:pt idx="3">
                  <c:v>1</c:v>
                </c:pt>
                <c:pt idx="4">
                  <c:v>5</c:v>
                </c:pt>
                <c:pt idx="5">
                  <c:v>3</c:v>
                </c:pt>
                <c:pt idx="6">
                  <c:v>8</c:v>
                </c:pt>
                <c:pt idx="7">
                  <c:v>2</c:v>
                </c:pt>
                <c:pt idx="8">
                  <c:v>3</c:v>
                </c:pt>
                <c:pt idx="9">
                  <c:v>1</c:v>
                </c:pt>
              </c:numCache>
            </c:numRef>
          </c:val>
        </c:ser>
        <c:ser>
          <c:idx val="2"/>
          <c:order val="2"/>
          <c:tx>
            <c:strRef>
              <c:f>MA!$AO$129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MA!$AO$130:$AO$139</c:f>
              <c:numCache>
                <c:formatCode>General</c:formatCode>
                <c:ptCount val="10"/>
                <c:pt idx="0">
                  <c:v>5</c:v>
                </c:pt>
                <c:pt idx="2">
                  <c:v>10</c:v>
                </c:pt>
                <c:pt idx="6">
                  <c:v>3</c:v>
                </c:pt>
                <c:pt idx="8">
                  <c:v>4</c:v>
                </c:pt>
              </c:numCache>
            </c:numRef>
          </c:val>
        </c:ser>
        <c:ser>
          <c:idx val="3"/>
          <c:order val="3"/>
          <c:tx>
            <c:strRef>
              <c:f>MA!$AP$129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MA!$AP$130:$AP$139</c:f>
              <c:numCache>
                <c:formatCode>General</c:formatCode>
                <c:ptCount val="10"/>
                <c:pt idx="2">
                  <c:v>4</c:v>
                </c:pt>
                <c:pt idx="4">
                  <c:v>6</c:v>
                </c:pt>
                <c:pt idx="5">
                  <c:v>1</c:v>
                </c:pt>
              </c:numCache>
            </c:numRef>
          </c:val>
        </c:ser>
        <c:ser>
          <c:idx val="4"/>
          <c:order val="4"/>
          <c:tx>
            <c:strRef>
              <c:f>MA!$AQ$129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MA!$AQ$130:$AQ$139</c:f>
              <c:numCache>
                <c:formatCode>General</c:formatCode>
                <c:ptCount val="10"/>
                <c:pt idx="1">
                  <c:v>1</c:v>
                </c:pt>
                <c:pt idx="7">
                  <c:v>2</c:v>
                </c:pt>
                <c:pt idx="9">
                  <c:v>1</c:v>
                </c:pt>
              </c:numCache>
            </c:numRef>
          </c:val>
        </c:ser>
        <c:ser>
          <c:idx val="5"/>
          <c:order val="5"/>
          <c:tx>
            <c:strRef>
              <c:f>MA!$AR$129</c:f>
              <c:strCache>
                <c:ptCount val="1"/>
                <c:pt idx="0">
                  <c:v>Airbag quality/stain</c:v>
                </c:pt>
              </c:strCache>
            </c:strRef>
          </c:tx>
          <c:spPr>
            <a:solidFill>
              <a:srgbClr val="59E4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MA!$AR$130:$AR$139</c:f>
              <c:numCache>
                <c:formatCode>General</c:formatCode>
                <c:ptCount val="10"/>
                <c:pt idx="4">
                  <c:v>3</c:v>
                </c:pt>
                <c:pt idx="6">
                  <c:v>11</c:v>
                </c:pt>
              </c:numCache>
            </c:numRef>
          </c:val>
        </c:ser>
        <c:ser>
          <c:idx val="6"/>
          <c:order val="6"/>
          <c:tx>
            <c:strRef>
              <c:f>MA!$AS$129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CDC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MA!$AS$130:$AS$139</c:f>
              <c:numCache>
                <c:formatCode>General</c:formatCode>
                <c:ptCount val="10"/>
                <c:pt idx="0">
                  <c:v>6</c:v>
                </c:pt>
              </c:numCache>
            </c:numRef>
          </c:val>
        </c:ser>
        <c:ser>
          <c:idx val="7"/>
          <c:order val="7"/>
          <c:tx>
            <c:strRef>
              <c:f>MA!$AT$129</c:f>
              <c:strCache>
                <c:ptCount val="1"/>
                <c:pt idx="0">
                  <c:v>Miss match labeling on shoe or Outer carton and Inner box</c:v>
                </c:pt>
              </c:strCache>
            </c:strRef>
          </c:tx>
          <c:spPr>
            <a:solidFill>
              <a:srgbClr val="500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MA!$AT$130:$AT$139</c:f>
              <c:numCache>
                <c:formatCode>General</c:formatCode>
                <c:ptCount val="10"/>
                <c:pt idx="8">
                  <c:v>1</c:v>
                </c:pt>
              </c:numCache>
            </c:numRef>
          </c:val>
        </c:ser>
        <c:ser>
          <c:idx val="8"/>
          <c:order val="8"/>
          <c:tx>
            <c:strRef>
              <c:f>MA!$AU$129</c:f>
              <c:strCache>
                <c:ptCount val="1"/>
                <c:pt idx="0">
                  <c:v>Collar shape</c:v>
                </c:pt>
              </c:strCache>
            </c:strRef>
          </c:tx>
          <c:spPr>
            <a:solidFill>
              <a:srgbClr val="FE9B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MA!$AU$130:$AU$139</c:f>
              <c:numCache>
                <c:formatCode>General</c:formatCode>
                <c:ptCount val="10"/>
                <c:pt idx="2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3928685"/>
        <c:axId val="776699434"/>
        <c:extLst>
          <c:ext xmlns:c15="http://schemas.microsoft.com/office/drawing/2012/chart" uri="{02D57815-91ED-43cb-92C2-25804820EDAC}">
            <c15:filteredBarSeries>
              <c15:ser>
                <c:idx val="9"/>
                <c:order val="9"/>
                <c:tx>
                  <c:strRef>
                    <c:extLst>
                      <c:ext uri="{02D57815-91ED-43cb-92C2-25804820EDAC}">
                        <c15:formulaRef>
                          <c15:sqref>MA!$AV$129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rgbClr val="2A48A8"/>
                  </a:solidFill>
                  <a:ln>
                    <a:noFill/>
                  </a:ln>
                  <a:effectLst/>
                </c:spPr>
                <c:invertIfNegative val="0"/>
                <c:dPt>
                  <c:idx val="8"/>
                  <c:invertIfNegative val="0"/>
                  <c:bubble3D val="0"/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MA!$AJ$130:$AL$139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MA!$AV$130:$AV$139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</c:ext>
        </c:extLst>
      </c:barChart>
      <c:catAx>
        <c:axId val="44392868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</a:p>
        </c:txPr>
        <c:crossAx val="776699434"/>
        <c:crosses val="autoZero"/>
        <c:auto val="1"/>
        <c:lblAlgn val="ctr"/>
        <c:lblOffset val="100"/>
        <c:noMultiLvlLbl val="0"/>
      </c:catAx>
      <c:valAx>
        <c:axId val="77669943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4392868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</a:p>
  </c:txPr>
  <c:externalData r:id="rId1">
    <c:autoUpdate val="1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4372785258682"/>
          <c:y val="0.0532161036557149"/>
          <c:w val="0.665145287030475"/>
          <c:h val="0.50191787824274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QC!$AF$142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QC!$AF$143:$AF$152</c:f>
              <c:numCache>
                <c:formatCode>General</c:formatCode>
                <c:ptCount val="10"/>
                <c:pt idx="0">
                  <c:v>1291</c:v>
                </c:pt>
                <c:pt idx="2">
                  <c:v>449</c:v>
                </c:pt>
                <c:pt idx="4">
                  <c:v>695</c:v>
                </c:pt>
                <c:pt idx="6">
                  <c:v>3097</c:v>
                </c:pt>
                <c:pt idx="7">
                  <c:v>173</c:v>
                </c:pt>
              </c:numCache>
            </c:numRef>
          </c:val>
        </c:ser>
        <c:ser>
          <c:idx val="1"/>
          <c:order val="1"/>
          <c:tx>
            <c:strRef>
              <c:f>QC!$AG$142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QC!$AG$143:$AG$152</c:f>
              <c:numCache>
                <c:formatCode>General</c:formatCode>
                <c:ptCount val="10"/>
                <c:pt idx="2">
                  <c:v>505</c:v>
                </c:pt>
                <c:pt idx="3">
                  <c:v>25</c:v>
                </c:pt>
                <c:pt idx="4">
                  <c:v>673</c:v>
                </c:pt>
                <c:pt idx="5">
                  <c:v>40</c:v>
                </c:pt>
                <c:pt idx="6">
                  <c:v>3157</c:v>
                </c:pt>
                <c:pt idx="7">
                  <c:v>236</c:v>
                </c:pt>
                <c:pt idx="8">
                  <c:v>3275</c:v>
                </c:pt>
                <c:pt idx="9">
                  <c:v>73</c:v>
                </c:pt>
              </c:numCache>
            </c:numRef>
          </c:val>
        </c:ser>
        <c:ser>
          <c:idx val="2"/>
          <c:order val="2"/>
          <c:tx>
            <c:strRef>
              <c:f>QC!$AH$142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QC!$AH$143:$AH$152</c:f>
              <c:numCache>
                <c:formatCode>General</c:formatCode>
                <c:ptCount val="10"/>
                <c:pt idx="0">
                  <c:v>1519</c:v>
                </c:pt>
                <c:pt idx="1">
                  <c:v>40</c:v>
                </c:pt>
                <c:pt idx="2">
                  <c:v>402</c:v>
                </c:pt>
                <c:pt idx="3">
                  <c:v>18</c:v>
                </c:pt>
                <c:pt idx="5">
                  <c:v>30</c:v>
                </c:pt>
                <c:pt idx="6">
                  <c:v>2952</c:v>
                </c:pt>
                <c:pt idx="7">
                  <c:v>182</c:v>
                </c:pt>
                <c:pt idx="8">
                  <c:v>3413</c:v>
                </c:pt>
                <c:pt idx="9">
                  <c:v>45</c:v>
                </c:pt>
              </c:numCache>
            </c:numRef>
          </c:val>
        </c:ser>
        <c:ser>
          <c:idx val="3"/>
          <c:order val="3"/>
          <c:tx>
            <c:strRef>
              <c:f>QC!$AI$142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QC!$AI$143:$AI$152</c:f>
              <c:numCache>
                <c:formatCode>General</c:formatCode>
                <c:ptCount val="10"/>
                <c:pt idx="0">
                  <c:v>1315</c:v>
                </c:pt>
                <c:pt idx="1">
                  <c:v>31</c:v>
                </c:pt>
                <c:pt idx="3">
                  <c:v>16</c:v>
                </c:pt>
                <c:pt idx="8">
                  <c:v>2955</c:v>
                </c:pt>
                <c:pt idx="9">
                  <c:v>24</c:v>
                </c:pt>
              </c:numCache>
            </c:numRef>
          </c:val>
        </c:ser>
        <c:ser>
          <c:idx val="4"/>
          <c:order val="4"/>
          <c:tx>
            <c:strRef>
              <c:f>QC!$AJ$142</c:f>
              <c:strCache>
                <c:ptCount val="1"/>
                <c:pt idx="0">
                  <c:v>Bond gap at bottom</c:v>
                </c:pt>
              </c:strCache>
            </c:strRef>
          </c:tx>
          <c:spPr>
            <a:solidFill>
              <a:srgbClr val="FB5F6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QC!$AJ$143:$AJ$152</c:f>
              <c:numCache>
                <c:formatCode>General</c:formatCode>
                <c:ptCount val="10"/>
                <c:pt idx="1">
                  <c:v>21</c:v>
                </c:pt>
              </c:numCache>
            </c:numRef>
          </c:val>
        </c:ser>
        <c:ser>
          <c:idx val="5"/>
          <c:order val="5"/>
          <c:tx>
            <c:strRef>
              <c:f>QC!$AK$142</c:f>
              <c:strCache>
                <c:ptCount val="1"/>
                <c:pt idx="0">
                  <c:v>Outsole thread stitching</c:v>
                </c:pt>
              </c:strCache>
            </c:strRef>
          </c:tx>
          <c:spPr>
            <a:solidFill>
              <a:srgbClr val="BFFF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QC!$AK$143:$AK$152</c:f>
              <c:numCache>
                <c:formatCode>General</c:formatCode>
                <c:ptCount val="10"/>
                <c:pt idx="4">
                  <c:v>775</c:v>
                </c:pt>
              </c:numCache>
            </c:numRef>
          </c:val>
        </c:ser>
        <c:ser>
          <c:idx val="6"/>
          <c:order val="6"/>
          <c:tx>
            <c:strRef>
              <c:f>QC!$AL$142</c:f>
              <c:strCache>
                <c:ptCount val="1"/>
                <c:pt idx="0">
                  <c:v>Collar shape</c:v>
                </c:pt>
              </c:strCache>
            </c:strRef>
          </c:tx>
          <c:spPr>
            <a:solidFill>
              <a:srgbClr val="FE9B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QC!$AL$143:$AL$152</c:f>
              <c:numCache>
                <c:formatCode>General</c:formatCode>
                <c:ptCount val="10"/>
                <c:pt idx="5">
                  <c:v>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949243597"/>
        <c:axId val="422819262"/>
        <c:extLst>
          <c:ext xmlns:c15="http://schemas.microsoft.com/office/drawing/2012/chart" uri="{02D57815-91ED-43cb-92C2-25804820EDAC}">
            <c15:filteredBarSeries>
              <c15:ser>
                <c:idx val="7"/>
                <c:order val="7"/>
                <c:tx>
                  <c:strRef>
                    <c:extLst>
                      <c:ext uri="{02D57815-91ED-43cb-92C2-25804820EDAC}">
                        <c15:formulaRef>
                          <c15:sqref>QC!$AM$142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3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QC!$AM$143:$AM$152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8"/>
                <c:order val="8"/>
                <c:tx>
                  <c:strRef>
                    <c:extLst>
                      <c:ext uri="{02D57815-91ED-43cb-92C2-25804820EDAC}">
                        <c15:formulaRef>
                          <c15:sqref>QC!$AN$142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QC!$AN$143:$AN$152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9"/>
                <c:order val="9"/>
                <c:tx>
                  <c:strRef>
                    <c:extLst>
                      <c:ext uri="{02D57815-91ED-43cb-92C2-25804820EDAC}">
                        <c15:formulaRef>
                          <c15:sqref>QC!$AO$142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QC!$AO$143:$AO$152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10"/>
                <c:order val="10"/>
                <c:tx>
                  <c:strRef>
                    <c:extLst>
                      <c:ext uri="{02D57815-91ED-43cb-92C2-25804820EDAC}">
                        <c15:formulaRef>
                          <c15:sqref>QC!$AP$142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3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QC!$AP$143:$AP$152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11"/>
                <c:order val="11"/>
                <c:tx>
                  <c:strRef>
                    <c:extLst>
                      <c:ext uri="{02D57815-91ED-43cb-92C2-25804820EDAC}">
                        <c15:formulaRef>
                          <c15:sqref>QC!$AQ$142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QC!$AQ$143:$AQ$152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</c:ext>
        </c:extLst>
      </c:barChart>
      <c:catAx>
        <c:axId val="94924359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</a:p>
        </c:txPr>
        <c:crossAx val="422819262"/>
        <c:crosses val="autoZero"/>
        <c:auto val="1"/>
        <c:lblAlgn val="ctr"/>
        <c:lblOffset val="100"/>
        <c:noMultiLvlLbl val="0"/>
      </c:catAx>
      <c:valAx>
        <c:axId val="42281926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49243597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</a:p>
  </c:txPr>
  <c:externalData r:id="rId1">
    <c:autoUpdate val="1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8888090791553"/>
          <c:y val="0.0504828797190518"/>
          <c:w val="0.669314753627352"/>
          <c:h val="0.527054399148307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MA!$AM$145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MA!$AM$146:$AM$155</c:f>
              <c:numCache>
                <c:formatCode>General</c:formatCode>
                <c:ptCount val="10"/>
                <c:pt idx="1">
                  <c:v>5</c:v>
                </c:pt>
                <c:pt idx="3">
                  <c:v>1</c:v>
                </c:pt>
                <c:pt idx="4">
                  <c:v>4</c:v>
                </c:pt>
                <c:pt idx="5">
                  <c:v>1</c:v>
                </c:pt>
                <c:pt idx="6">
                  <c:v>47</c:v>
                </c:pt>
                <c:pt idx="8">
                  <c:v>12</c:v>
                </c:pt>
                <c:pt idx="9">
                  <c:v>3</c:v>
                </c:pt>
              </c:numCache>
            </c:numRef>
          </c:val>
        </c:ser>
        <c:ser>
          <c:idx val="1"/>
          <c:order val="1"/>
          <c:tx>
            <c:strRef>
              <c:f>MA!$AN$145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MA!$AN$146:$AN$155</c:f>
              <c:numCache>
                <c:formatCode>General</c:formatCode>
                <c:ptCount val="10"/>
                <c:pt idx="2">
                  <c:v>8</c:v>
                </c:pt>
                <c:pt idx="4">
                  <c:v>7</c:v>
                </c:pt>
                <c:pt idx="6">
                  <c:v>58</c:v>
                </c:pt>
                <c:pt idx="8">
                  <c:v>28</c:v>
                </c:pt>
              </c:numCache>
            </c:numRef>
          </c:val>
        </c:ser>
        <c:ser>
          <c:idx val="2"/>
          <c:order val="2"/>
          <c:tx>
            <c:strRef>
              <c:f>MA!$AO$145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MA!$AO$146:$AO$155</c:f>
              <c:numCache>
                <c:formatCode>General</c:formatCode>
                <c:ptCount val="10"/>
                <c:pt idx="0">
                  <c:v>13</c:v>
                </c:pt>
                <c:pt idx="1">
                  <c:v>1</c:v>
                </c:pt>
                <c:pt idx="2">
                  <c:v>4</c:v>
                </c:pt>
                <c:pt idx="4">
                  <c:v>6</c:v>
                </c:pt>
                <c:pt idx="5">
                  <c:v>1</c:v>
                </c:pt>
                <c:pt idx="6">
                  <c:v>40</c:v>
                </c:pt>
                <c:pt idx="8">
                  <c:v>17</c:v>
                </c:pt>
                <c:pt idx="9">
                  <c:v>2</c:v>
                </c:pt>
              </c:numCache>
            </c:numRef>
          </c:val>
        </c:ser>
        <c:ser>
          <c:idx val="3"/>
          <c:order val="3"/>
          <c:tx>
            <c:strRef>
              <c:f>MA!$AP$145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MA!$AP$146:$AP$155</c:f>
              <c:numCache>
                <c:formatCode>General</c:formatCode>
                <c:ptCount val="10"/>
                <c:pt idx="0">
                  <c:v>15</c:v>
                </c:pt>
                <c:pt idx="1">
                  <c:v>2</c:v>
                </c:pt>
                <c:pt idx="2">
                  <c:v>3</c:v>
                </c:pt>
                <c:pt idx="9">
                  <c:v>3</c:v>
                </c:pt>
              </c:numCache>
            </c:numRef>
          </c:val>
        </c:ser>
        <c:ser>
          <c:idx val="4"/>
          <c:order val="4"/>
          <c:tx>
            <c:strRef>
              <c:f>MA!$AQ$145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MA!$AQ$146:$AQ$155</c:f>
              <c:numCache>
                <c:formatCode>General</c:formatCode>
                <c:ptCount val="10"/>
                <c:pt idx="7">
                  <c:v>3</c:v>
                </c:pt>
              </c:numCache>
            </c:numRef>
          </c:val>
        </c:ser>
        <c:ser>
          <c:idx val="5"/>
          <c:order val="5"/>
          <c:tx>
            <c:strRef>
              <c:f>MA!$AR$145</c:f>
              <c:strCache>
                <c:ptCount val="1"/>
                <c:pt idx="0">
                  <c:v>Sole attachment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MA!$AR$146:$AR$155</c:f>
              <c:numCache>
                <c:formatCode>General</c:formatCode>
                <c:ptCount val="10"/>
                <c:pt idx="5">
                  <c:v>2</c:v>
                </c:pt>
              </c:numCache>
            </c:numRef>
          </c:val>
        </c:ser>
        <c:ser>
          <c:idx val="6"/>
          <c:order val="6"/>
          <c:tx>
            <c:strRef>
              <c:f>MA!$AS$145</c:f>
              <c:strCache>
                <c:ptCount val="1"/>
                <c:pt idx="0">
                  <c:v>Heel/Tip height inconsistent</c:v>
                </c:pt>
              </c:strCache>
            </c:strRef>
          </c:tx>
          <c:spPr>
            <a:solidFill>
              <a:srgbClr val="336A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MA!$AS$146:$AS$155</c:f>
              <c:numCache>
                <c:formatCode>General</c:formatCode>
                <c:ptCount val="10"/>
                <c:pt idx="7">
                  <c:v>6</c:v>
                </c:pt>
              </c:numCache>
            </c:numRef>
          </c:val>
        </c:ser>
        <c:ser>
          <c:idx val="7"/>
          <c:order val="7"/>
          <c:tx>
            <c:strRef>
              <c:f>MA!$AT$145</c:f>
              <c:strCache>
                <c:ptCount val="1"/>
                <c:pt idx="0">
                  <c:v>Bond gap at bottom</c:v>
                </c:pt>
              </c:strCache>
            </c:strRef>
          </c:tx>
          <c:spPr>
            <a:solidFill>
              <a:srgbClr val="FB5F63"/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MA!$AT$146:$AT$155</c:f>
              <c:numCache>
                <c:formatCode>General</c:formatCode>
                <c:ptCount val="10"/>
                <c:pt idx="0">
                  <c:v>11</c:v>
                </c:pt>
              </c:numCache>
            </c:numRef>
          </c:val>
        </c:ser>
        <c:ser>
          <c:idx val="8"/>
          <c:order val="8"/>
          <c:tx>
            <c:strRef>
              <c:f>MA!$AU$145</c:f>
              <c:strCache>
                <c:ptCount val="1"/>
                <c:pt idx="0">
                  <c:v>Stitching margin/SPI</c:v>
                </c:pt>
              </c:strCache>
            </c:strRef>
          </c:tx>
          <c:spPr>
            <a:solidFill>
              <a:srgbClr val="C6E0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MA!$AU$146:$AU$155</c:f>
              <c:numCache>
                <c:formatCode>General</c:formatCode>
                <c:ptCount val="10"/>
                <c:pt idx="7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949243597"/>
        <c:axId val="422819262"/>
      </c:barChart>
      <c:catAx>
        <c:axId val="94924359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</a:p>
        </c:txPr>
        <c:crossAx val="422819262"/>
        <c:crosses val="autoZero"/>
        <c:auto val="1"/>
        <c:lblAlgn val="ctr"/>
        <c:lblOffset val="100"/>
        <c:noMultiLvlLbl val="0"/>
      </c:catAx>
      <c:valAx>
        <c:axId val="42281926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94924359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</a:p>
  </c:txPr>
  <c:externalData r:id="rId1">
    <c:autoUpdate val="1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060051853409"/>
          <c:y val="0.0545950864422202"/>
          <c:w val="0.660794618457011"/>
          <c:h val="0.57679708826205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QC!$AF$158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b78a2714-1bfa-4a38-b2e4-8675426fa2e8}" type="VALUE">
                      <a:t>[VALUE]</a:t>
                    </a:fld>
                    <a:endParaRPr lang="en-US" b="0" i="0" u="none" strike="noStrike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00e1e9aa-b5ce-46d4-a364-d19489c946c8}" type="VALUE">
                      <a:t>[VALUE]</a:t>
                    </a:fld>
                    <a:endParaRPr lang="en-US" b="0" i="0" u="none" strike="noStrike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QC!$AF$159:$AF$168</c:f>
              <c:numCache>
                <c:formatCode>General</c:formatCode>
                <c:ptCount val="10"/>
                <c:pt idx="0">
                  <c:v>1497</c:v>
                </c:pt>
                <c:pt idx="1">
                  <c:v>55</c:v>
                </c:pt>
                <c:pt idx="2">
                  <c:v>2414</c:v>
                </c:pt>
                <c:pt idx="3">
                  <c:v>72</c:v>
                </c:pt>
                <c:pt idx="4">
                  <c:v>2809</c:v>
                </c:pt>
                <c:pt idx="5">
                  <c:v>86</c:v>
                </c:pt>
                <c:pt idx="6">
                  <c:v>2349</c:v>
                </c:pt>
                <c:pt idx="7">
                  <c:v>76</c:v>
                </c:pt>
                <c:pt idx="8">
                  <c:v>1540</c:v>
                </c:pt>
                <c:pt idx="9">
                  <c:v>21</c:v>
                </c:pt>
              </c:numCache>
            </c:numRef>
          </c:val>
        </c:ser>
        <c:ser>
          <c:idx val="1"/>
          <c:order val="1"/>
          <c:tx>
            <c:strRef>
              <c:f>QC!$AG$158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QC!$AG$159:$AG$168</c:f>
              <c:numCache>
                <c:formatCode>General</c:formatCode>
                <c:ptCount val="10"/>
                <c:pt idx="0">
                  <c:v>2060</c:v>
                </c:pt>
                <c:pt idx="1">
                  <c:v>104</c:v>
                </c:pt>
                <c:pt idx="2">
                  <c:v>2279</c:v>
                </c:pt>
                <c:pt idx="4">
                  <c:v>2918</c:v>
                </c:pt>
                <c:pt idx="5">
                  <c:v>103</c:v>
                </c:pt>
                <c:pt idx="8">
                  <c:v>1718</c:v>
                </c:pt>
              </c:numCache>
            </c:numRef>
          </c:val>
        </c:ser>
        <c:ser>
          <c:idx val="2"/>
          <c:order val="2"/>
          <c:tx>
            <c:strRef>
              <c:f>QC!$AH$158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QC!$AH$159:$AH$168</c:f>
              <c:numCache>
                <c:formatCode>General</c:formatCode>
                <c:ptCount val="10"/>
                <c:pt idx="0">
                  <c:v>1962</c:v>
                </c:pt>
                <c:pt idx="1">
                  <c:v>115</c:v>
                </c:pt>
                <c:pt idx="2">
                  <c:v>2417</c:v>
                </c:pt>
                <c:pt idx="3">
                  <c:v>38</c:v>
                </c:pt>
                <c:pt idx="4">
                  <c:v>2727</c:v>
                </c:pt>
                <c:pt idx="5">
                  <c:v>103</c:v>
                </c:pt>
                <c:pt idx="6">
                  <c:v>2480</c:v>
                </c:pt>
                <c:pt idx="7">
                  <c:v>61</c:v>
                </c:pt>
                <c:pt idx="8">
                  <c:v>1481</c:v>
                </c:pt>
                <c:pt idx="9">
                  <c:v>27</c:v>
                </c:pt>
              </c:numCache>
            </c:numRef>
          </c:val>
        </c:ser>
        <c:ser>
          <c:idx val="3"/>
          <c:order val="3"/>
          <c:tx>
            <c:strRef>
              <c:f>QC!$AI$158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dLbl>
              <c:idx val="7"/>
              <c:layout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QC!$AI$159:$AI$168</c:f>
              <c:numCache>
                <c:formatCode>General</c:formatCode>
                <c:ptCount val="10"/>
                <c:pt idx="3">
                  <c:v>33</c:v>
                </c:pt>
                <c:pt idx="6">
                  <c:v>2040</c:v>
                </c:pt>
              </c:numCache>
            </c:numRef>
          </c:val>
        </c:ser>
        <c:ser>
          <c:idx val="4"/>
          <c:order val="4"/>
          <c:tx>
            <c:strRef>
              <c:f>QC!$AJ$158</c:f>
              <c:strCache>
                <c:ptCount val="1"/>
                <c:pt idx="0">
                  <c:v>Outsole thread stitching</c:v>
                </c:pt>
              </c:strCache>
            </c:strRef>
          </c:tx>
          <c:spPr>
            <a:solidFill>
              <a:srgbClr val="BFFF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QC!$AJ$159:$AJ$168</c:f>
              <c:numCache>
                <c:formatCode>General</c:formatCode>
                <c:ptCount val="10"/>
                <c:pt idx="7">
                  <c:v>22</c:v>
                </c:pt>
              </c:numCache>
            </c:numRef>
          </c:val>
        </c:ser>
        <c:ser>
          <c:idx val="5"/>
          <c:order val="5"/>
          <c:tx>
            <c:strRef>
              <c:f>QC!$AK$158</c:f>
              <c:strCache>
                <c:ptCount val="1"/>
                <c:pt idx="0">
                  <c:v>Stitching margin/SPI</c:v>
                </c:pt>
              </c:strCache>
            </c:strRef>
          </c:tx>
          <c:spPr>
            <a:solidFill>
              <a:srgbClr val="C6E0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QC!$AK$159:$AK$168</c:f>
              <c:numCache>
                <c:formatCode>General</c:formatCode>
                <c:ptCount val="10"/>
                <c:pt idx="9">
                  <c:v>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12262404"/>
        <c:axId val="232326616"/>
        <c:extLst>
          <c:ext xmlns:c15="http://schemas.microsoft.com/office/drawing/2012/chart" uri="{02D57815-91ED-43cb-92C2-25804820EDAC}">
            <c15:filteredBarSeries>
              <c15:ser>
                <c:idx val="6"/>
                <c:order val="6"/>
                <c:tx>
                  <c:strRef>
                    <c:extLst>
                      <c:ext uri="{02D57815-91ED-43cb-92C2-25804820EDAC}">
                        <c15:formulaRef>
                          <c15:sqref>QC!$AL$158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QC!$AL$159:$AL$168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7"/>
                <c:order val="7"/>
                <c:tx>
                  <c:strRef>
                    <c:extLst>
                      <c:ext uri="{02D57815-91ED-43cb-92C2-25804820EDAC}">
                        <c15:formulaRef>
                          <c15:sqref>QC!$AM$158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3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QC!$AM$159:$AM$168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8"/>
                <c:order val="8"/>
                <c:tx>
                  <c:strRef>
                    <c:extLst>
                      <c:ext uri="{02D57815-91ED-43cb-92C2-25804820EDAC}">
                        <c15:formulaRef>
                          <c15:sqref>QC!$AN$158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QC!$AN$159:$AN$168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9"/>
                <c:order val="9"/>
                <c:tx>
                  <c:strRef>
                    <c:extLst>
                      <c:ext uri="{02D57815-91ED-43cb-92C2-25804820EDAC}">
                        <c15:formulaRef>
                          <c15:sqref>QC!$AO$158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QC!$AO$159:$AO$168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10"/>
                <c:order val="10"/>
                <c:tx>
                  <c:strRef>
                    <c:extLst>
                      <c:ext uri="{02D57815-91ED-43cb-92C2-25804820EDAC}">
                        <c15:formulaRef>
                          <c15:sqref>QC!$AP$158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4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QC!$AP$159:$AP$168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  <c15:filteredBarSeries>
              <c15:ser>
                <c:idx val="11"/>
                <c:order val="11"/>
                <c:tx>
                  <c:strRef>
                    <c:extLst>
                      <c:ext uri="{02D57815-91ED-43cb-92C2-25804820EDAC}">
                        <c15:formulaRef>
                          <c15:sqref>QC!$AQ$158</c15:sqref>
                        </c15:formulaRef>
                      </c:ext>
                    </c:extLst>
                    <c:strCache>
                      <c:ptCount val="1"/>
                      <c:pt idx="0">
                        <c:v/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0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QC!$AQ$159:$AQ$168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</c15:ser>
            </c15:filteredBarSeries>
          </c:ext>
        </c:extLst>
      </c:barChart>
      <c:catAx>
        <c:axId val="4122624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</a:p>
        </c:txPr>
        <c:crossAx val="232326616"/>
        <c:crosses val="autoZero"/>
        <c:auto val="1"/>
        <c:lblAlgn val="ctr"/>
        <c:lblOffset val="100"/>
        <c:noMultiLvlLbl val="0"/>
      </c:catAx>
      <c:valAx>
        <c:axId val="23232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122624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</a:p>
  </c:txPr>
  <c:externalData r:id="rId1">
    <c:autoUpdate val="1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9180445722502"/>
          <c:y val="0.0529222273354809"/>
          <c:w val="0.677943925233645"/>
          <c:h val="0.59071786528294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MA!$AM$161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89a60c2e-6d28-45c7-9265-ff9e459fafa2}" type="VALUE">
                      <a:t>[VALUE]</a:t>
                    </a:fld>
                    <a:endParaRPr lang="en-US" b="0" i="0" u="none" strike="noStrike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444eefd7-4773-48cc-9c5e-bf818a21df0d}" type="VALUE">
                      <a:t>[VALUE]</a:t>
                    </a:fld>
                    <a:endParaRPr lang="en-US" b="0" i="0" u="none" strike="noStrike" baseline="0">
                      <a:solidFill>
                        <a:srgbClr val="FF0000"/>
                      </a:solidFill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MA!$AM$162:$AM$171</c:f>
              <c:numCache>
                <c:formatCode>General</c:formatCode>
                <c:ptCount val="10"/>
                <c:pt idx="1">
                  <c:v>26</c:v>
                </c:pt>
                <c:pt idx="3">
                  <c:v>9</c:v>
                </c:pt>
                <c:pt idx="4">
                  <c:v>35</c:v>
                </c:pt>
                <c:pt idx="5">
                  <c:v>24</c:v>
                </c:pt>
                <c:pt idx="7">
                  <c:v>12</c:v>
                </c:pt>
                <c:pt idx="9">
                  <c:v>9</c:v>
                </c:pt>
              </c:numCache>
            </c:numRef>
          </c:val>
        </c:ser>
        <c:ser>
          <c:idx val="1"/>
          <c:order val="1"/>
          <c:tx>
            <c:strRef>
              <c:f>MA!$AN$161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MA!$AN$162:$AN$171</c:f>
              <c:numCache>
                <c:formatCode>General</c:formatCode>
                <c:ptCount val="10"/>
                <c:pt idx="0">
                  <c:v>53</c:v>
                </c:pt>
                <c:pt idx="2">
                  <c:v>65</c:v>
                </c:pt>
                <c:pt idx="4">
                  <c:v>92</c:v>
                </c:pt>
                <c:pt idx="6">
                  <c:v>43</c:v>
                </c:pt>
                <c:pt idx="8">
                  <c:v>22</c:v>
                </c:pt>
              </c:numCache>
            </c:numRef>
          </c:val>
        </c:ser>
        <c:ser>
          <c:idx val="2"/>
          <c:order val="2"/>
          <c:tx>
            <c:strRef>
              <c:f>MA!$AO$161</c:f>
              <c:strCache>
                <c:ptCount val="1"/>
                <c:pt idx="0">
                  <c:v>Over buffing</c:v>
                </c:pt>
              </c:strCache>
            </c:strRef>
          </c:tx>
          <c:spPr>
            <a:solidFill>
              <a:srgbClr val="95373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MA!$AO$162:$AO$171</c:f>
              <c:numCache>
                <c:formatCode>General</c:formatCode>
                <c:ptCount val="10"/>
                <c:pt idx="8">
                  <c:v>11</c:v>
                </c:pt>
              </c:numCache>
            </c:numRef>
          </c:val>
        </c:ser>
        <c:ser>
          <c:idx val="3"/>
          <c:order val="3"/>
          <c:tx>
            <c:strRef>
              <c:f>MA!$AP$161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MA!$AP$162:$AP$171</c:f>
              <c:numCache>
                <c:formatCode>General</c:formatCode>
                <c:ptCount val="10"/>
                <c:pt idx="0">
                  <c:v>46</c:v>
                </c:pt>
                <c:pt idx="1">
                  <c:v>21</c:v>
                </c:pt>
                <c:pt idx="2">
                  <c:v>58</c:v>
                </c:pt>
                <c:pt idx="4">
                  <c:v>54</c:v>
                </c:pt>
                <c:pt idx="5">
                  <c:v>13</c:v>
                </c:pt>
                <c:pt idx="6">
                  <c:v>29</c:v>
                </c:pt>
                <c:pt idx="8">
                  <c:v>13</c:v>
                </c:pt>
              </c:numCache>
            </c:numRef>
          </c:val>
        </c:ser>
        <c:ser>
          <c:idx val="4"/>
          <c:order val="4"/>
          <c:tx>
            <c:strRef>
              <c:f>MA!$AQ$161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MA!$AQ$162:$AQ$171</c:f>
              <c:numCache>
                <c:formatCode>General</c:formatCode>
                <c:ptCount val="10"/>
                <c:pt idx="1">
                  <c:v>13</c:v>
                </c:pt>
                <c:pt idx="3">
                  <c:v>10</c:v>
                </c:pt>
                <c:pt idx="5">
                  <c:v>14</c:v>
                </c:pt>
                <c:pt idx="6">
                  <c:v>17</c:v>
                </c:pt>
                <c:pt idx="9">
                  <c:v>12</c:v>
                </c:pt>
              </c:numCache>
            </c:numRef>
          </c:val>
        </c:ser>
        <c:ser>
          <c:idx val="5"/>
          <c:order val="5"/>
          <c:tx>
            <c:strRef>
              <c:f>MA!$AR$161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MA!$AR$162:$AR$171</c:f>
              <c:numCache>
                <c:formatCode>General</c:formatCode>
                <c:ptCount val="10"/>
                <c:pt idx="0">
                  <c:v>24</c:v>
                </c:pt>
              </c:numCache>
            </c:numRef>
          </c:val>
        </c:ser>
        <c:ser>
          <c:idx val="6"/>
          <c:order val="6"/>
          <c:tx>
            <c:strRef>
              <c:f>MA!$AS$161</c:f>
              <c:strCache>
                <c:ptCount val="1"/>
                <c:pt idx="0">
                  <c:v>Stitching margin/SPI</c:v>
                </c:pt>
              </c:strCache>
            </c:strRef>
          </c:tx>
          <c:spPr>
            <a:solidFill>
              <a:srgbClr val="C6E0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MA!$AS$162:$AS$171</c:f>
              <c:numCache>
                <c:formatCode>General</c:formatCode>
                <c:ptCount val="10"/>
                <c:pt idx="7">
                  <c:v>7</c:v>
                </c:pt>
              </c:numCache>
            </c:numRef>
          </c:val>
        </c:ser>
        <c:ser>
          <c:idx val="7"/>
          <c:order val="7"/>
          <c:tx>
            <c:strRef>
              <c:f>MA!$AT$161</c:f>
              <c:strCache>
                <c:ptCount val="1"/>
                <c:pt idx="0">
                  <c:v>Toe off center</c:v>
                </c:pt>
              </c:strCache>
            </c:strRef>
          </c:tx>
          <c:spPr>
            <a:solidFill>
              <a:srgbClr val="40315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MA!$AT$162:$AT$171</c:f>
              <c:numCache>
                <c:formatCode>General</c:formatCode>
                <c:ptCount val="10"/>
                <c:pt idx="2">
                  <c:v>30</c:v>
                </c:pt>
                <c:pt idx="3">
                  <c:v>11</c:v>
                </c:pt>
                <c:pt idx="7">
                  <c:v>5</c:v>
                </c:pt>
              </c:numCache>
            </c:numRef>
          </c:val>
        </c:ser>
        <c:ser>
          <c:idx val="8"/>
          <c:order val="8"/>
          <c:tx>
            <c:strRef>
              <c:f>MA!$AU$161</c:f>
              <c:strCache>
                <c:ptCount val="1"/>
                <c:pt idx="0">
                  <c:v>Hairy edge</c:v>
                </c:pt>
              </c:strCache>
            </c:strRef>
          </c:tx>
          <c:spPr>
            <a:solidFill>
              <a:srgbClr val="C4BD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MA!$AU$162:$AU$171</c:f>
              <c:numCache>
                <c:formatCode>General</c:formatCode>
                <c:ptCount val="10"/>
                <c:pt idx="9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12262404"/>
        <c:axId val="232326616"/>
      </c:barChart>
      <c:catAx>
        <c:axId val="4122624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</a:p>
        </c:txPr>
        <c:crossAx val="232326616"/>
        <c:crosses val="autoZero"/>
        <c:auto val="1"/>
        <c:lblAlgn val="ctr"/>
        <c:lblOffset val="100"/>
        <c:noMultiLvlLbl val="0"/>
      </c:catAx>
      <c:valAx>
        <c:axId val="23232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122624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3"/>
            <a:ext cx="5181600" cy="908050"/>
          </a:xfrm>
        </p:spPr>
        <p:txBody>
          <a:bodyPr anchor="t"/>
          <a:lstStyle>
            <a:lvl1pPr algn="l">
              <a:defRPr sz="2665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1pPr>
            <a:lvl2pPr marL="304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0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3pPr>
            <a:lvl4pPr marL="914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4pPr>
            <a:lvl5pPr marL="12192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5pPr>
            <a:lvl6pPr marL="15240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6pPr>
            <a:lvl7pPr marL="18288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7pPr>
            <a:lvl8pPr marL="21336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8pPr>
            <a:lvl9pPr marL="2438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3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3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3"/>
            <a:ext cx="3407833" cy="3902075"/>
          </a:xfrm>
        </p:spPr>
        <p:txBody>
          <a:bodyPr/>
          <a:lstStyle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3"/>
            <a:ext cx="2005542" cy="31273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09600" rtl="0" eaLnBrk="1" latinLnBrk="0" hangingPunct="1">
        <a:spcBef>
          <a:spcPct val="0"/>
        </a:spcBef>
        <a:buNone/>
        <a:defRPr sz="2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indent="-1905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33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»"/>
        <a:defRPr sz="1335" kern="1200">
          <a:solidFill>
            <a:schemeClr val="tx1"/>
          </a:solidFill>
          <a:latin typeface="+mn-lt"/>
          <a:ea typeface="+mn-ea"/>
          <a:cs typeface="+mn-cs"/>
        </a:defRPr>
      </a:lvl5pPr>
      <a:lvl6pPr marL="16764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6pPr>
      <a:lvl7pPr marL="19812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8pPr>
      <a:lvl9pPr marL="2590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hart" Target="../charts/chart9.xml"/><Relationship Id="rId8" Type="http://schemas.openxmlformats.org/officeDocument/2006/relationships/chart" Target="../charts/chart8.xml"/><Relationship Id="rId7" Type="http://schemas.openxmlformats.org/officeDocument/2006/relationships/chart" Target="../charts/char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4.xml"/><Relationship Id="rId15" Type="http://schemas.openxmlformats.org/officeDocument/2006/relationships/tags" Target="../tags/tag3.xml"/><Relationship Id="rId14" Type="http://schemas.openxmlformats.org/officeDocument/2006/relationships/tags" Target="../tags/tag2.xml"/><Relationship Id="rId13" Type="http://schemas.openxmlformats.org/officeDocument/2006/relationships/tags" Target="../tags/tag1.xml"/><Relationship Id="rId12" Type="http://schemas.openxmlformats.org/officeDocument/2006/relationships/image" Target="../media/image4.jpeg"/><Relationship Id="rId11" Type="http://schemas.openxmlformats.org/officeDocument/2006/relationships/chart" Target="../charts/chart11.xml"/><Relationship Id="rId10" Type="http://schemas.openxmlformats.org/officeDocument/2006/relationships/chart" Target="../charts/chart10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chart" Target="../charts/chart15.xml"/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chart" Target="../charts/chart1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chart" Target="../charts/chart19.xml"/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chart" Target="../charts/chart1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" y="2416689"/>
            <a:ext cx="1489037" cy="397366"/>
            <a:chOff x="0" y="0"/>
            <a:chExt cx="1536012" cy="156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6012" cy="156984"/>
            </a:xfrm>
            <a:custGeom>
              <a:avLst/>
              <a:gdLst/>
              <a:ahLst/>
              <a:cxnLst/>
              <a:rect l="l" t="t" r="r" b="b"/>
              <a:pathLst>
                <a:path w="1536012" h="156984">
                  <a:moveTo>
                    <a:pt x="0" y="0"/>
                  </a:moveTo>
                  <a:lnTo>
                    <a:pt x="1536012" y="0"/>
                  </a:lnTo>
                  <a:lnTo>
                    <a:pt x="1536012" y="156984"/>
                  </a:lnTo>
                  <a:lnTo>
                    <a:pt x="0" y="156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4" tIns="33864" rIns="33864" bIns="33864" rtlCol="0" anchor="ctr"/>
            <a:lstStyle/>
            <a:p>
              <a:pPr>
                <a:lnSpc>
                  <a:spcPts val="2940"/>
                </a:lnSpc>
              </a:pPr>
              <a:endParaRPr sz="12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061200" y="4089400"/>
            <a:ext cx="5126990" cy="384810"/>
          </a:xfrm>
          <a:custGeom>
            <a:avLst/>
            <a:gdLst/>
            <a:ahLst/>
            <a:cxnLst/>
            <a:rect l="l" t="t" r="r" b="b"/>
            <a:pathLst>
              <a:path w="2135072" h="135474">
                <a:moveTo>
                  <a:pt x="0" y="0"/>
                </a:moveTo>
                <a:lnTo>
                  <a:pt x="2135072" y="0"/>
                </a:lnTo>
                <a:lnTo>
                  <a:pt x="2135072" y="135474"/>
                </a:lnTo>
                <a:lnTo>
                  <a:pt x="0" y="1354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endParaRPr lang="vi-VN"/>
          </a:p>
        </p:txBody>
      </p:sp>
      <p:sp>
        <p:nvSpPr>
          <p:cNvPr id="15" name="TextBox 15"/>
          <p:cNvSpPr txBox="1"/>
          <p:nvPr/>
        </p:nvSpPr>
        <p:spPr>
          <a:xfrm>
            <a:off x="7425266" y="2752785"/>
            <a:ext cx="4398857" cy="1477328"/>
          </a:xfrm>
          <a:prstGeom prst="rect">
            <a:avLst/>
          </a:prstGeom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ct val="100000"/>
              </a:lnSpc>
              <a:spcBef>
                <a:spcPct val="0"/>
              </a:spcBef>
            </a:pPr>
            <a:r>
              <a:rPr lang="en-US" sz="4800" u="none" dirty="0">
                <a:solidFill>
                  <a:srgbClr val="12222B"/>
                </a:solidFill>
                <a:latin typeface="Open Sans Bold" panose="020B0806030504020204"/>
              </a:rPr>
              <a:t>Re-Inspection </a:t>
            </a:r>
            <a:br>
              <a:rPr lang="en-US" sz="4800" u="none" dirty="0">
                <a:solidFill>
                  <a:srgbClr val="12222B"/>
                </a:solidFill>
                <a:latin typeface="Open Sans Bold" panose="020B0806030504020204"/>
              </a:rPr>
            </a:br>
            <a:r>
              <a:rPr lang="en-US" sz="4800" u="none" dirty="0">
                <a:solidFill>
                  <a:srgbClr val="12222B"/>
                </a:solidFill>
                <a:latin typeface="Open Sans Bold" panose="020B0806030504020204"/>
              </a:rPr>
              <a:t>Report</a:t>
            </a:r>
            <a:endParaRPr lang="en-US" sz="4800" u="none" dirty="0">
              <a:solidFill>
                <a:srgbClr val="12222B"/>
              </a:solidFill>
              <a:latin typeface="Open Sans Bold" panose="020B0806030504020204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1"/>
          <a:stretch>
            <a:fillRect/>
          </a:stretch>
        </p:blipFill>
        <p:spPr>
          <a:xfrm>
            <a:off x="10414000" y="533400"/>
            <a:ext cx="1488440" cy="67267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7192857" y="2514600"/>
            <a:ext cx="2224617" cy="268817"/>
            <a:chOff x="0" y="0"/>
            <a:chExt cx="2058649" cy="162211"/>
          </a:xfrm>
          <a:solidFill>
            <a:schemeClr val="accent5">
              <a:lumMod val="5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58649" cy="162211"/>
            </a:xfrm>
            <a:custGeom>
              <a:avLst/>
              <a:gdLst/>
              <a:ahLst/>
              <a:cxnLst/>
              <a:rect l="l" t="t" r="r" b="b"/>
              <a:pathLst>
                <a:path w="2058649" h="162211">
                  <a:moveTo>
                    <a:pt x="0" y="0"/>
                  </a:moveTo>
                  <a:lnTo>
                    <a:pt x="2058649" y="0"/>
                  </a:lnTo>
                  <a:lnTo>
                    <a:pt x="2058649" y="162211"/>
                  </a:lnTo>
                  <a:lnTo>
                    <a:pt x="0" y="1622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035" y="0"/>
              <a:ext cx="1865439" cy="162211"/>
            </a:xfrm>
            <a:prstGeom prst="rect">
              <a:avLst/>
            </a:prstGeom>
            <a:grpFill/>
            <a:ln>
              <a:noFill/>
            </a:ln>
          </p:spPr>
          <p:txBody>
            <a:bodyPr lIns="33864" tIns="33864" rIns="33864" bIns="33864" rtlCol="0" anchor="ctr"/>
            <a:lstStyle/>
            <a:p>
              <a:pPr algn="ctr">
                <a:lnSpc>
                  <a:spcPts val="2940"/>
                </a:lnSpc>
              </a:pPr>
              <a:endParaRPr lang="en-US" sz="1400" u="none" dirty="0">
                <a:solidFill>
                  <a:schemeClr val="bg1"/>
                </a:solidFill>
                <a:latin typeface="Noto Sans Bold" panose="020B0802040504020204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-468630" y="2487930"/>
            <a:ext cx="6653530" cy="4143163"/>
            <a:chOff x="-1947" y="6237"/>
            <a:chExt cx="15717" cy="9787"/>
          </a:xfrm>
          <a:blipFill rotWithShape="1">
            <a:blip r:embed="rId2"/>
            <a:stretch>
              <a:fillRect/>
            </a:stretch>
          </a:blipFill>
        </p:grpSpPr>
        <p:sp>
          <p:nvSpPr>
            <p:cNvPr id="20" name="Rounded Rectangle 19"/>
            <p:cNvSpPr/>
            <p:nvPr/>
          </p:nvSpPr>
          <p:spPr>
            <a:xfrm rot="2820000">
              <a:off x="2285" y="2637"/>
              <a:ext cx="1800" cy="9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 rot="2820000">
              <a:off x="3767" y="2058"/>
              <a:ext cx="1800" cy="12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 rot="2820000">
              <a:off x="6904" y="5386"/>
              <a:ext cx="1800" cy="1064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 rot="2820000">
              <a:off x="7822" y="3328"/>
              <a:ext cx="1800" cy="773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 rot="2820000">
              <a:off x="1706" y="8391"/>
              <a:ext cx="1800" cy="910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 rot="2820000">
              <a:off x="6935" y="7471"/>
              <a:ext cx="1800" cy="118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n>
                  <a:noFill/>
                </a:ln>
                <a:noFill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2239" y="14100"/>
              <a:ext cx="1841" cy="19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</p:grpSp>
      <p:sp>
        <p:nvSpPr>
          <p:cNvPr id="33" name="Freeform 17"/>
          <p:cNvSpPr/>
          <p:nvPr/>
        </p:nvSpPr>
        <p:spPr>
          <a:xfrm>
            <a:off x="812800" y="480060"/>
            <a:ext cx="2681393" cy="492337"/>
          </a:xfrm>
          <a:custGeom>
            <a:avLst/>
            <a:gdLst/>
            <a:ahLst/>
            <a:cxnLst/>
            <a:rect l="l" t="t" r="r" b="b"/>
            <a:pathLst>
              <a:path w="4260505" h="784830">
                <a:moveTo>
                  <a:pt x="0" y="0"/>
                </a:moveTo>
                <a:lnTo>
                  <a:pt x="4260505" y="0"/>
                </a:lnTo>
                <a:lnTo>
                  <a:pt x="4260505" y="784830"/>
                </a:lnTo>
                <a:lnTo>
                  <a:pt x="0" y="784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/>
        </p:spPr>
        <p:txBody>
          <a:bodyPr/>
          <a:lstStyle/>
          <a:p>
            <a:endParaRPr lang="en-US" sz="1200" b="1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111999" y="4648200"/>
            <a:ext cx="1655105" cy="290195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50000"/>
                  </a:schemeClr>
                </a:solidFill>
              </a:rPr>
              <a:t>Date: July 2026</a:t>
            </a:r>
            <a:endParaRPr 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-508000" y="618278"/>
            <a:ext cx="13411200" cy="1146387"/>
            <a:chOff x="-1313" y="230"/>
            <a:chExt cx="31680" cy="2708"/>
          </a:xfrm>
        </p:grpSpPr>
        <p:sp>
          <p:nvSpPr>
            <p:cNvPr id="22" name="Freeform 21"/>
            <p:cNvSpPr/>
            <p:nvPr/>
          </p:nvSpPr>
          <p:spPr>
            <a:xfrm>
              <a:off x="14527" y="230"/>
              <a:ext cx="15840" cy="27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07" h="2103">
                  <a:moveTo>
                    <a:pt x="0" y="0"/>
                  </a:moveTo>
                  <a:lnTo>
                    <a:pt x="14107" y="0"/>
                  </a:lnTo>
                  <a:lnTo>
                    <a:pt x="14107" y="2103"/>
                  </a:lnTo>
                  <a:lnTo>
                    <a:pt x="4" y="2103"/>
                  </a:lnTo>
                  <a:lnTo>
                    <a:pt x="25" y="2098"/>
                  </a:lnTo>
                  <a:cubicBezTo>
                    <a:pt x="490" y="1978"/>
                    <a:pt x="835" y="1555"/>
                    <a:pt x="835" y="1052"/>
                  </a:cubicBezTo>
                  <a:cubicBezTo>
                    <a:pt x="835" y="549"/>
                    <a:pt x="490" y="126"/>
                    <a:pt x="25" y="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lumMod val="75000"/>
                  </a:schemeClr>
                </a:gs>
                <a:gs pos="95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US" altLang="en-US" sz="1335" dirty="0"/>
            </a:p>
          </p:txBody>
        </p:sp>
        <p:sp>
          <p:nvSpPr>
            <p:cNvPr id="13" name="Freeform 12"/>
            <p:cNvSpPr/>
            <p:nvPr/>
          </p:nvSpPr>
          <p:spPr>
            <a:xfrm rot="10800000">
              <a:off x="-1313" y="231"/>
              <a:ext cx="15840" cy="27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07" h="2103">
                  <a:moveTo>
                    <a:pt x="0" y="0"/>
                  </a:moveTo>
                  <a:lnTo>
                    <a:pt x="14107" y="0"/>
                  </a:lnTo>
                  <a:lnTo>
                    <a:pt x="14107" y="2103"/>
                  </a:lnTo>
                  <a:lnTo>
                    <a:pt x="4" y="2103"/>
                  </a:lnTo>
                  <a:lnTo>
                    <a:pt x="25" y="2098"/>
                  </a:lnTo>
                  <a:cubicBezTo>
                    <a:pt x="490" y="1978"/>
                    <a:pt x="835" y="1555"/>
                    <a:pt x="835" y="1052"/>
                  </a:cubicBezTo>
                  <a:cubicBezTo>
                    <a:pt x="835" y="549"/>
                    <a:pt x="490" y="126"/>
                    <a:pt x="25" y="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tx2">
                    <a:lumMod val="75000"/>
                  </a:schemeClr>
                </a:gs>
                <a:gs pos="95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US" altLang="en-US" sz="1335"/>
            </a:p>
          </p:txBody>
        </p:sp>
      </p:grpSp>
      <p:graphicFrame>
        <p:nvGraphicFramePr>
          <p:cNvPr id="24" name="Chart 5"/>
          <p:cNvGraphicFramePr/>
          <p:nvPr/>
        </p:nvGraphicFramePr>
        <p:xfrm>
          <a:off x="7315200" y="551180"/>
          <a:ext cx="3138170" cy="1277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1" name="Chart 5"/>
          <p:cNvGraphicFramePr/>
          <p:nvPr/>
        </p:nvGraphicFramePr>
        <p:xfrm>
          <a:off x="1371600" y="551180"/>
          <a:ext cx="3138170" cy="1277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5"/>
          <p:cNvGraphicFramePr>
            <a:graphicFrameLocks noGrp="1"/>
          </p:cNvGraphicFramePr>
          <p:nvPr>
            <p:ph sz="half" idx="2"/>
          </p:nvPr>
        </p:nvGraphicFramePr>
        <p:xfrm>
          <a:off x="4917440" y="551180"/>
          <a:ext cx="2134235" cy="1277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3"/>
          <p:cNvGraphicFramePr/>
          <p:nvPr/>
        </p:nvGraphicFramePr>
        <p:xfrm>
          <a:off x="7778749" y="2159748"/>
          <a:ext cx="4260849" cy="1116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7764145" y="3333113"/>
          <a:ext cx="4275454" cy="1086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-50589" y="4419600"/>
            <a:ext cx="12293177" cy="0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5807075" y="1075690"/>
            <a:ext cx="74803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 975</a:t>
            </a:r>
            <a:endParaRPr lang="en-US" sz="935" b="1" dirty="0"/>
          </a:p>
        </p:txBody>
      </p:sp>
      <p:sp>
        <p:nvSpPr>
          <p:cNvPr id="64" name="Text Box 63"/>
          <p:cNvSpPr txBox="1"/>
          <p:nvPr/>
        </p:nvSpPr>
        <p:spPr>
          <a:xfrm>
            <a:off x="2846705" y="1080770"/>
            <a:ext cx="725170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</a:t>
            </a:r>
            <a:r>
              <a:rPr lang="en-US" sz="935" b="1" dirty="0"/>
              <a:t> 305</a:t>
            </a:r>
            <a:endParaRPr lang="en-US" sz="935" b="1" dirty="0"/>
          </a:p>
        </p:txBody>
      </p:sp>
      <p:sp>
        <p:nvSpPr>
          <p:cNvPr id="78" name="Text Box 77"/>
          <p:cNvSpPr txBox="1"/>
          <p:nvPr/>
        </p:nvSpPr>
        <p:spPr>
          <a:xfrm>
            <a:off x="440690" y="2117090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panose="00000800000000000000" charset="0"/>
                <a:cs typeface="Montserrat Bold" panose="00000800000000000000" charset="0"/>
              </a:rPr>
              <a:t>VH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panose="00000800000000000000" charset="0"/>
              <a:cs typeface="Montserrat Bold" panose="00000800000000000000" charset="0"/>
            </a:endParaRPr>
          </a:p>
        </p:txBody>
      </p:sp>
      <p:sp>
        <p:nvSpPr>
          <p:cNvPr id="79" name="Text Box 78"/>
          <p:cNvSpPr txBox="1"/>
          <p:nvPr/>
        </p:nvSpPr>
        <p:spPr>
          <a:xfrm>
            <a:off x="440690" y="3276600"/>
            <a:ext cx="1119479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panose="00000800000000000000" charset="0"/>
                <a:cs typeface="Montserrat Bold" panose="00000800000000000000" charset="0"/>
              </a:rPr>
              <a:t>VH2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panose="00000800000000000000" charset="0"/>
              <a:cs typeface="Montserrat Bold" panose="00000800000000000000" charset="0"/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445135" y="4699000"/>
            <a:ext cx="607483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Montserrat Bold" panose="00000800000000000000" charset="0"/>
                <a:cs typeface="Montserrat Bold" panose="00000800000000000000" charset="0"/>
              </a:rPr>
              <a:t>JV</a:t>
            </a:r>
            <a:endParaRPr lang="en-US" sz="2665" b="1">
              <a:solidFill>
                <a:schemeClr val="accent6">
                  <a:lumMod val="75000"/>
                </a:schemeClr>
              </a:solidFill>
              <a:latin typeface="Montserrat Bold" panose="00000800000000000000" charset="0"/>
              <a:cs typeface="Montserrat Bold" panose="00000800000000000000" charset="0"/>
            </a:endParaRPr>
          </a:p>
        </p:txBody>
      </p:sp>
      <p:sp>
        <p:nvSpPr>
          <p:cNvPr id="81" name="Text Box 80"/>
          <p:cNvSpPr txBox="1"/>
          <p:nvPr/>
        </p:nvSpPr>
        <p:spPr>
          <a:xfrm>
            <a:off x="445135" y="5963073"/>
            <a:ext cx="859968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panose="00000800000000000000" charset="0"/>
                <a:cs typeface="Montserrat Bold" panose="00000800000000000000" charset="0"/>
              </a:rPr>
              <a:t>JV2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panose="00000800000000000000" charset="0"/>
              <a:cs typeface="Montserrat Bold" panose="00000800000000000000" charset="0"/>
            </a:endParaRPr>
          </a:p>
        </p:txBody>
      </p:sp>
      <p:sp>
        <p:nvSpPr>
          <p:cNvPr id="106" name="Pentagon 105"/>
          <p:cNvSpPr/>
          <p:nvPr/>
        </p:nvSpPr>
        <p:spPr>
          <a:xfrm>
            <a:off x="1655473" y="1877055"/>
            <a:ext cx="2009140" cy="186066"/>
          </a:xfrm>
          <a:prstGeom prst="homePlate">
            <a:avLst/>
          </a:prstGeom>
          <a:solidFill>
            <a:srgbClr val="3D5234"/>
          </a:solidFill>
          <a:ln>
            <a:noFill/>
          </a:ln>
          <a:effectLst>
            <a:outerShdw blurRad="50800" dist="38100" algn="l" rotWithShape="0">
              <a:schemeClr val="tx2">
                <a:lumMod val="50000"/>
                <a:alpha val="76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COUNTRY AUDIT</a:t>
            </a:r>
            <a:endParaRPr lang="en-US" sz="1400" b="1" dirty="0"/>
          </a:p>
        </p:txBody>
      </p:sp>
      <p:sp>
        <p:nvSpPr>
          <p:cNvPr id="107" name="Pentagon 106"/>
          <p:cNvSpPr/>
          <p:nvPr/>
        </p:nvSpPr>
        <p:spPr>
          <a:xfrm>
            <a:off x="4391053" y="1897375"/>
            <a:ext cx="1920240" cy="186066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0800" dist="38100" algn="l" rotWithShape="0">
              <a:schemeClr val="tx2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MODEL AUDIT</a:t>
            </a:r>
            <a:endParaRPr lang="en-US" sz="1400" b="1" dirty="0"/>
          </a:p>
        </p:txBody>
      </p:sp>
      <p:sp>
        <p:nvSpPr>
          <p:cNvPr id="108" name="Pentagon 107"/>
          <p:cNvSpPr/>
          <p:nvPr/>
        </p:nvSpPr>
        <p:spPr>
          <a:xfrm>
            <a:off x="7870853" y="1897375"/>
            <a:ext cx="1539240" cy="187114"/>
          </a:xfrm>
          <a:prstGeom prst="homePlate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schemeClr val="accent3">
                <a:lumMod val="50000"/>
                <a:alpha val="76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DEFECT</a:t>
            </a:r>
            <a:endParaRPr lang="en-US" sz="1400" b="1" dirty="0"/>
          </a:p>
        </p:txBody>
      </p:sp>
      <p:grpSp>
        <p:nvGrpSpPr>
          <p:cNvPr id="175" name="Group 174"/>
          <p:cNvGrpSpPr/>
          <p:nvPr/>
        </p:nvGrpSpPr>
        <p:grpSpPr>
          <a:xfrm>
            <a:off x="6946900" y="2548997"/>
            <a:ext cx="365760" cy="183287"/>
            <a:chOff x="14812" y="4564"/>
            <a:chExt cx="1049" cy="528"/>
          </a:xfrm>
        </p:grpSpPr>
        <p:sp>
          <p:nvSpPr>
            <p:cNvPr id="167" name="Chevron 166"/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73" name="Chevron 172"/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74" name="Chevron 173"/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aphicFrame>
        <p:nvGraphicFramePr>
          <p:cNvPr id="8" name="Chart 7"/>
          <p:cNvGraphicFramePr/>
          <p:nvPr/>
        </p:nvGraphicFramePr>
        <p:xfrm>
          <a:off x="7714614" y="4542367"/>
          <a:ext cx="4324985" cy="1096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10"/>
          <p:cNvGraphicFramePr/>
          <p:nvPr/>
        </p:nvGraphicFramePr>
        <p:xfrm>
          <a:off x="7714614" y="5727564"/>
          <a:ext cx="4324984" cy="1096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386080" y="6263005"/>
            <a:ext cx="98552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571</a:t>
            </a:r>
            <a:endParaRPr lang="en-US" sz="800" b="1" i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81000" y="5035762"/>
            <a:ext cx="9448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99</a:t>
            </a:r>
            <a:endParaRPr lang="en-US" sz="800" b="1" i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763000" y="1080770"/>
            <a:ext cx="74803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 670</a:t>
            </a:r>
            <a:endParaRPr lang="en-US" sz="935" b="1" dirty="0"/>
          </a:p>
        </p:txBody>
      </p:sp>
      <p:sp>
        <p:nvSpPr>
          <p:cNvPr id="7" name="Text Box 6"/>
          <p:cNvSpPr txBox="1"/>
          <p:nvPr/>
        </p:nvSpPr>
        <p:spPr>
          <a:xfrm>
            <a:off x="344805" y="2436308"/>
            <a:ext cx="950595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/>
              <a:t>: 282</a:t>
            </a:r>
            <a:endParaRPr lang="en-US" sz="800" b="1" i="1" dirty="0"/>
          </a:p>
        </p:txBody>
      </p:sp>
      <p:sp>
        <p:nvSpPr>
          <p:cNvPr id="9" name="Text Box 8"/>
          <p:cNvSpPr txBox="1"/>
          <p:nvPr/>
        </p:nvSpPr>
        <p:spPr>
          <a:xfrm>
            <a:off x="344805" y="3606907"/>
            <a:ext cx="950595" cy="271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/>
              <a:t>: 23</a:t>
            </a:r>
            <a:endParaRPr lang="en-US" sz="800" b="1" i="1" dirty="0"/>
          </a:p>
        </p:txBody>
      </p:sp>
      <p:graphicFrame>
        <p:nvGraphicFramePr>
          <p:cNvPr id="27" name="Chart 3"/>
          <p:cNvGraphicFramePr/>
          <p:nvPr/>
        </p:nvGraphicFramePr>
        <p:xfrm>
          <a:off x="1659890" y="2133600"/>
          <a:ext cx="2076450" cy="1085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9" name="Chart 28"/>
          <p:cNvGraphicFramePr/>
          <p:nvPr/>
        </p:nvGraphicFramePr>
        <p:xfrm>
          <a:off x="1659890" y="3255644"/>
          <a:ext cx="2110740" cy="1163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4" name="Chart 33"/>
          <p:cNvGraphicFramePr/>
          <p:nvPr/>
        </p:nvGraphicFramePr>
        <p:xfrm>
          <a:off x="1431290" y="5761567"/>
          <a:ext cx="2256156" cy="1096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2" name="Chart 4"/>
          <p:cNvGraphicFramePr/>
          <p:nvPr/>
        </p:nvGraphicFramePr>
        <p:xfrm>
          <a:off x="1425575" y="4521837"/>
          <a:ext cx="2280285" cy="1193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July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 panose="020B0806030504020204"/>
              <a:sym typeface="+mn-ea"/>
            </a:endParaRPr>
          </a:p>
        </p:txBody>
      </p:sp>
      <p:graphicFrame>
        <p:nvGraphicFramePr>
          <p:cNvPr id="19" name="Content Placeholder 95"/>
          <p:cNvGraphicFramePr/>
          <p:nvPr>
            <p:custDataLst>
              <p:tags r:id="rId13"/>
            </p:custDataLst>
          </p:nvPr>
        </p:nvGraphicFramePr>
        <p:xfrm>
          <a:off x="4454244" y="2174268"/>
          <a:ext cx="2134235" cy="797044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56186"/>
                <a:gridCol w="378049"/>
              </a:tblGrid>
              <a:tr h="118012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US" sz="935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r>
                        <a:rPr lang="en-US"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Fail</a:t>
                      </a:r>
                      <a:endParaRPr lang="en-US" sz="935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SB FORCE 58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8,51%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JORDAN 1 LOW SE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7,80%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JORDAN SPIZIKE LOW (GS)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7,45%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WINFLO 12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5,32%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33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JORDAN 1 LOW SE (GS)</a:t>
                      </a:r>
                      <a:endParaRPr lang="vi-V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4,61%</a:t>
                      </a:r>
                      <a:endParaRPr lang="vi-V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/>
          <p:nvPr>
            <p:custDataLst>
              <p:tags r:id="rId14"/>
            </p:custDataLst>
          </p:nvPr>
        </p:nvGraphicFramePr>
        <p:xfrm>
          <a:off x="4427856" y="3380640"/>
          <a:ext cx="2160623" cy="830455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44344"/>
                <a:gridCol w="416279"/>
              </a:tblGrid>
              <a:tr h="154850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sz="935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  <a:endParaRPr sz="935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EXCEE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21,74%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WINFLO 11 GTX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17,39%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FORCE 1 (GS)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13,04%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SC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13,04%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INITIATOR (MS/WS)</a:t>
                      </a:r>
                      <a:endParaRPr lang="vi-V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8,70%</a:t>
                      </a:r>
                      <a:endParaRPr lang="vi-V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</a:tbl>
          </a:graphicData>
        </a:graphic>
      </p:graphicFrame>
      <p:graphicFrame>
        <p:nvGraphicFramePr>
          <p:cNvPr id="23" name="Table 22"/>
          <p:cNvGraphicFramePr/>
          <p:nvPr>
            <p:custDataLst>
              <p:tags r:id="rId15"/>
            </p:custDataLst>
          </p:nvPr>
        </p:nvGraphicFramePr>
        <p:xfrm>
          <a:off x="4454245" y="4538774"/>
          <a:ext cx="2116523" cy="908436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23663"/>
                <a:gridCol w="392860"/>
              </a:tblGrid>
              <a:tr h="176382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sz="935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  <a:endParaRPr sz="935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53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EBERNON LOW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42,42%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530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INITIATOR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17,17%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524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SC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14,14%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3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COURT VISION LOW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5,05%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3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COURT BOROUGH MID (GS)</a:t>
                      </a:r>
                      <a:endParaRPr lang="vi-V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5,05%</a:t>
                      </a:r>
                      <a:endParaRPr lang="vi-V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</a:tbl>
          </a:graphicData>
        </a:graphic>
      </p:graphicFrame>
      <p:graphicFrame>
        <p:nvGraphicFramePr>
          <p:cNvPr id="26" name="Table 25"/>
          <p:cNvGraphicFramePr/>
          <p:nvPr>
            <p:custDataLst>
              <p:tags r:id="rId16"/>
            </p:custDataLst>
          </p:nvPr>
        </p:nvGraphicFramePr>
        <p:xfrm>
          <a:off x="4454245" y="5724109"/>
          <a:ext cx="2117955" cy="863256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02213"/>
                <a:gridCol w="415742"/>
              </a:tblGrid>
              <a:tr h="137214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sz="935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  <a:endParaRPr sz="935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AIR JORDAN 1 MID SE (GS)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17,69%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JORDAN 1 MID SE (PS/TD)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17,34%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NIKE COURT VISION LOW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13,13%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470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AIR JORDAN 1 LOW (MS/WS)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11,73%</a:t>
                      </a:r>
                      <a:endParaRPr lang="vi-VN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  <a:tr h="1197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NIKE INITIATOR (MS/WS)</a:t>
                      </a:r>
                      <a:endParaRPr lang="vi-V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8,06%</a:t>
                      </a:r>
                      <a:endParaRPr lang="vi-V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34" marR="7034" marT="7034" marB="0" anchor="b"/>
                </a:tc>
              </a:tr>
            </a:tbl>
          </a:graphicData>
        </a:graphic>
      </p:graphicFrame>
      <p:grpSp>
        <p:nvGrpSpPr>
          <p:cNvPr id="57" name="Group 56"/>
          <p:cNvGrpSpPr/>
          <p:nvPr/>
        </p:nvGrpSpPr>
        <p:grpSpPr>
          <a:xfrm>
            <a:off x="6933476" y="3654335"/>
            <a:ext cx="365760" cy="183287"/>
            <a:chOff x="14812" y="4564"/>
            <a:chExt cx="1049" cy="528"/>
          </a:xfrm>
        </p:grpSpPr>
        <p:sp>
          <p:nvSpPr>
            <p:cNvPr id="58" name="Chevron 166"/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9" name="Chevron 172"/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0" name="Chevron 173"/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6946900" y="4945651"/>
            <a:ext cx="365760" cy="183287"/>
            <a:chOff x="14812" y="4564"/>
            <a:chExt cx="1049" cy="528"/>
          </a:xfrm>
        </p:grpSpPr>
        <p:sp>
          <p:nvSpPr>
            <p:cNvPr id="62" name="Chevron 166"/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3" name="Chevron 172"/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5" name="Chevron 173"/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960324" y="6178327"/>
            <a:ext cx="365760" cy="183287"/>
            <a:chOff x="14812" y="4564"/>
            <a:chExt cx="1049" cy="528"/>
          </a:xfrm>
        </p:grpSpPr>
        <p:sp>
          <p:nvSpPr>
            <p:cNvPr id="67" name="Chevron 166"/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8" name="Chevron 172"/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9" name="Chevron 173"/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/>
          <p:cNvGraphicFramePr/>
          <p:nvPr/>
        </p:nvGraphicFramePr>
        <p:xfrm>
          <a:off x="1524000" y="875665"/>
          <a:ext cx="9110980" cy="1407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9" name="Text Box 48"/>
          <p:cNvSpPr txBox="1"/>
          <p:nvPr/>
        </p:nvSpPr>
        <p:spPr>
          <a:xfrm>
            <a:off x="2438400" y="609600"/>
            <a:ext cx="46456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OF THE TWO INSPECTIONS </a:t>
            </a:r>
            <a:endParaRPr lang="en-US" altLang="en-US" b="1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Text Box 68"/>
          <p:cNvSpPr txBox="1"/>
          <p:nvPr/>
        </p:nvSpPr>
        <p:spPr>
          <a:xfrm>
            <a:off x="328083" y="1852203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panose="00000800000000000000" charset="0"/>
                <a:cs typeface="Montserrat Bold" panose="00000800000000000000" charset="0"/>
              </a:rPr>
              <a:t>VH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panose="00000800000000000000" charset="0"/>
              <a:cs typeface="Montserrat Bold" panose="00000800000000000000" charset="0"/>
            </a:endParaRPr>
          </a:p>
        </p:txBody>
      </p:sp>
      <p:cxnSp>
        <p:nvCxnSpPr>
          <p:cNvPr id="76" name="Straight Connector 75"/>
          <p:cNvCxnSpPr/>
          <p:nvPr/>
        </p:nvCxnSpPr>
        <p:spPr>
          <a:xfrm flipV="1">
            <a:off x="-152400" y="3750144"/>
            <a:ext cx="12496800" cy="5985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/>
          <p:nvPr/>
        </p:nvGraphicFramePr>
        <p:xfrm>
          <a:off x="1540510" y="2325052"/>
          <a:ext cx="9110980" cy="142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066800" y="95186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  <a:endParaRPr lang="en-US" altLang="en-US" b="1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graphicFrame>
        <p:nvGraphicFramePr>
          <p:cNvPr id="11" name="Chart 10"/>
          <p:cNvGraphicFramePr/>
          <p:nvPr/>
        </p:nvGraphicFramePr>
        <p:xfrm>
          <a:off x="1524000" y="3911116"/>
          <a:ext cx="9110980" cy="1365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/>
          <p:nvPr/>
        </p:nvGraphicFramePr>
        <p:xfrm>
          <a:off x="1524000" y="5371465"/>
          <a:ext cx="9110980" cy="1439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1066800" y="2392680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  <a:endParaRPr lang="en-US" altLang="en-US" b="1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66800" y="396684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  <a:endParaRPr lang="en-US" altLang="en-US" b="1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066800" y="5408295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  <a:endParaRPr lang="en-US" altLang="en-US" b="1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228600" y="4847141"/>
            <a:ext cx="1066800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panose="00000800000000000000" charset="0"/>
                <a:cs typeface="Montserrat Bold" panose="00000800000000000000" charset="0"/>
              </a:rPr>
              <a:t>VH2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panose="00000800000000000000" charset="0"/>
              <a:cs typeface="Montserrat Bold" panose="00000800000000000000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141544" y="967626"/>
          <a:ext cx="2143304" cy="1729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04"/>
                <a:gridCol w="1905000"/>
              </a:tblGrid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Others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2C4D75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FE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Wrinkle upper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Eyestay off center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Cleanness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Midsole/Outsole to upper bond gap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622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Over cement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7F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Thread end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0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Miss match labeling on shoe or Outer carton and Inner box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360606" y="974347"/>
          <a:ext cx="1795779" cy="1441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04"/>
                <a:gridCol w="1557475"/>
              </a:tblGrid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Wrinkle bottom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4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E4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Airbag quality/stain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Rocking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Sole attachment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9B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Collar shape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A4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Heel/Tip height inconsistent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8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Bottom Cosmetic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Text Box 13"/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July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 panose="020B0806030504020204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75"/>
          <p:cNvCxnSpPr/>
          <p:nvPr/>
        </p:nvCxnSpPr>
        <p:spPr>
          <a:xfrm>
            <a:off x="-152400" y="3872230"/>
            <a:ext cx="13402310" cy="2476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1" name="Content Placeholder 50"/>
          <p:cNvGraphicFramePr>
            <a:graphicFrameLocks noGrp="1"/>
          </p:cNvGraphicFramePr>
          <p:nvPr>
            <p:ph idx="1"/>
          </p:nvPr>
        </p:nvGraphicFramePr>
        <p:xfrm>
          <a:off x="1524000" y="828040"/>
          <a:ext cx="8959850" cy="1525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1524635" y="2286000"/>
          <a:ext cx="8916035" cy="14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Chart 51"/>
          <p:cNvGraphicFramePr/>
          <p:nvPr/>
        </p:nvGraphicFramePr>
        <p:xfrm>
          <a:off x="1524000" y="3990340"/>
          <a:ext cx="9062085" cy="13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1524000" y="5408295"/>
          <a:ext cx="8832850" cy="1379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304800" y="1828800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665" b="1">
                <a:solidFill>
                  <a:schemeClr val="accent6">
                    <a:lumMod val="75000"/>
                  </a:schemeClr>
                </a:solidFill>
                <a:latin typeface="Montserrat Bold" panose="00000800000000000000" charset="0"/>
                <a:cs typeface="Montserrat Bold" panose="00000800000000000000" charset="0"/>
              </a:rPr>
              <a:t>JV</a:t>
            </a:r>
            <a:endParaRPr lang="en-US" sz="2665" b="1">
              <a:solidFill>
                <a:schemeClr val="accent6">
                  <a:lumMod val="75000"/>
                </a:schemeClr>
              </a:solidFill>
              <a:latin typeface="Montserrat Bold" panose="00000800000000000000" charset="0"/>
              <a:cs typeface="Montserrat Bold" panose="00000800000000000000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066800" y="95186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  <a:endParaRPr lang="en-US" altLang="en-US" b="1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1066800" y="2392680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  <a:endParaRPr lang="en-US" altLang="en-US" b="1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075886" y="4127499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  <a:endParaRPr lang="en-US" altLang="en-US" b="1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066800" y="5479415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  <a:endParaRPr lang="en-US" altLang="en-US" b="1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302172" y="4937124"/>
            <a:ext cx="838199" cy="328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panose="00000800000000000000" charset="0"/>
                <a:cs typeface="Montserrat Bold" panose="00000800000000000000" charset="0"/>
              </a:rPr>
              <a:t>JV2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panose="00000800000000000000" charset="0"/>
              <a:cs typeface="Montserrat Bold" panose="00000800000000000000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438400" y="546100"/>
            <a:ext cx="46456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OF THE TWO INSPECTIONS </a:t>
            </a:r>
            <a:endParaRPr lang="en-US" altLang="en-US" b="1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Box 13"/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July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 panose="020B0806030504020204"/>
              <a:sym typeface="+mn-ea"/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8314639" y="745832"/>
          <a:ext cx="1907540" cy="1585700"/>
        </p:xfrm>
        <a:graphic>
          <a:graphicData uri="http://schemas.openxmlformats.org/drawingml/2006/table">
            <a:tbl>
              <a:tblPr/>
              <a:tblGrid>
                <a:gridCol w="231140"/>
                <a:gridCol w="1676400"/>
              </a:tblGrid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Cleanness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Midsole/Outsole to upper bond gap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7F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Thread end</a:t>
                      </a:r>
                      <a:endParaRPr lang="vi-V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622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Over 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cement</a:t>
                      </a:r>
                      <a:endParaRPr lang="vi-V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Over buffing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5F6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Bond gap at bottom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B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Collar shape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440670" y="730250"/>
          <a:ext cx="1594214" cy="1566877"/>
        </p:xfrm>
        <a:graphic>
          <a:graphicData uri="http://schemas.openxmlformats.org/drawingml/2006/table">
            <a:tbl>
              <a:tblPr/>
              <a:tblGrid>
                <a:gridCol w="231140"/>
                <a:gridCol w="1363074"/>
              </a:tblGrid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Sole attachment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25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Stitching margin/SPI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6A4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Heel/Tip height inconsistent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Hairy edge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31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Toe off center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FF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Outsole thread stitching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7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Rocking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192857" y="2514600"/>
            <a:ext cx="2224617" cy="268817"/>
            <a:chOff x="0" y="0"/>
            <a:chExt cx="2058649" cy="162211"/>
          </a:xfrm>
          <a:solidFill>
            <a:schemeClr val="accent5">
              <a:lumMod val="5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58649" cy="162211"/>
            </a:xfrm>
            <a:custGeom>
              <a:avLst/>
              <a:gdLst/>
              <a:ahLst/>
              <a:cxnLst/>
              <a:rect l="l" t="t" r="r" b="b"/>
              <a:pathLst>
                <a:path w="2058649" h="162211">
                  <a:moveTo>
                    <a:pt x="0" y="0"/>
                  </a:moveTo>
                  <a:lnTo>
                    <a:pt x="2058649" y="0"/>
                  </a:lnTo>
                  <a:lnTo>
                    <a:pt x="2058649" y="162211"/>
                  </a:lnTo>
                  <a:lnTo>
                    <a:pt x="0" y="1622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035" y="0"/>
              <a:ext cx="1865439" cy="162211"/>
            </a:xfrm>
            <a:prstGeom prst="rect">
              <a:avLst/>
            </a:prstGeom>
            <a:grpFill/>
            <a:ln>
              <a:noFill/>
            </a:ln>
          </p:spPr>
          <p:txBody>
            <a:bodyPr lIns="33864" tIns="33864" rIns="33864" bIns="33864" rtlCol="0" anchor="ctr"/>
            <a:lstStyle/>
            <a:p>
              <a:pPr algn="ctr">
                <a:lnSpc>
                  <a:spcPts val="2940"/>
                </a:lnSpc>
              </a:pPr>
              <a:endParaRPr lang="en-US" sz="1400" u="none" dirty="0">
                <a:solidFill>
                  <a:schemeClr val="bg1"/>
                </a:solidFill>
                <a:latin typeface="Noto Sans Bold" panose="020B0802040504020204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" y="2416689"/>
            <a:ext cx="1489037" cy="397366"/>
            <a:chOff x="0" y="0"/>
            <a:chExt cx="1536012" cy="156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6012" cy="156984"/>
            </a:xfrm>
            <a:custGeom>
              <a:avLst/>
              <a:gdLst/>
              <a:ahLst/>
              <a:cxnLst/>
              <a:rect l="l" t="t" r="r" b="b"/>
              <a:pathLst>
                <a:path w="1536012" h="156984">
                  <a:moveTo>
                    <a:pt x="0" y="0"/>
                  </a:moveTo>
                  <a:lnTo>
                    <a:pt x="1536012" y="0"/>
                  </a:lnTo>
                  <a:lnTo>
                    <a:pt x="1536012" y="156984"/>
                  </a:lnTo>
                  <a:lnTo>
                    <a:pt x="0" y="156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4" tIns="33864" rIns="33864" bIns="33864" rtlCol="0" anchor="ctr"/>
            <a:lstStyle/>
            <a:p>
              <a:pPr>
                <a:lnSpc>
                  <a:spcPts val="2940"/>
                </a:lnSpc>
              </a:pPr>
              <a:endParaRPr sz="12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061200" y="4089400"/>
            <a:ext cx="5126990" cy="384810"/>
          </a:xfrm>
          <a:custGeom>
            <a:avLst/>
            <a:gdLst/>
            <a:ahLst/>
            <a:cxnLst/>
            <a:rect l="l" t="t" r="r" b="b"/>
            <a:pathLst>
              <a:path w="2135072" h="135474">
                <a:moveTo>
                  <a:pt x="0" y="0"/>
                </a:moveTo>
                <a:lnTo>
                  <a:pt x="2135072" y="0"/>
                </a:lnTo>
                <a:lnTo>
                  <a:pt x="2135072" y="135474"/>
                </a:lnTo>
                <a:lnTo>
                  <a:pt x="0" y="1354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endParaRPr lang="vi-VN"/>
          </a:p>
        </p:txBody>
      </p:sp>
      <p:sp>
        <p:nvSpPr>
          <p:cNvPr id="15" name="TextBox 15"/>
          <p:cNvSpPr txBox="1"/>
          <p:nvPr/>
        </p:nvSpPr>
        <p:spPr>
          <a:xfrm>
            <a:off x="7010188" y="2271818"/>
            <a:ext cx="4398857" cy="2376170"/>
          </a:xfrm>
          <a:prstGeom prst="rect">
            <a:avLst/>
          </a:prstGeom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265"/>
              </a:lnSpc>
              <a:spcBef>
                <a:spcPct val="0"/>
              </a:spcBef>
            </a:pPr>
            <a:r>
              <a:rPr lang="en-US" sz="5865" u="none" dirty="0">
                <a:solidFill>
                  <a:srgbClr val="12222B"/>
                </a:solidFill>
                <a:latin typeface="Open Sans Bold" panose="020B0806030504020204"/>
              </a:rPr>
              <a:t>THANK YOU!</a:t>
            </a:r>
            <a:endParaRPr lang="en-US" sz="5865" u="none" dirty="0">
              <a:solidFill>
                <a:srgbClr val="12222B"/>
              </a:solidFill>
              <a:latin typeface="Open Sans Bold" panose="020B0806030504020204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1"/>
          <a:stretch>
            <a:fillRect/>
          </a:stretch>
        </p:blipFill>
        <p:spPr>
          <a:xfrm>
            <a:off x="10414000" y="533400"/>
            <a:ext cx="1488440" cy="672677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-468630" y="2487930"/>
            <a:ext cx="6653530" cy="4143163"/>
            <a:chOff x="-1947" y="6237"/>
            <a:chExt cx="15717" cy="9787"/>
          </a:xfrm>
          <a:blipFill rotWithShape="1">
            <a:blip r:embed="rId2"/>
            <a:stretch>
              <a:fillRect/>
            </a:stretch>
          </a:blipFill>
        </p:grpSpPr>
        <p:sp>
          <p:nvSpPr>
            <p:cNvPr id="20" name="Rounded Rectangle 19"/>
            <p:cNvSpPr/>
            <p:nvPr/>
          </p:nvSpPr>
          <p:spPr>
            <a:xfrm rot="2820000">
              <a:off x="2285" y="2637"/>
              <a:ext cx="1800" cy="9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 rot="2820000">
              <a:off x="3767" y="2058"/>
              <a:ext cx="1800" cy="12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 rot="2820000">
              <a:off x="6904" y="5386"/>
              <a:ext cx="1800" cy="1064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 rot="2820000">
              <a:off x="7822" y="3328"/>
              <a:ext cx="1800" cy="773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 rot="2820000">
              <a:off x="1706" y="8391"/>
              <a:ext cx="1800" cy="910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 rot="2820000">
              <a:off x="6935" y="7471"/>
              <a:ext cx="1800" cy="118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n>
                  <a:noFill/>
                </a:ln>
                <a:noFill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2239" y="14100"/>
              <a:ext cx="1841" cy="19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</p:grpSp>
      <p:sp>
        <p:nvSpPr>
          <p:cNvPr id="33" name="Freeform 17"/>
          <p:cNvSpPr/>
          <p:nvPr/>
        </p:nvSpPr>
        <p:spPr>
          <a:xfrm>
            <a:off x="812800" y="480060"/>
            <a:ext cx="2681393" cy="492337"/>
          </a:xfrm>
          <a:custGeom>
            <a:avLst/>
            <a:gdLst/>
            <a:ahLst/>
            <a:cxnLst/>
            <a:rect l="l" t="t" r="r" b="b"/>
            <a:pathLst>
              <a:path w="4260505" h="784830">
                <a:moveTo>
                  <a:pt x="0" y="0"/>
                </a:moveTo>
                <a:lnTo>
                  <a:pt x="4260505" y="0"/>
                </a:lnTo>
                <a:lnTo>
                  <a:pt x="4260505" y="784830"/>
                </a:lnTo>
                <a:lnTo>
                  <a:pt x="0" y="784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/>
        </p:spPr>
        <p:txBody>
          <a:bodyPr/>
          <a:lstStyle/>
          <a:p>
            <a:endParaRPr lang="en-US" sz="1200" b="1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59*61"/>
  <p:tag name="TABLE_ENDDRAG_RECT" val="340*154*159*61"/>
</p:tagLst>
</file>

<file path=ppt/tags/tag2.xml><?xml version="1.0" encoding="utf-8"?>
<p:tagLst xmlns:p="http://schemas.openxmlformats.org/presentationml/2006/main">
  <p:tag name="TABLE_ENDDRAG_ORIGIN_RECT" val="221*104"/>
  <p:tag name="TABLE_ENDDRAG_RECT" val="369*338*221*104"/>
</p:tagLst>
</file>

<file path=ppt/tags/tag3.xml><?xml version="1.0" encoding="utf-8"?>
<p:tagLst xmlns:p="http://schemas.openxmlformats.org/presentationml/2006/main">
  <p:tag name="TABLE_ENDDRAG_ORIGIN_RECT" val="221*87"/>
  <p:tag name="TABLE_ENDDRAG_RECT" val="413*531*221*87"/>
</p:tagLst>
</file>

<file path=ppt/tags/tag4.xml><?xml version="1.0" encoding="utf-8"?>
<p:tagLst xmlns:p="http://schemas.openxmlformats.org/presentationml/2006/main">
  <p:tag name="TABLE_ENDDRAG_ORIGIN_RECT" val="221*86"/>
  <p:tag name="TABLE_ENDDRAG_RECT" val="413*681*221*8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1556</Words>
  <Application>WPS Presentation</Application>
  <PresentationFormat>Widescreen</PresentationFormat>
  <Paragraphs>222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8" baseType="lpstr">
      <vt:lpstr>Arial</vt:lpstr>
      <vt:lpstr>SimSun</vt:lpstr>
      <vt:lpstr>Wingdings</vt:lpstr>
      <vt:lpstr>Open Sans Bold</vt:lpstr>
      <vt:lpstr>Noto Sans Bold</vt:lpstr>
      <vt:lpstr>Open Sans Bold</vt:lpstr>
      <vt:lpstr>Poppins Bold</vt:lpstr>
      <vt:lpstr>Gautami</vt:lpstr>
      <vt:lpstr>Montserrat Bold</vt:lpstr>
      <vt:lpstr>Neo Sans Std</vt:lpstr>
      <vt:lpstr>Raavi</vt:lpstr>
      <vt:lpstr>Open Sans Light</vt:lpstr>
      <vt:lpstr>Calibri</vt:lpstr>
      <vt:lpstr>Times New Roman</vt:lpstr>
      <vt:lpstr>Wingdings</vt:lpstr>
      <vt:lpstr>Calibri</vt:lpstr>
      <vt:lpstr>Angsana New</vt:lpstr>
      <vt:lpstr>Aileron</vt:lpstr>
      <vt:lpstr>Microsoft YaHei</vt:lpstr>
      <vt:lpstr>Arial Unicode MS</vt:lpstr>
      <vt:lpstr>Yu Gothic UI Semibold</vt:lpstr>
      <vt:lpstr>Yu Gothic UI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dc:creator/>
  <cp:lastModifiedBy>thinhphat.nguyen</cp:lastModifiedBy>
  <cp:revision>28</cp:revision>
  <dcterms:created xsi:type="dcterms:W3CDTF">2006-08-16T00:00:00Z</dcterms:created>
  <dcterms:modified xsi:type="dcterms:W3CDTF">2026-08-22T07:56:01Z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8A87BC92547D41E6A93368D00AFB2B16_13</vt:lpwstr>
  </property>
  <property fmtid="{D5CDD505-2E9C-101B-9397-08002B2CF9AE}" pid="3" name="KSOProductBuildVer">
    <vt:lpwstr>1033-11.2.0.11440</vt:lpwstr>
  </property>
</Properties>
</file>