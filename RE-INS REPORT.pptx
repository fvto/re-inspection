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charts/chart1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1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1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1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3.xml" ContentType="application/vnd.openxmlformats-officedocument.presentationml.notesSlide+xml"/>
  <Override PartName="/ppt/charts/chart1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1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1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1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271" r:id="rId2"/>
    <p:sldId id="324" r:id="rId3"/>
    <p:sldId id="330" r:id="rId4"/>
    <p:sldId id="331" r:id="rId5"/>
    <p:sldId id="323" r:id="rId6"/>
  </p:sldIdLst>
  <p:sldSz cx="12192000" cy="6858000"/>
  <p:notesSz cx="6858000" cy="9144000"/>
  <p:embeddedFontLst>
    <p:embeddedFont>
      <p:font typeface="Angsana New" panose="02020603050405020304" pitchFamily="18" charset="-34"/>
      <p:regular r:id="rId8"/>
      <p:bold r:id="rId9"/>
      <p:italic r:id="rId10"/>
      <p:boldItalic r:id="rId11"/>
    </p:embeddedFont>
    <p:embeddedFont>
      <p:font typeface="Montserrat Bold" panose="020B0604020202020204" charset="0"/>
      <p:bold r:id="rId12"/>
    </p:embeddedFont>
    <p:embeddedFont>
      <p:font typeface="Open Sans Bold" panose="020B0604020202020204" charset="0"/>
      <p:bold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27" userDrawn="1">
          <p15:clr>
            <a:srgbClr val="A4A3A4"/>
          </p15:clr>
        </p15:guide>
        <p15:guide id="2" pos="18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E0B4"/>
    <a:srgbClr val="C4BD97"/>
    <a:srgbClr val="BFFFDC"/>
    <a:srgbClr val="10253F"/>
    <a:srgbClr val="F79646"/>
    <a:srgbClr val="4F6228"/>
    <a:srgbClr val="4F7FBD"/>
    <a:srgbClr val="EAD700"/>
    <a:srgbClr val="7030A0"/>
    <a:srgbClr val="336A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28" autoAdjust="0"/>
    <p:restoredTop sz="86450" autoAdjust="0"/>
  </p:normalViewPr>
  <p:slideViewPr>
    <p:cSldViewPr showGuides="1">
      <p:cViewPr>
        <p:scale>
          <a:sx n="100" d="100"/>
          <a:sy n="100" d="100"/>
        </p:scale>
        <p:origin x="-882" y="-1387"/>
      </p:cViewPr>
      <p:guideLst>
        <p:guide orient="horz" pos="1327"/>
        <p:guide pos="182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041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h Thuong Phan" userId="3bc5099f51bb3828" providerId="LiveId" clId="{84D22F07-7720-4130-9AC9-FADDB0D37658}"/>
    <pc:docChg chg="undo redo custSel addSld delSld modSld">
      <pc:chgData name="Minh Thuong Phan" userId="3bc5099f51bb3828" providerId="LiveId" clId="{84D22F07-7720-4130-9AC9-FADDB0D37658}" dt="2026-08-05T08:15:38.534" v="5677" actId="478"/>
      <pc:docMkLst>
        <pc:docMk/>
      </pc:docMkLst>
      <pc:sldChg chg="modSp mod">
        <pc:chgData name="Minh Thuong Phan" userId="3bc5099f51bb3828" providerId="LiveId" clId="{84D22F07-7720-4130-9AC9-FADDB0D37658}" dt="2026-08-05T06:16:08.928" v="5422" actId="20577"/>
        <pc:sldMkLst>
          <pc:docMk/>
          <pc:sldMk cId="0" sldId="271"/>
        </pc:sldMkLst>
        <pc:spChg chg="mod">
          <ac:chgData name="Minh Thuong Phan" userId="3bc5099f51bb3828" providerId="LiveId" clId="{84D22F07-7720-4130-9AC9-FADDB0D37658}" dt="2026-08-05T06:16:08.928" v="5422" actId="20577"/>
          <ac:spMkLst>
            <pc:docMk/>
            <pc:sldMk cId="0" sldId="271"/>
            <ac:spMk id="40" creationId="{00000000-0000-0000-0000-000000000000}"/>
          </ac:spMkLst>
        </pc:spChg>
      </pc:sldChg>
      <pc:sldChg chg="addSp delSp modSp mod setBg">
        <pc:chgData name="Minh Thuong Phan" userId="3bc5099f51bb3828" providerId="LiveId" clId="{84D22F07-7720-4130-9AC9-FADDB0D37658}" dt="2026-08-05T06:16:12.965" v="5426" actId="20577"/>
        <pc:sldMkLst>
          <pc:docMk/>
          <pc:sldMk cId="0" sldId="324"/>
        </pc:sldMkLst>
        <pc:spChg chg="mod">
          <ac:chgData name="Minh Thuong Phan" userId="3bc5099f51bb3828" providerId="LiveId" clId="{84D22F07-7720-4130-9AC9-FADDB0D37658}" dt="2026-08-05T04:42:14.406" v="5256" actId="20577"/>
          <ac:spMkLst>
            <pc:docMk/>
            <pc:sldMk cId="0" sldId="324"/>
            <ac:spMk id="4" creationId="{00000000-0000-0000-0000-000000000000}"/>
          </ac:spMkLst>
        </pc:spChg>
        <pc:spChg chg="mod">
          <ac:chgData name="Minh Thuong Phan" userId="3bc5099f51bb3828" providerId="LiveId" clId="{84D22F07-7720-4130-9AC9-FADDB0D37658}" dt="2026-08-05T04:42:25.173" v="5262" actId="20577"/>
          <ac:spMkLst>
            <pc:docMk/>
            <pc:sldMk cId="0" sldId="324"/>
            <ac:spMk id="7" creationId="{00000000-0000-0000-0000-000000000000}"/>
          </ac:spMkLst>
        </pc:spChg>
        <pc:spChg chg="add del mod">
          <ac:chgData name="Minh Thuong Phan" userId="3bc5099f51bb3828" providerId="LiveId" clId="{84D22F07-7720-4130-9AC9-FADDB0D37658}" dt="2026-08-05T04:42:33.338" v="5268" actId="20577"/>
          <ac:spMkLst>
            <pc:docMk/>
            <pc:sldMk cId="0" sldId="324"/>
            <ac:spMk id="9" creationId="{00000000-0000-0000-0000-000000000000}"/>
          </ac:spMkLst>
        </pc:spChg>
        <pc:spChg chg="mod">
          <ac:chgData name="Minh Thuong Phan" userId="3bc5099f51bb3828" providerId="LiveId" clId="{84D22F07-7720-4130-9AC9-FADDB0D37658}" dt="2026-08-05T04:42:07.423" v="5250" actId="20577"/>
          <ac:spMkLst>
            <pc:docMk/>
            <pc:sldMk cId="0" sldId="324"/>
            <ac:spMk id="10" creationId="{00000000-0000-0000-0000-000000000000}"/>
          </ac:spMkLst>
        </pc:spChg>
        <pc:spChg chg="mod">
          <ac:chgData name="Minh Thuong Phan" userId="3bc5099f51bb3828" providerId="LiveId" clId="{84D22F07-7720-4130-9AC9-FADDB0D37658}" dt="2026-08-05T06:16:12.965" v="5426" actId="20577"/>
          <ac:spMkLst>
            <pc:docMk/>
            <pc:sldMk cId="0" sldId="324"/>
            <ac:spMk id="14" creationId="{00000000-0000-0000-0000-000000000000}"/>
          </ac:spMkLst>
        </pc:spChg>
        <pc:spChg chg="mod">
          <ac:chgData name="Minh Thuong Phan" userId="3bc5099f51bb3828" providerId="LiveId" clId="{84D22F07-7720-4130-9AC9-FADDB0D37658}" dt="2026-08-05T04:42:50.703" v="5278" actId="20577"/>
          <ac:spMkLst>
            <pc:docMk/>
            <pc:sldMk cId="0" sldId="324"/>
            <ac:spMk id="17" creationId="{00000000-0000-0000-0000-000000000000}"/>
          </ac:spMkLst>
        </pc:spChg>
        <pc:spChg chg="mod">
          <ac:chgData name="Minh Thuong Phan" userId="3bc5099f51bb3828" providerId="LiveId" clId="{84D22F07-7720-4130-9AC9-FADDB0D37658}" dt="2026-08-05T04:42:39.096" v="5272" actId="20577"/>
          <ac:spMkLst>
            <pc:docMk/>
            <pc:sldMk cId="0" sldId="324"/>
            <ac:spMk id="18" creationId="{00000000-0000-0000-0000-000000000000}"/>
          </ac:spMkLst>
        </pc:spChg>
        <pc:spChg chg="mod">
          <ac:chgData name="Minh Thuong Phan" userId="3bc5099f51bb3828" providerId="LiveId" clId="{84D22F07-7720-4130-9AC9-FADDB0D37658}" dt="2026-08-05T04:41:59.533" v="5244" actId="20577"/>
          <ac:spMkLst>
            <pc:docMk/>
            <pc:sldMk cId="0" sldId="324"/>
            <ac:spMk id="64" creationId="{00000000-0000-0000-0000-000000000000}"/>
          </ac:spMkLst>
        </pc:spChg>
        <pc:graphicFrameChg chg="mod">
          <ac:chgData name="Minh Thuong Phan" userId="3bc5099f51bb3828" providerId="LiveId" clId="{84D22F07-7720-4130-9AC9-FADDB0D37658}" dt="2026-08-05T06:09:09.050" v="5321" actId="20577"/>
          <ac:graphicFrameMkLst>
            <pc:docMk/>
            <pc:sldMk cId="0" sldId="324"/>
            <ac:graphicFrameMk id="2" creationId="{00000000-0000-0000-0000-000000000000}"/>
          </ac:graphicFrameMkLst>
        </pc:graphicFrameChg>
        <pc:graphicFrameChg chg="mod">
          <ac:chgData name="Minh Thuong Phan" userId="3bc5099f51bb3828" providerId="LiveId" clId="{84D22F07-7720-4130-9AC9-FADDB0D37658}" dt="2026-08-05T06:11:41.791" v="5361" actId="20577"/>
          <ac:graphicFrameMkLst>
            <pc:docMk/>
            <pc:sldMk cId="0" sldId="324"/>
            <ac:graphicFrameMk id="5" creationId="{00000000-0000-0000-0000-000000000000}"/>
          </ac:graphicFrameMkLst>
        </pc:graphicFrameChg>
        <pc:graphicFrameChg chg="mod">
          <ac:chgData name="Minh Thuong Phan" userId="3bc5099f51bb3828" providerId="LiveId" clId="{84D22F07-7720-4130-9AC9-FADDB0D37658}" dt="2026-08-05T06:13:40.196" v="5386" actId="20577"/>
          <ac:graphicFrameMkLst>
            <pc:docMk/>
            <pc:sldMk cId="0" sldId="324"/>
            <ac:graphicFrameMk id="8" creationId="{00000000-0000-0000-0000-000000000000}"/>
          </ac:graphicFrameMkLst>
        </pc:graphicFrameChg>
        <pc:graphicFrameChg chg="mod">
          <ac:chgData name="Minh Thuong Phan" userId="3bc5099f51bb3828" providerId="LiveId" clId="{84D22F07-7720-4130-9AC9-FADDB0D37658}" dt="2026-08-05T06:15:03.966" v="5418" actId="20577"/>
          <ac:graphicFrameMkLst>
            <pc:docMk/>
            <pc:sldMk cId="0" sldId="324"/>
            <ac:graphicFrameMk id="11" creationId="{00000000-0000-0000-0000-000000000000}"/>
          </ac:graphicFrameMkLst>
        </pc:graphicFrameChg>
        <pc:graphicFrameChg chg="add del mod">
          <ac:chgData name="Minh Thuong Phan" userId="3bc5099f51bb3828" providerId="LiveId" clId="{84D22F07-7720-4130-9AC9-FADDB0D37658}" dt="2026-08-05T04:41:28.326" v="5240" actId="478"/>
          <ac:graphicFrameMkLst>
            <pc:docMk/>
            <pc:sldMk cId="0" sldId="324"/>
            <ac:graphicFrameMk id="15" creationId="{66E36282-F76F-FCA9-C04B-80AC01E0A6A4}"/>
          </ac:graphicFrameMkLst>
        </pc:graphicFrameChg>
        <pc:graphicFrameChg chg="mod modGraphic">
          <ac:chgData name="Minh Thuong Phan" userId="3bc5099f51bb3828" providerId="LiveId" clId="{84D22F07-7720-4130-9AC9-FADDB0D37658}" dt="2026-08-05T06:05:04.246" v="5281"/>
          <ac:graphicFrameMkLst>
            <pc:docMk/>
            <pc:sldMk cId="0" sldId="324"/>
            <ac:graphicFrameMk id="19" creationId="{4FBB4AA0-EDE3-E3C2-0E7A-74CBC850D8AA}"/>
          </ac:graphicFrameMkLst>
        </pc:graphicFrameChg>
        <pc:graphicFrameChg chg="mod modGraphic">
          <ac:chgData name="Minh Thuong Phan" userId="3bc5099f51bb3828" providerId="LiveId" clId="{84D22F07-7720-4130-9AC9-FADDB0D37658}" dt="2026-08-05T06:05:25.726" v="5286"/>
          <ac:graphicFrameMkLst>
            <pc:docMk/>
            <pc:sldMk cId="0" sldId="324"/>
            <ac:graphicFrameMk id="20" creationId="{A53AB6EF-CC7F-AB74-AC23-ADCF740FE6D2}"/>
          </ac:graphicFrameMkLst>
        </pc:graphicFrameChg>
        <pc:graphicFrameChg chg="mod modGraphic">
          <ac:chgData name="Minh Thuong Phan" userId="3bc5099f51bb3828" providerId="LiveId" clId="{84D22F07-7720-4130-9AC9-FADDB0D37658}" dt="2026-08-05T06:05:44.387" v="5289"/>
          <ac:graphicFrameMkLst>
            <pc:docMk/>
            <pc:sldMk cId="0" sldId="324"/>
            <ac:graphicFrameMk id="23" creationId="{A08994EC-DB9C-F7E3-9B41-8D6BD5716E71}"/>
          </ac:graphicFrameMkLst>
        </pc:graphicFrameChg>
        <pc:graphicFrameChg chg="mod modGraphic">
          <ac:chgData name="Minh Thuong Phan" userId="3bc5099f51bb3828" providerId="LiveId" clId="{84D22F07-7720-4130-9AC9-FADDB0D37658}" dt="2026-08-05T06:06:45.256" v="5294"/>
          <ac:graphicFrameMkLst>
            <pc:docMk/>
            <pc:sldMk cId="0" sldId="324"/>
            <ac:graphicFrameMk id="26" creationId="{A2BAD37C-4E07-D7AA-8BD9-0C1B06A9808F}"/>
          </ac:graphicFrameMkLst>
        </pc:graphicFrameChg>
        <pc:graphicFrameChg chg="mod">
          <ac:chgData name="Minh Thuong Phan" userId="3bc5099f51bb3828" providerId="LiveId" clId="{84D22F07-7720-4130-9AC9-FADDB0D37658}" dt="2026-08-05T04:39:35.894" v="5216"/>
          <ac:graphicFrameMkLst>
            <pc:docMk/>
            <pc:sldMk cId="0" sldId="324"/>
            <ac:graphicFrameMk id="27" creationId="{00000000-0000-0000-0000-000000000000}"/>
          </ac:graphicFrameMkLst>
        </pc:graphicFrameChg>
        <pc:graphicFrameChg chg="mod">
          <ac:chgData name="Minh Thuong Phan" userId="3bc5099f51bb3828" providerId="LiveId" clId="{84D22F07-7720-4130-9AC9-FADDB0D37658}" dt="2026-08-05T04:39:19.277" v="5215"/>
          <ac:graphicFrameMkLst>
            <pc:docMk/>
            <pc:sldMk cId="0" sldId="324"/>
            <ac:graphicFrameMk id="29" creationId="{00000000-0000-0000-0000-000000000000}"/>
          </ac:graphicFrameMkLst>
        </pc:graphicFrameChg>
        <pc:graphicFrameChg chg="mod">
          <ac:chgData name="Minh Thuong Phan" userId="3bc5099f51bb3828" providerId="LiveId" clId="{84D22F07-7720-4130-9AC9-FADDB0D37658}" dt="2026-08-05T04:40:43.816" v="5233"/>
          <ac:graphicFrameMkLst>
            <pc:docMk/>
            <pc:sldMk cId="0" sldId="324"/>
            <ac:graphicFrameMk id="32" creationId="{00000000-0000-0000-0000-000000000000}"/>
          </ac:graphicFrameMkLst>
        </pc:graphicFrameChg>
        <pc:graphicFrameChg chg="mod">
          <ac:chgData name="Minh Thuong Phan" userId="3bc5099f51bb3828" providerId="LiveId" clId="{84D22F07-7720-4130-9AC9-FADDB0D37658}" dt="2026-08-05T04:41:22.028" v="5239"/>
          <ac:graphicFrameMkLst>
            <pc:docMk/>
            <pc:sldMk cId="0" sldId="324"/>
            <ac:graphicFrameMk id="34" creationId="{00000000-0000-0000-0000-000000000000}"/>
          </ac:graphicFrameMkLst>
        </pc:graphicFrameChg>
      </pc:sldChg>
      <pc:sldChg chg="addSp delSp modSp mod">
        <pc:chgData name="Minh Thuong Phan" userId="3bc5099f51bb3828" providerId="LiveId" clId="{84D22F07-7720-4130-9AC9-FADDB0D37658}" dt="2026-08-05T06:43:17.328" v="5559" actId="207"/>
        <pc:sldMkLst>
          <pc:docMk/>
          <pc:sldMk cId="0" sldId="330"/>
        </pc:sldMkLst>
        <pc:spChg chg="mod">
          <ac:chgData name="Minh Thuong Phan" userId="3bc5099f51bb3828" providerId="LiveId" clId="{84D22F07-7720-4130-9AC9-FADDB0D37658}" dt="2026-08-05T06:35:28.625" v="5507" actId="1076"/>
          <ac:spMkLst>
            <pc:docMk/>
            <pc:sldMk cId="0" sldId="330"/>
            <ac:spMk id="9" creationId="{A8F60325-3E3A-C1CB-61CC-26DB0CA3A73E}"/>
          </ac:spMkLst>
        </pc:spChg>
        <pc:spChg chg="mod">
          <ac:chgData name="Minh Thuong Phan" userId="3bc5099f51bb3828" providerId="LiveId" clId="{84D22F07-7720-4130-9AC9-FADDB0D37658}" dt="2026-07-06T02:00:48.097" v="4799" actId="1076"/>
          <ac:spMkLst>
            <pc:docMk/>
            <pc:sldMk cId="0" sldId="330"/>
            <ac:spMk id="10" creationId="{3C003B4B-58FC-70EA-0258-C7CEA24AEE56}"/>
          </ac:spMkLst>
        </pc:spChg>
        <pc:spChg chg="mod">
          <ac:chgData name="Minh Thuong Phan" userId="3bc5099f51bb3828" providerId="LiveId" clId="{84D22F07-7720-4130-9AC9-FADDB0D37658}" dt="2026-07-06T02:00:48.097" v="4799" actId="1076"/>
          <ac:spMkLst>
            <pc:docMk/>
            <pc:sldMk cId="0" sldId="330"/>
            <ac:spMk id="12" creationId="{4CE9BA92-AD33-B02A-7A41-15D9B44F0EB2}"/>
          </ac:spMkLst>
        </pc:spChg>
        <pc:spChg chg="mod">
          <ac:chgData name="Minh Thuong Phan" userId="3bc5099f51bb3828" providerId="LiveId" clId="{84D22F07-7720-4130-9AC9-FADDB0D37658}" dt="2026-08-05T06:16:17.777" v="5430" actId="20577"/>
          <ac:spMkLst>
            <pc:docMk/>
            <pc:sldMk cId="0" sldId="330"/>
            <ac:spMk id="16" creationId="{998D3D64-3614-491A-7B5D-D2CC35904514}"/>
          </ac:spMkLst>
        </pc:spChg>
        <pc:spChg chg="mod">
          <ac:chgData name="Minh Thuong Phan" userId="3bc5099f51bb3828" providerId="LiveId" clId="{84D22F07-7720-4130-9AC9-FADDB0D37658}" dt="2026-08-05T06:40:45.654" v="5541" actId="14100"/>
          <ac:spMkLst>
            <pc:docMk/>
            <pc:sldMk cId="0" sldId="330"/>
            <ac:spMk id="23" creationId="{50549768-1B07-5745-BD52-7473E0D90375}"/>
          </ac:spMkLst>
        </pc:spChg>
        <pc:spChg chg="del mod">
          <ac:chgData name="Minh Thuong Phan" userId="3bc5099f51bb3828" providerId="LiveId" clId="{84D22F07-7720-4130-9AC9-FADDB0D37658}" dt="2026-08-05T06:30:43.646" v="5494" actId="478"/>
          <ac:spMkLst>
            <pc:docMk/>
            <pc:sldMk cId="0" sldId="330"/>
            <ac:spMk id="29" creationId="{936F2A3C-B52E-5828-180F-B628D77FB7A2}"/>
          </ac:spMkLst>
        </pc:spChg>
        <pc:grpChg chg="mod">
          <ac:chgData name="Minh Thuong Phan" userId="3bc5099f51bb3828" providerId="LiveId" clId="{84D22F07-7720-4130-9AC9-FADDB0D37658}" dt="2026-08-05T06:38:59.203" v="5534" actId="1076"/>
          <ac:grpSpMkLst>
            <pc:docMk/>
            <pc:sldMk cId="0" sldId="330"/>
            <ac:grpSpMk id="7" creationId="{45FE6C14-042A-A0F5-B600-8D07E7D7121E}"/>
          </ac:grpSpMkLst>
        </pc:grpChg>
        <pc:graphicFrameChg chg="mod modGraphic">
          <ac:chgData name="Minh Thuong Phan" userId="3bc5099f51bb3828" providerId="LiveId" clId="{84D22F07-7720-4130-9AC9-FADDB0D37658}" dt="2026-08-05T06:38:56.627" v="5533" actId="1076"/>
          <ac:graphicFrameMkLst>
            <pc:docMk/>
            <pc:sldMk cId="0" sldId="330"/>
            <ac:graphicFrameMk id="3" creationId="{6627ECBC-5BFB-76CC-54E3-CDB64F612FD0}"/>
          </ac:graphicFrameMkLst>
        </pc:graphicFrameChg>
        <pc:graphicFrameChg chg="mod">
          <ac:chgData name="Minh Thuong Phan" userId="3bc5099f51bb3828" providerId="LiveId" clId="{84D22F07-7720-4130-9AC9-FADDB0D37658}" dt="2026-08-05T06:22:24.626" v="5464"/>
          <ac:graphicFrameMkLst>
            <pc:docMk/>
            <pc:sldMk cId="0" sldId="330"/>
            <ac:graphicFrameMk id="6" creationId="{00000000-0000-0000-0000-000000000000}"/>
          </ac:graphicFrameMkLst>
        </pc:graphicFrameChg>
        <pc:graphicFrameChg chg="mod">
          <ac:chgData name="Minh Thuong Phan" userId="3bc5099f51bb3828" providerId="LiveId" clId="{84D22F07-7720-4130-9AC9-FADDB0D37658}" dt="2026-08-05T06:43:17.328" v="5559" actId="207"/>
          <ac:graphicFrameMkLst>
            <pc:docMk/>
            <pc:sldMk cId="0" sldId="330"/>
            <ac:graphicFrameMk id="11" creationId="{00000000-0000-0000-0000-000000000000}"/>
          </ac:graphicFrameMkLst>
        </pc:graphicFrameChg>
        <pc:graphicFrameChg chg="mod">
          <ac:chgData name="Minh Thuong Phan" userId="3bc5099f51bb3828" providerId="LiveId" clId="{84D22F07-7720-4130-9AC9-FADDB0D37658}" dt="2026-08-05T06:43:10.854" v="5558" actId="207"/>
          <ac:graphicFrameMkLst>
            <pc:docMk/>
            <pc:sldMk cId="0" sldId="330"/>
            <ac:graphicFrameMk id="13" creationId="{00000000-0000-0000-0000-000000000000}"/>
          </ac:graphicFrameMkLst>
        </pc:graphicFrameChg>
        <pc:graphicFrameChg chg="mod modGraphic">
          <ac:chgData name="Minh Thuong Phan" userId="3bc5099f51bb3828" providerId="LiveId" clId="{84D22F07-7720-4130-9AC9-FADDB0D37658}" dt="2026-08-05T06:30:36.486" v="5492" actId="14734"/>
          <ac:graphicFrameMkLst>
            <pc:docMk/>
            <pc:sldMk cId="0" sldId="330"/>
            <ac:graphicFrameMk id="14" creationId="{757AFE0B-D817-8467-C97E-DDCDA03A67D8}"/>
          </ac:graphicFrameMkLst>
        </pc:graphicFrameChg>
        <pc:graphicFrameChg chg="mod">
          <ac:chgData name="Minh Thuong Phan" userId="3bc5099f51bb3828" providerId="LiveId" clId="{84D22F07-7720-4130-9AC9-FADDB0D37658}" dt="2026-08-05T06:39:10.553" v="5537" actId="207"/>
          <ac:graphicFrameMkLst>
            <pc:docMk/>
            <pc:sldMk cId="0" sldId="330"/>
            <ac:graphicFrameMk id="37" creationId="{00000000-0000-0000-0000-000000000000}"/>
          </ac:graphicFrameMkLst>
        </pc:graphicFrameChg>
        <pc:cxnChg chg="mod">
          <ac:chgData name="Minh Thuong Phan" userId="3bc5099f51bb3828" providerId="LiveId" clId="{84D22F07-7720-4130-9AC9-FADDB0D37658}" dt="2026-07-06T03:32:04.049" v="5040" actId="1076"/>
          <ac:cxnSpMkLst>
            <pc:docMk/>
            <pc:sldMk cId="0" sldId="330"/>
            <ac:cxnSpMk id="25" creationId="{6CEB92F8-23DE-5225-FDE3-C1B093D50168}"/>
          </ac:cxnSpMkLst>
        </pc:cxnChg>
        <pc:cxnChg chg="mod">
          <ac:chgData name="Minh Thuong Phan" userId="3bc5099f51bb3828" providerId="LiveId" clId="{84D22F07-7720-4130-9AC9-FADDB0D37658}" dt="2026-08-05T06:30:51.391" v="5495" actId="14100"/>
          <ac:cxnSpMkLst>
            <pc:docMk/>
            <pc:sldMk cId="0" sldId="330"/>
            <ac:cxnSpMk id="76" creationId="{00000000-0000-0000-0000-000000000000}"/>
          </ac:cxnSpMkLst>
        </pc:cxnChg>
      </pc:sldChg>
      <pc:sldChg chg="addSp delSp modSp mod">
        <pc:chgData name="Minh Thuong Phan" userId="3bc5099f51bb3828" providerId="LiveId" clId="{84D22F07-7720-4130-9AC9-FADDB0D37658}" dt="2026-08-05T08:15:38.534" v="5677" actId="478"/>
        <pc:sldMkLst>
          <pc:docMk/>
          <pc:sldMk cId="0" sldId="331"/>
        </pc:sldMkLst>
        <pc:spChg chg="mod">
          <ac:chgData name="Minh Thuong Phan" userId="3bc5099f51bb3828" providerId="LiveId" clId="{84D22F07-7720-4130-9AC9-FADDB0D37658}" dt="2026-08-05T06:16:22.366" v="5434" actId="20577"/>
          <ac:spMkLst>
            <pc:docMk/>
            <pc:sldMk cId="0" sldId="331"/>
            <ac:spMk id="6" creationId="{3B128086-FE1F-6581-0A69-975116BADE7B}"/>
          </ac:spMkLst>
        </pc:spChg>
        <pc:spChg chg="mod">
          <ac:chgData name="Minh Thuong Phan" userId="3bc5099f51bb3828" providerId="LiveId" clId="{84D22F07-7720-4130-9AC9-FADDB0D37658}" dt="2026-08-05T08:15:28.523" v="5676" actId="207"/>
          <ac:spMkLst>
            <pc:docMk/>
            <pc:sldMk cId="0" sldId="331"/>
            <ac:spMk id="14" creationId="{C2B26314-8835-23AA-4639-C10F8CE2C36E}"/>
          </ac:spMkLst>
        </pc:spChg>
        <pc:spChg chg="mod">
          <ac:chgData name="Minh Thuong Phan" userId="3bc5099f51bb3828" providerId="LiveId" clId="{84D22F07-7720-4130-9AC9-FADDB0D37658}" dt="2026-07-06T03:34:50.659" v="5047" actId="1076"/>
          <ac:spMkLst>
            <pc:docMk/>
            <pc:sldMk cId="0" sldId="331"/>
            <ac:spMk id="22" creationId="{00000000-0000-0000-0000-000000000000}"/>
          </ac:spMkLst>
        </pc:spChg>
        <pc:spChg chg="mod">
          <ac:chgData name="Minh Thuong Phan" userId="3bc5099f51bb3828" providerId="LiveId" clId="{84D22F07-7720-4130-9AC9-FADDB0D37658}" dt="2026-08-05T08:14:28.434" v="5652" actId="20577"/>
          <ac:spMkLst>
            <pc:docMk/>
            <pc:sldMk cId="0" sldId="331"/>
            <ac:spMk id="23" creationId="{CC659360-589B-9998-AD12-96B2BF1DC52B}"/>
          </ac:spMkLst>
        </pc:spChg>
        <pc:spChg chg="mod">
          <ac:chgData name="Minh Thuong Phan" userId="3bc5099f51bb3828" providerId="LiveId" clId="{84D22F07-7720-4130-9AC9-FADDB0D37658}" dt="2026-08-05T08:13:16.301" v="5636" actId="1076"/>
          <ac:spMkLst>
            <pc:docMk/>
            <pc:sldMk cId="0" sldId="331"/>
            <ac:spMk id="25" creationId="{88F21813-9460-7168-BE5B-FEB188351F5F}"/>
          </ac:spMkLst>
        </pc:spChg>
        <pc:spChg chg="mod topLvl">
          <ac:chgData name="Minh Thuong Phan" userId="3bc5099f51bb3828" providerId="LiveId" clId="{84D22F07-7720-4130-9AC9-FADDB0D37658}" dt="2026-08-05T06:53:26.303" v="5620" actId="478"/>
          <ac:spMkLst>
            <pc:docMk/>
            <pc:sldMk cId="0" sldId="331"/>
            <ac:spMk id="36" creationId="{9A064DF5-E570-3609-47D9-D8E72634632C}"/>
          </ac:spMkLst>
        </pc:spChg>
        <pc:spChg chg="mod">
          <ac:chgData name="Minh Thuong Phan" userId="3bc5099f51bb3828" providerId="LiveId" clId="{84D22F07-7720-4130-9AC9-FADDB0D37658}" dt="2026-08-05T06:54:18.643" v="5623" actId="14100"/>
          <ac:spMkLst>
            <pc:docMk/>
            <pc:sldMk cId="0" sldId="331"/>
            <ac:spMk id="38" creationId="{CD3D6425-4234-9855-1104-11B393468DEB}"/>
          </ac:spMkLst>
        </pc:spChg>
        <pc:spChg chg="del mod">
          <ac:chgData name="Minh Thuong Phan" userId="3bc5099f51bb3828" providerId="LiveId" clId="{84D22F07-7720-4130-9AC9-FADDB0D37658}" dt="2026-08-05T06:53:08.673" v="5619" actId="478"/>
          <ac:spMkLst>
            <pc:docMk/>
            <pc:sldMk cId="0" sldId="331"/>
            <ac:spMk id="75" creationId="{93F33D77-9C63-9CF9-C56B-A6F834C94F75}"/>
          </ac:spMkLst>
        </pc:spChg>
        <pc:grpChg chg="del mod">
          <ac:chgData name="Minh Thuong Phan" userId="3bc5099f51bb3828" providerId="LiveId" clId="{84D22F07-7720-4130-9AC9-FADDB0D37658}" dt="2026-08-05T06:53:26.303" v="5620" actId="478"/>
          <ac:grpSpMkLst>
            <pc:docMk/>
            <pc:sldMk cId="0" sldId="331"/>
            <ac:grpSpMk id="4" creationId="{34923389-9276-A0F1-0673-3B7C4D4ED47F}"/>
          </ac:grpSpMkLst>
        </pc:grpChg>
        <pc:grpChg chg="mod">
          <ac:chgData name="Minh Thuong Phan" userId="3bc5099f51bb3828" providerId="LiveId" clId="{84D22F07-7720-4130-9AC9-FADDB0D37658}" dt="2026-08-05T08:13:16.301" v="5636" actId="1076"/>
          <ac:grpSpMkLst>
            <pc:docMk/>
            <pc:sldMk cId="0" sldId="331"/>
            <ac:grpSpMk id="12" creationId="{3B7612C2-82CB-2367-0E3C-6486B82364D5}"/>
          </ac:grpSpMkLst>
        </pc:grpChg>
        <pc:grpChg chg="mod">
          <ac:chgData name="Minh Thuong Phan" userId="3bc5099f51bb3828" providerId="LiveId" clId="{84D22F07-7720-4130-9AC9-FADDB0D37658}" dt="2026-08-05T08:14:43.013" v="5653" actId="1076"/>
          <ac:grpSpMkLst>
            <pc:docMk/>
            <pc:sldMk cId="0" sldId="331"/>
            <ac:grpSpMk id="16" creationId="{4464C982-6308-422E-E931-80889343C411}"/>
          </ac:grpSpMkLst>
        </pc:grpChg>
        <pc:graphicFrameChg chg="mod">
          <ac:chgData name="Minh Thuong Phan" userId="3bc5099f51bb3828" providerId="LiveId" clId="{84D22F07-7720-4130-9AC9-FADDB0D37658}" dt="2026-08-05T06:48:58.964" v="5605"/>
          <ac:graphicFrameMkLst>
            <pc:docMk/>
            <pc:sldMk cId="0" sldId="331"/>
            <ac:graphicFrameMk id="7" creationId="{00000000-0000-0000-0000-000000000000}"/>
          </ac:graphicFrameMkLst>
        </pc:graphicFrameChg>
        <pc:graphicFrameChg chg="mod">
          <ac:chgData name="Minh Thuong Phan" userId="3bc5099f51bb3828" providerId="LiveId" clId="{84D22F07-7720-4130-9AC9-FADDB0D37658}" dt="2026-08-05T08:12:58.945" v="5635"/>
          <ac:graphicFrameMkLst>
            <pc:docMk/>
            <pc:sldMk cId="0" sldId="331"/>
            <ac:graphicFrameMk id="15" creationId="{00000000-0000-0000-0000-000000000000}"/>
          </ac:graphicFrameMkLst>
        </pc:graphicFrameChg>
        <pc:graphicFrameChg chg="add mod modGraphic">
          <ac:chgData name="Minh Thuong Phan" userId="3bc5099f51bb3828" providerId="LiveId" clId="{84D22F07-7720-4130-9AC9-FADDB0D37658}" dt="2026-08-05T08:13:34.323" v="5639" actId="1076"/>
          <ac:graphicFrameMkLst>
            <pc:docMk/>
            <pc:sldMk cId="0" sldId="331"/>
            <ac:graphicFrameMk id="32" creationId="{97274E3F-5FB9-93A8-9130-ED52725E9C8C}"/>
          </ac:graphicFrameMkLst>
        </pc:graphicFrameChg>
        <pc:graphicFrameChg chg="add mod modGraphic">
          <ac:chgData name="Minh Thuong Phan" userId="3bc5099f51bb3828" providerId="LiveId" clId="{84D22F07-7720-4130-9AC9-FADDB0D37658}" dt="2026-08-05T08:13:27.541" v="5638" actId="1076"/>
          <ac:graphicFrameMkLst>
            <pc:docMk/>
            <pc:sldMk cId="0" sldId="331"/>
            <ac:graphicFrameMk id="33" creationId="{4C4B9A72-01E5-FA5F-57F4-CB8C81CBDB7D}"/>
          </ac:graphicFrameMkLst>
        </pc:graphicFrameChg>
        <pc:graphicFrameChg chg="mod">
          <ac:chgData name="Minh Thuong Phan" userId="3bc5099f51bb3828" providerId="LiveId" clId="{84D22F07-7720-4130-9AC9-FADDB0D37658}" dt="2026-08-05T06:52:23.893" v="5612" actId="207"/>
          <ac:graphicFrameMkLst>
            <pc:docMk/>
            <pc:sldMk cId="0" sldId="331"/>
            <ac:graphicFrameMk id="51" creationId="{00000000-0000-0000-0000-000000000000}"/>
          </ac:graphicFrameMkLst>
        </pc:graphicFrameChg>
        <pc:graphicFrameChg chg="mod">
          <ac:chgData name="Minh Thuong Phan" userId="3bc5099f51bb3828" providerId="LiveId" clId="{84D22F07-7720-4130-9AC9-FADDB0D37658}" dt="2026-08-05T08:12:54.354" v="5633"/>
          <ac:graphicFrameMkLst>
            <pc:docMk/>
            <pc:sldMk cId="0" sldId="331"/>
            <ac:graphicFrameMk id="52" creationId="{00000000-0000-0000-0000-000000000000}"/>
          </ac:graphicFrameMkLst>
        </pc:graphicFrameChg>
        <pc:cxnChg chg="add del mod">
          <ac:chgData name="Minh Thuong Phan" userId="3bc5099f51bb3828" providerId="LiveId" clId="{84D22F07-7720-4130-9AC9-FADDB0D37658}" dt="2026-08-05T06:53:06.693" v="5617" actId="478"/>
          <ac:cxnSpMkLst>
            <pc:docMk/>
            <pc:sldMk cId="0" sldId="331"/>
            <ac:cxnSpMk id="5" creationId="{42CD96E8-F486-4308-499E-EE8B6DE690A1}"/>
          </ac:cxnSpMkLst>
        </pc:cxnChg>
        <pc:cxnChg chg="add mod">
          <ac:chgData name="Minh Thuong Phan" userId="3bc5099f51bb3828" providerId="LiveId" clId="{84D22F07-7720-4130-9AC9-FADDB0D37658}" dt="2026-08-05T06:54:26.007" v="5626" actId="14100"/>
          <ac:cxnSpMkLst>
            <pc:docMk/>
            <pc:sldMk cId="0" sldId="331"/>
            <ac:cxnSpMk id="9" creationId="{586BB1EF-110B-17AB-142D-AAEA3CC9A727}"/>
          </ac:cxnSpMkLst>
        </pc:cxnChg>
        <pc:cxnChg chg="add mod">
          <ac:chgData name="Minh Thuong Phan" userId="3bc5099f51bb3828" providerId="LiveId" clId="{84D22F07-7720-4130-9AC9-FADDB0D37658}" dt="2026-07-06T03:39:30.601" v="5075" actId="14100"/>
          <ac:cxnSpMkLst>
            <pc:docMk/>
            <pc:sldMk cId="0" sldId="331"/>
            <ac:cxnSpMk id="35" creationId="{A29C9103-C46D-2FE9-DD9E-E0EDD55FA4D3}"/>
          </ac:cxnSpMkLst>
        </pc:cxnChg>
        <pc:cxnChg chg="del mod topLvl">
          <ac:chgData name="Minh Thuong Phan" userId="3bc5099f51bb3828" providerId="LiveId" clId="{84D22F07-7720-4130-9AC9-FADDB0D37658}" dt="2026-08-05T06:53:26.303" v="5620" actId="478"/>
          <ac:cxnSpMkLst>
            <pc:docMk/>
            <pc:sldMk cId="0" sldId="331"/>
            <ac:cxnSpMk id="41" creationId="{C70BD101-72B3-927D-A0CE-8448200B7FDC}"/>
          </ac:cxnSpMkLst>
        </pc:cxnChg>
        <pc:cxnChg chg="del mod">
          <ac:chgData name="Minh Thuong Phan" userId="3bc5099f51bb3828" providerId="LiveId" clId="{84D22F07-7720-4130-9AC9-FADDB0D37658}" dt="2026-08-05T08:15:38.534" v="5677" actId="478"/>
          <ac:cxnSpMkLst>
            <pc:docMk/>
            <pc:sldMk cId="0" sldId="331"/>
            <ac:cxnSpMk id="45" creationId="{F6A41542-5AEB-3636-1787-9213959B244E}"/>
          </ac:cxnSpMkLst>
        </pc:cxnChg>
        <pc:cxnChg chg="add del mod">
          <ac:chgData name="Minh Thuong Phan" userId="3bc5099f51bb3828" providerId="LiveId" clId="{84D22F07-7720-4130-9AC9-FADDB0D37658}" dt="2026-08-05T06:53:07.756" v="5618" actId="478"/>
          <ac:cxnSpMkLst>
            <pc:docMk/>
            <pc:sldMk cId="0" sldId="331"/>
            <ac:cxnSpMk id="49" creationId="{5C7FDB5F-364F-DA94-C8A3-C1BCBFC06B86}"/>
          </ac:cxnSpMkLst>
        </pc:cxnChg>
        <pc:cxnChg chg="del mod">
          <ac:chgData name="Minh Thuong Phan" userId="3bc5099f51bb3828" providerId="LiveId" clId="{84D22F07-7720-4130-9AC9-FADDB0D37658}" dt="2026-08-05T06:55:05.238" v="5629" actId="478"/>
          <ac:cxnSpMkLst>
            <pc:docMk/>
            <pc:sldMk cId="0" sldId="331"/>
            <ac:cxnSpMk id="79" creationId="{6503CD09-18F5-945A-1C4B-75ACA14CB99F}"/>
          </ac:cxnSpMkLst>
        </pc:cxnChg>
        <pc:cxnChg chg="mod">
          <ac:chgData name="Minh Thuong Phan" userId="3bc5099f51bb3828" providerId="LiveId" clId="{84D22F07-7720-4130-9AC9-FADDB0D37658}" dt="2026-08-05T06:54:14.775" v="5622" actId="14100"/>
          <ac:cxnSpMkLst>
            <pc:docMk/>
            <pc:sldMk cId="0" sldId="331"/>
            <ac:cxnSpMk id="83" creationId="{4C8FB7B0-9EEC-6218-2828-B4827275EF6B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SUS\OneDrive\Desktop\test%20(3)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SUS\OneDrive\Desktop\test%20(3)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OneDrive\Desktop\test%20(3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SUS\OneDrive\Desktop\test%20(3)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SUS\OneDrive\Desktop\test%20(3)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SUS\OneDrive\Desktop\test%20(3)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SUS\OneDrive\Desktop\test%20(3)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SUS\OneDrive\Desktop\test%20(3).xlsx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SUS\OneDrive\Desktop\test%20(3).xlsx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SUS\OneDrive\Desktop\test%20(3).xlsx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ASUS\OneDrive\Desktop\test%20(3).xlsx" TargetMode="Externa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OneDrive\Desktop\test%20(3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OneDrive\Desktop\test%20(3)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OneDrive\Desktop\test%20(3)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OneDrive\Desktop\test%20(3)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OneDrive\Desktop\test%20(3)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OneDrive\Desktop\test%20(3)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OneDrive\Desktop\test%20(3)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US\OneDrive\Desktop\test%20(3)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4/chart" xmlns:ns5="https://web.wps.cn/et/2018/main" xmlns:ns6="http://schemas.openxmlformats.org/officeDocument/2006/relationships">
  <c:date1904 val="0"/>
  <c:lang val="en-US"/>
  <c:roundedCorners val="0"/>
  <ns1:AlternateContent>
    <ns1:Choice Requires="c14">
      <ns2:style val="102"/>
    </ns1:Choice>
    <ns1:Fallback>
      <c:style val="2"/>
    </ns1:Fallback>
  </ns1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5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vi-VN" sz="1500">
                <a:solidFill>
                  <a:schemeClr val="accent6"/>
                </a:solidFill>
              </a:rPr>
              <a:t>INDO</a:t>
            </a:r>
          </a:p>
        </c:rich>
      </c:tx>
      <c:layout>
        <c:manualLayout>
          <c:xMode val="edge"/>
          <c:yMode val="edge"/>
          <c:x val="0.50121408336705786"/>
          <c:y val="0.2690228706501151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40671792796438699"/>
          <c:y val="6.1630218687872801E-2"/>
          <c:w val="0.35916632942128701"/>
          <c:h val="0.88220675944334004"/>
        </c:manualLayout>
      </c:layout>
      <c:doughnutChart>
        <c:varyColors val="1"/>
        <c:ser>
          <c:idx val="0"/>
          <c:order val="0"/>
          <c:tx>
            <c:strRef>
              <c:f>'VN-INDO'!$C$16</c:f>
              <c:strCache>
                <c:ptCount val="1"/>
                <c:pt idx="0">
                  <c:v>INDO</c:v>
                </c:pt>
              </c:strCache>
            </c:strRef>
          </c:tx>
          <c:explosion val="1"/>
          <c:dPt>
            <c:idx val="0"/>
            <c:bubble3D val="0"/>
            <c:spPr>
              <a:solidFill>
                <a:schemeClr val="accent5">
                  <a:lumMod val="75000"/>
                </a:schemeClr>
              </a:solidFill>
            </c:spPr>
            <c:extLst>
              <c:ext uri="{C3380CC4-5D6E-409C-BE32-E72D297353CC}">
                <ns4:uniqueId val="{00000001-28F3-4A10-A997-CE577F5541B2}"/>
              </c:ext>
            </c:extLst>
          </c:dPt>
          <c:dPt>
            <c:idx val="1"/>
            <c:bubble3D val="0"/>
            <c:spPr>
              <a:solidFill>
                <a:schemeClr val="accent6">
                  <a:lumMod val="75000"/>
                </a:schemeClr>
              </a:solidFill>
            </c:spPr>
            <c:extLst>
              <c:ext uri="{C3380CC4-5D6E-409C-BE32-E72D297353CC}">
                <ns4:uniqueId val="{00000003-28F3-4A10-A997-CE577F5541B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uri="{CE6537A1-D6FC-4f65-9D91-7224C49458BB}"/>
            </c:extLst>
          </c:dLbls>
          <c:cat>
            <c:strRef>
              <c:f>'VN-INDO'!$D$15:$E$15</c:f>
              <c:strCache>
                <c:ptCount val="2"/>
                <c:pt idx="0">
                  <c:v>JV</c:v>
                </c:pt>
                <c:pt idx="1">
                  <c:v>JV2</c:v>
                </c:pt>
              </c:strCache>
            </c:strRef>
          </c:cat>
          <c:val>
            <c:numRef>
              <c:f>'VN-INDO'!$D$16:$E$16</c:f>
              <c:numCache>
                <c:formatCode>General</c:formatCode>
                <c:ptCount val="2"/>
                <c:pt idx="0">
                  <c:v>99</c:v>
                </c:pt>
                <c:pt idx="1">
                  <c:v>571</c:v>
                </c:pt>
              </c:numCache>
            </c:numRef>
          </c:val>
          <c:extLst>
            <c:ext uri="{C3380CC4-5D6E-409C-BE32-E72D297353CC}">
              <ns4:uniqueId val="{00000004-28F3-4A10-A997-CE577F5541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66"/>
        <c:holeSize val="60"/>
      </c:doughnutChart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vi-VN"/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vi-VN"/>
          </a:p>
        </c:txPr>
      </c:legendEntry>
      <c:layout>
        <c:manualLayout>
          <c:xMode val="edge"/>
          <c:yMode val="edge"/>
          <c:x val="0.77984621610683902"/>
          <c:y val="0.65606361829025805"/>
          <c:w val="0.12161068393363"/>
          <c:h val="0.27833001988071598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vi-VN"/>
        </a:p>
      </c:txPr>
    </c:legend>
    <c:plotVisOnly val="1"/>
    <c:dispBlanksAs val="gap"/>
    <c:showDLblsOverMax val="0"/>
    <c:extLst>
      <c:ext uri="{0b15fc19-7d7d-44ad-8c2d-2c3a37ce22c3}">
        <ns5:chartProps chartId="{44cbb6d3-28c5-47c2-a87c-baf65eaa7aed}"/>
      </c:ext>
    </c:extLst>
  </c:chart>
  <c:spPr>
    <a:noFill/>
    <a:ln w="9525" cap="flat" cmpd="sng" algn="ctr">
      <a:noFill/>
      <a:prstDash val="solid"/>
      <a:round/>
    </a:ln>
    <a:effectLst/>
  </c:spPr>
  <c:txPr>
    <a:bodyPr wrap="square"/>
    <a:lstStyle/>
    <a:p>
      <a:pPr>
        <a:defRPr lang="en-US"/>
      </a:pPr>
      <a:endParaRPr lang="vi-VN"/>
    </a:p>
  </c:txPr>
  <c:externalData ns6:id="rId1">
    <c:autoUpdate val="1"/>
  </c:externalData>
</c:chartSpace>
</file>

<file path=ppt/charts/chart2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4/chart" xmlns:ns5="https://web.wps.cn/et/2018/main" xmlns:ns6="http://schemas.openxmlformats.org/officeDocument/2006/relationships">
  <c:date1904 val="0"/>
  <c:lang val="en-US"/>
  <c:roundedCorners val="0"/>
  <ns1:AlternateContent>
    <ns1:Choice Requires="c14">
      <ns2:style val="102"/>
    </ns1:Choice>
    <ns1:Fallback>
      <c:style val="2"/>
    </ns1:Fallback>
  </ns1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16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vi-VN" sz="1600">
                <a:solidFill>
                  <a:schemeClr val="accent6"/>
                </a:solidFill>
              </a:rPr>
              <a:t>VN</a:t>
            </a:r>
          </a:p>
        </c:rich>
      </c:tx>
      <c:layout>
        <c:manualLayout>
          <c:xMode val="edge"/>
          <c:yMode val="edge"/>
          <c:x val="0.52610279239174418"/>
          <c:y val="0.23621968973560215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40671792796438699"/>
          <c:y val="6.1630218687872801E-2"/>
          <c:w val="0.35916632942128701"/>
          <c:h val="0.88220675944334004"/>
        </c:manualLayout>
      </c:layout>
      <c:doughnutChart>
        <c:varyColors val="1"/>
        <c:ser>
          <c:idx val="0"/>
          <c:order val="0"/>
          <c:tx>
            <c:strRef>
              <c:f>'VN-INDO'!$C$5</c:f>
              <c:strCache>
                <c:ptCount val="1"/>
                <c:pt idx="0">
                  <c:v>VN</c:v>
                </c:pt>
              </c:strCache>
            </c:strRef>
          </c:tx>
          <c:spPr>
            <a:solidFill>
              <a:schemeClr val="tx2">
                <a:lumMod val="75000"/>
              </a:schemeClr>
            </a:solidFill>
            <a:ln>
              <a:noFill/>
            </a:ln>
          </c:spPr>
          <c:explosion val="1"/>
          <c:dPt>
            <c:idx val="0"/>
            <c:bubble3D val="0"/>
            <c:spPr>
              <a:solidFill>
                <a:schemeClr val="tx2">
                  <a:lumMod val="75000"/>
                </a:schemeClr>
              </a:solidFill>
              <a:ln>
                <a:noFill/>
              </a:ln>
              <a:effectLst/>
            </c:spPr>
            <c:extLst>
              <c:ext uri="{C3380CC4-5D6E-409C-BE32-E72D297353CC}">
                <ns4:uniqueId val="{00000001-27A2-458B-A151-15CA7989CA68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uri="{C3380CC4-5D6E-409C-BE32-E72D297353CC}">
                <ns4:uniqueId val="{00000003-27A2-458B-A151-15CA7989CA6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uri="{CE6537A1-D6FC-4f65-9D91-7224C49458BB}"/>
            </c:extLst>
          </c:dLbls>
          <c:cat>
            <c:strRef>
              <c:f>'VN-INDO'!$D$4:$E$4</c:f>
              <c:strCache>
                <c:ptCount val="2"/>
                <c:pt idx="0">
                  <c:v>VH</c:v>
                </c:pt>
                <c:pt idx="1">
                  <c:v>VH2</c:v>
                </c:pt>
              </c:strCache>
            </c:strRef>
          </c:cat>
          <c:val>
            <c:numRef>
              <c:f>'VN-INDO'!$D$5:$E$5</c:f>
              <c:numCache>
                <c:formatCode>General</c:formatCode>
                <c:ptCount val="2"/>
                <c:pt idx="0">
                  <c:v>282</c:v>
                </c:pt>
                <c:pt idx="1">
                  <c:v>23</c:v>
                </c:pt>
              </c:numCache>
            </c:numRef>
          </c:val>
          <c:extLst>
            <c:ext uri="{C3380CC4-5D6E-409C-BE32-E72D297353CC}">
              <ns4:uniqueId val="{00000004-27A2-458B-A151-15CA7989CA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84"/>
        <c:holeSize val="60"/>
      </c:doughnutChart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n-US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vi-VN"/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n-US" sz="9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vi-VN"/>
          </a:p>
        </c:txPr>
      </c:legendEntry>
      <c:layout>
        <c:manualLayout>
          <c:xMode val="edge"/>
          <c:yMode val="edge"/>
          <c:x val="0.24484014569000401"/>
          <c:y val="0.65619858435593303"/>
          <c:w val="0.161270740590854"/>
          <c:h val="0.204741379310345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vi-VN"/>
        </a:p>
      </c:txPr>
    </c:legend>
    <c:plotVisOnly val="1"/>
    <c:dispBlanksAs val="gap"/>
    <c:showDLblsOverMax val="0"/>
    <c:extLst>
      <c:ext uri="{0b15fc19-7d7d-44ad-8c2d-2c3a37ce22c3}">
        <ns5:chartProps chartId="{44cbb6d3-28c5-47c2-a87c-baf65eaa7aed}"/>
      </c:ext>
    </c:extLst>
  </c:chart>
  <c:spPr>
    <a:noFill/>
    <a:ln w="9525" cap="flat" cmpd="sng" algn="ctr">
      <a:noFill/>
      <a:prstDash val="solid"/>
      <a:round/>
    </a:ln>
    <a:effectLst/>
  </c:spPr>
  <c:txPr>
    <a:bodyPr wrap="square"/>
    <a:lstStyle/>
    <a:p>
      <a:pPr>
        <a:defRPr lang="en-US"/>
      </a:pPr>
      <a:endParaRPr lang="vi-VN"/>
    </a:p>
  </c:txPr>
  <c:externalData ns6:id="rId1">
    <c:autoUpdate val="1"/>
  </c:externalData>
</c:chartSpace>
</file>

<file path=ppt/charts/chart3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4/chart" xmlns:ns5="https://web.wps.cn/et/2018/main" xmlns:ns6="http://schemas.openxmlformats.org/officeDocument/2006/relationships">
  <c:date1904 val="0"/>
  <c:lang val="en-US"/>
  <c:roundedCorners val="0"/>
  <ns1:AlternateContent>
    <ns1:Choice Requires="c14">
      <ns2:style val="102"/>
    </ns1:Choice>
    <ns1:Fallback>
      <c:style val="2"/>
    </ns1:Fallback>
  </ns1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n-US" sz="20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vi-VN" sz="2000" dirty="0">
                <a:solidFill>
                  <a:schemeClr val="accent6"/>
                </a:solidFill>
              </a:rPr>
              <a:t>CLG</a:t>
            </a:r>
          </a:p>
        </c:rich>
      </c:tx>
      <c:layout>
        <c:manualLayout>
          <c:xMode val="edge"/>
          <c:yMode val="edge"/>
          <c:x val="0.44391550133888719"/>
          <c:y val="0.24254473161033793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en-US" sz="20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vi-VN"/>
        </a:p>
      </c:txPr>
    </c:title>
    <c:autoTitleDeleted val="0"/>
    <c:plotArea>
      <c:layout>
        <c:manualLayout>
          <c:layoutTarget val="inner"/>
          <c:xMode val="edge"/>
          <c:yMode val="edge"/>
          <c:x val="0.30943171675096698"/>
          <c:y val="1.5519917227108101E-2"/>
          <c:w val="0.55727462064861599"/>
          <c:h val="0.96896016554578401"/>
        </c:manualLayout>
      </c:layout>
      <c:doughnutChart>
        <c:varyColors val="1"/>
        <c:ser>
          <c:idx val="0"/>
          <c:order val="0"/>
          <c:tx>
            <c:strRef>
              <c:f>'VN-INDO'!$O$4</c:f>
              <c:strCache>
                <c:ptCount val="1"/>
                <c:pt idx="0">
                  <c:v>CLG</c:v>
                </c:pt>
              </c:strCache>
            </c:strRef>
          </c:tx>
          <c:spPr>
            <a:ln w="12700" cmpd="sng">
              <a:solidFill>
                <a:schemeClr val="bg1"/>
              </a:solidFill>
              <a:prstDash val="solid"/>
            </a:ln>
            <a:sp3d contourW="12700"/>
          </c:spPr>
          <c:dPt>
            <c:idx val="0"/>
            <c:bubble3D val="0"/>
            <c:spPr>
              <a:solidFill>
                <a:schemeClr val="tx2">
                  <a:lumMod val="75000"/>
                </a:schemeClr>
              </a:solidFill>
              <a:ln w="12700" cmpd="sng">
                <a:solidFill>
                  <a:schemeClr val="bg1"/>
                </a:solidFill>
                <a:prstDash val="solid"/>
              </a:ln>
              <a:effectLst/>
              <a:sp3d contourW="12700"/>
            </c:spPr>
            <c:extLst>
              <c:ext uri="{C3380CC4-5D6E-409C-BE32-E72D297353CC}">
                <ns4:uniqueId val="{00000001-234D-4660-B2E0-AF0B2D465023}"/>
              </c:ext>
            </c:extLst>
          </c:dPt>
          <c:dPt>
            <c:idx val="1"/>
            <c:bubble3D val="0"/>
            <c:spPr>
              <a:solidFill>
                <a:schemeClr val="accent5">
                  <a:lumMod val="75000"/>
                </a:schemeClr>
              </a:solidFill>
              <a:ln w="12700" cmpd="sng">
                <a:solidFill>
                  <a:schemeClr val="bg1"/>
                </a:solidFill>
                <a:prstDash val="solid"/>
              </a:ln>
              <a:effectLst/>
              <a:sp3d contourW="12700"/>
            </c:spPr>
            <c:extLst>
              <c:ext uri="{C3380CC4-5D6E-409C-BE32-E72D297353CC}">
                <ns4:uniqueId val="{00000003-234D-4660-B2E0-AF0B2D46502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shade val="95000"/>
                      <a:satMod val="105000"/>
                    </a:schemeClr>
                  </a:solidFill>
                  <a:prstDash val="solid"/>
                  <a:round/>
                </a:ln>
                <a:effectLst/>
              </c:spPr>
            </c:leaderLines>
            <c:extLst>
              <c:ext uri="{CE6537A1-D6FC-4f65-9D91-7224C49458BB}"/>
            </c:extLst>
          </c:dLbls>
          <c:cat>
            <c:strRef>
              <c:f>'VN-INDO'!$P$3:$Q$3</c:f>
              <c:strCache>
                <c:ptCount val="2"/>
                <c:pt idx="0">
                  <c:v>VN</c:v>
                </c:pt>
                <c:pt idx="1">
                  <c:v>INDO</c:v>
                </c:pt>
              </c:strCache>
            </c:strRef>
          </c:cat>
          <c:val>
            <c:numRef>
              <c:f>'VN-INDO'!$P$4:$Q$4</c:f>
              <c:numCache>
                <c:formatCode>General</c:formatCode>
                <c:ptCount val="2"/>
                <c:pt idx="0">
                  <c:v>305</c:v>
                </c:pt>
                <c:pt idx="1">
                  <c:v>670</c:v>
                </c:pt>
              </c:numCache>
            </c:numRef>
          </c:val>
          <c:extLst>
            <c:ext uri="{C3380CC4-5D6E-409C-BE32-E72D297353CC}">
              <ns4:uniqueId val="{00000004-234D-4660-B2E0-AF0B2D4650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214"/>
        <c:holeSize val="59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ns5:chartProps chartId="{44cbb6d3-28c5-47c2-a87c-baf65eaa7aed}"/>
      </c:ext>
    </c:extLst>
  </c:chart>
  <c:spPr>
    <a:noFill/>
    <a:ln w="9525" cap="flat" cmpd="sng" algn="ctr">
      <a:noFill/>
      <a:prstDash val="solid"/>
      <a:round/>
    </a:ln>
    <a:effectLst/>
  </c:spPr>
  <c:txPr>
    <a:bodyPr wrap="square"/>
    <a:lstStyle/>
    <a:p>
      <a:pPr>
        <a:defRPr lang="en-US"/>
      </a:pPr>
      <a:endParaRPr lang="vi-VN"/>
    </a:p>
  </c:txPr>
  <c:externalData ns6:id="rId3">
    <c:autoUpdate val="1"/>
  </c:externalData>
</c:chartSpace>
</file>

<file path=ppt/charts/chart4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ns6="https://web.wps.cn/et/2018/main" xmlns:ns7="http://schemas.openxmlformats.org/officeDocument/2006/relationships">
  <c:date1904 val="0"/>
  <c:lang val="en-US"/>
  <c:roundedCorners val="0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1.2703397088210101E-2"/>
          <c:y val="1.43215180809166E-2"/>
          <c:w val="0.96353125892092495"/>
          <c:h val="0.8318653777300389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're-vh'!$C$4</c:f>
              <c:strCache>
                <c:ptCount val="1"/>
                <c:pt idx="0">
                  <c:v>Quantity</c:v>
                </c:pt>
              </c:strCache>
            </c:strRef>
          </c:tx>
          <c:spPr>
            <a:solidFill>
              <a:srgbClr val="0070C0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cat>
            <c:strRef>
              <c:f>'re-vh'!$A$5:$A$9</c:f>
              <c:strCache>
                <c:ptCount val="5"/>
                <c:pt idx="0">
                  <c:v>Cleanness</c:v>
                </c:pt>
                <c:pt idx="1">
                  <c:v>Over cement</c:v>
                </c:pt>
                <c:pt idx="2">
                  <c:v>Midsole/Outsole to upper bond gap</c:v>
                </c:pt>
                <c:pt idx="3">
                  <c:v>Sole attachment</c:v>
                </c:pt>
                <c:pt idx="4">
                  <c:v>Heel/Tip height inconsistent</c:v>
                </c:pt>
              </c:strCache>
            </c:strRef>
          </c:cat>
          <c:val>
            <c:numRef>
              <c:f>'re-vh'!$C$5:$C$9</c:f>
              <c:numCache>
                <c:formatCode>General</c:formatCode>
                <c:ptCount val="5"/>
                <c:pt idx="0">
                  <c:v>143</c:v>
                </c:pt>
                <c:pt idx="1">
                  <c:v>121</c:v>
                </c:pt>
                <c:pt idx="2">
                  <c:v>115</c:v>
                </c:pt>
                <c:pt idx="3">
                  <c:v>68</c:v>
                </c:pt>
                <c:pt idx="4">
                  <c:v>53</c:v>
                </c:pt>
              </c:numCache>
            </c:numRef>
          </c:val>
          <c:extLst>
            <c:ext uri="{C3380CC4-5D6E-409C-BE32-E72D297353CC}">
              <ns5:uniqueId val="{00000000-763F-4FB3-811F-765D98F3B394}"/>
            </c:ext>
          </c:extLst>
        </c:ser>
        <c:ser>
          <c:idx val="1"/>
          <c:order val="1"/>
          <c:tx>
            <c:strRef>
              <c:f>'re-vh'!$D$4</c:f>
              <c:strCache>
                <c:ptCount val="1"/>
                <c:pt idx="0">
                  <c:v>% Defect</c:v>
                </c:pt>
              </c:strCache>
            </c:strRef>
          </c:tx>
          <c:spPr>
            <a:noFill/>
          </c:spPr>
          <c:invertIfNegative val="0"/>
          <c:dLbls>
            <c:dLbl>
              <c:idx val="0"/>
              <c:layout>
                <c:manualLayout>
                  <c:x val="-3.3161996352180402E-3"/>
                  <c:y val="3.5415222543676503E-2"/>
                </c:manualLayout>
              </c:layout>
              <c:tx>
                <c:rich>
                  <a:bodyPr/>
                  <a:lstStyle/>
                  <a:p>
                    <a:r>
                      <a:rPr lang="en-US" sz="900" b="1" dirty="0"/>
                      <a:t>Cleanness, </a:t>
                    </a:r>
                    <a:r>
                      <a:rPr lang="en-US" sz="900" b="1" dirty="0">
                        <a:solidFill>
                          <a:srgbClr val="00B050"/>
                        </a:solidFill>
                      </a:rPr>
                      <a:t>15.38%</a:t>
                    </a: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uri="{CE6537A1-D6FC-4f65-9D91-7224C49458BB}">
                  <ns4:layout>
                    <c:manualLayout>
                      <c:w val="0.97048582324655941"/>
                      <c:h val="9.5295099182712867E-2"/>
                    </c:manualLayout>
                  </ns4:layout>
                  <ns4:showDataLabelsRange val="0"/>
                </c:ext>
                <c:ext uri="{C3380CC4-5D6E-409C-BE32-E72D297353CC}">
                  <ns5:uniqueId val="{00000001-763F-4FB3-811F-765D98F3B394}"/>
                </c:ext>
              </c:extLst>
            </c:dLbl>
            <c:dLbl>
              <c:idx val="1"/>
              <c:layout>
                <c:manualLayout>
                  <c:x val="0.65136854180939041"/>
                  <c:y val="6.4861772195420594E-2"/>
                </c:manualLayout>
              </c:layout>
              <c:tx>
                <c:rich>
                  <a:bodyPr rot="0" spcFirstLastPara="0" vertOverflow="ellipsis" vert="horz" wrap="square" lIns="38100" tIns="19050" rIns="38100" bIns="19050" anchor="ctr" anchorCtr="0"/>
                  <a:lstStyle/>
                  <a:p>
                    <a:pPr algn="r">
                      <a:lnSpc>
                        <a:spcPts val="800"/>
                      </a:lnSpc>
                      <a:spcBef>
                        <a:spcPts val="1200"/>
                      </a:spcBef>
                      <a:defRPr lang="en-US" sz="900" b="1" i="0" u="none" strike="noStrike" kern="1200" baseline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sz="900" b="1" i="0" u="none" strike="noStrike" kern="1200" baseline="0" dirty="0">
                        <a:solidFill>
                          <a:prstClr val="black"/>
                        </a:solidFill>
                      </a:rPr>
                      <a:t>Over cement, </a:t>
                    </a:r>
                    <a:r>
                      <a:rPr lang="en-US" sz="900" b="1" i="0" u="none" strike="noStrike" kern="1200" baseline="0" dirty="0">
                        <a:solidFill>
                          <a:srgbClr val="00B050"/>
                        </a:solidFill>
                      </a:rPr>
                      <a:t>13.01%</a:t>
                    </a:r>
                    <a:endParaRPr lang="en-US" sz="900" b="1" dirty="0">
                      <a:solidFill>
                        <a:srgbClr val="00B050"/>
                      </a:solidFill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uri="{CE6537A1-D6FC-4f65-9D91-7224C49458BB}">
                  <ns4:layout>
                    <c:manualLayout>
                      <c:w val="0.31443475232283519"/>
                      <c:h val="0.2720700683707421"/>
                    </c:manualLayout>
                  </ns4:layout>
                  <ns4:showDataLabelsRange val="0"/>
                </c:ext>
                <c:ext uri="{C3380CC4-5D6E-409C-BE32-E72D297353CC}">
                  <ns5:uniqueId val="{00000002-763F-4FB3-811F-765D98F3B394}"/>
                </c:ext>
              </c:extLst>
            </c:dLbl>
            <c:dLbl>
              <c:idx val="2"/>
              <c:layout>
                <c:manualLayout>
                  <c:x val="0.41480700207869359"/>
                  <c:y val="5.2621117211591149E-2"/>
                </c:manualLayout>
              </c:layout>
              <c:tx>
                <c:rich>
                  <a:bodyPr/>
                  <a:lstStyle/>
                  <a:p>
                    <a:r>
                      <a:rPr lang="en-US" sz="900" b="1" i="0" u="none" strike="noStrike" kern="1200" baseline="0" dirty="0">
                        <a:solidFill>
                          <a:prstClr val="black"/>
                        </a:solidFill>
                      </a:rPr>
                      <a:t>Midsole/Outsole to upper bond gap, </a:t>
                    </a:r>
                    <a:r>
                      <a:rPr lang="en-US" sz="900" b="1" dirty="0">
                        <a:solidFill>
                          <a:srgbClr val="00B050"/>
                        </a:solidFill>
                      </a:rPr>
                      <a:t>12.37%</a:t>
                    </a: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uri="{CE6537A1-D6FC-4f65-9D91-7224C49458BB}">
                  <ns4:layout>
                    <c:manualLayout>
                      <c:w val="0.55248660536902383"/>
                      <c:h val="0.15883483218904565"/>
                    </c:manualLayout>
                  </ns4:layout>
                  <ns4:showDataLabelsRange val="0"/>
                </c:ext>
                <c:ext uri="{C3380CC4-5D6E-409C-BE32-E72D297353CC}">
                  <ns5:uniqueId val="{00000003-763F-4FB3-811F-765D98F3B394}"/>
                </c:ext>
              </c:extLst>
            </c:dLbl>
            <c:dLbl>
              <c:idx val="3"/>
              <c:layout>
                <c:manualLayout>
                  <c:x val="0.38370604074446191"/>
                  <c:y val="3.8916973779874117E-2"/>
                </c:manualLayout>
              </c:layout>
              <c:tx>
                <c:rich>
                  <a:bodyPr/>
                  <a:lstStyle/>
                  <a:p>
                    <a:r>
                      <a:rPr lang="en-US" sz="900" b="1" dirty="0"/>
                      <a:t> </a:t>
                    </a:r>
                    <a:r>
                      <a:rPr lang="en-US" sz="900" b="1" i="0" u="none" strike="noStrike" kern="1200" baseline="0" dirty="0">
                        <a:solidFill>
                          <a:prstClr val="black"/>
                        </a:solidFill>
                      </a:rPr>
                      <a:t>Sole attachment</a:t>
                    </a:r>
                    <a:r>
                      <a:rPr lang="en-US" sz="900" b="1" dirty="0"/>
                      <a:t>, </a:t>
                    </a:r>
                    <a:r>
                      <a:rPr lang="en-US" sz="900" b="1" dirty="0">
                        <a:solidFill>
                          <a:srgbClr val="00B050"/>
                        </a:solidFill>
                      </a:rPr>
                      <a:t>7.31%</a:t>
                    </a: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uri="{CE6537A1-D6FC-4f65-9D91-7224C49458BB}">
                  <ns4:layout>
                    <c:manualLayout>
                      <c:w val="0.57867683634554801"/>
                      <c:h val="0.161337924249877"/>
                    </c:manualLayout>
                  </ns4:layout>
                  <ns4:showDataLabelsRange val="0"/>
                </c:ext>
                <c:ext uri="{C3380CC4-5D6E-409C-BE32-E72D297353CC}">
                  <ns5:uniqueId val="{00000004-763F-4FB3-811F-765D98F3B394}"/>
                </c:ext>
              </c:extLst>
            </c:dLbl>
            <c:dLbl>
              <c:idx val="4"/>
              <c:layout>
                <c:manualLayout>
                  <c:x val="0.38041562165034459"/>
                  <c:y val="5.650197784317551E-2"/>
                </c:manualLayout>
              </c:layout>
              <c:tx>
                <c:rich>
                  <a:bodyPr/>
                  <a:lstStyle/>
                  <a:p>
                    <a:r>
                      <a:rPr lang="en-US" sz="900" b="1" i="0" u="none" strike="noStrike" kern="1200" baseline="0" dirty="0">
                        <a:solidFill>
                          <a:prstClr val="black"/>
                        </a:solidFill>
                      </a:rPr>
                      <a:t>Heel/Tip height inconsistent</a:t>
                    </a:r>
                    <a:r>
                      <a:rPr lang="en-US" sz="900" b="1" dirty="0"/>
                      <a:t>, </a:t>
                    </a:r>
                    <a:r>
                      <a:rPr lang="en-US" sz="900" b="1" dirty="0">
                        <a:solidFill>
                          <a:srgbClr val="00B050"/>
                        </a:solidFill>
                      </a:rPr>
                      <a:t>5.7%</a:t>
                    </a: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uri="{CE6537A1-D6FC-4f65-9D91-7224C49458BB}">
                  <ns4:layout>
                    <c:manualLayout>
                      <c:w val="0.57867683634554801"/>
                      <c:h val="0.11362518445646801"/>
                    </c:manualLayout>
                  </ns4:layout>
                  <ns4:showDataLabelsRange val="0"/>
                </c:ext>
                <c:ext uri="{C3380CC4-5D6E-409C-BE32-E72D297353CC}">
                  <ns5:uniqueId val="{00000005-763F-4FB3-811F-765D98F3B39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0"/>
              <a:lstStyle/>
              <a:p>
                <a:pPr algn="r"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0"/>
              </c:ext>
            </c:extLst>
          </c:dLbls>
          <c:cat>
            <c:strRef>
              <c:f>'re-vh'!$A$5:$A$9</c:f>
              <c:strCache>
                <c:ptCount val="5"/>
                <c:pt idx="0">
                  <c:v>Cleanness</c:v>
                </c:pt>
                <c:pt idx="1">
                  <c:v>Over cement</c:v>
                </c:pt>
                <c:pt idx="2">
                  <c:v>Midsole/Outsole to upper bond gap</c:v>
                </c:pt>
                <c:pt idx="3">
                  <c:v>Sole attachment</c:v>
                </c:pt>
                <c:pt idx="4">
                  <c:v>Heel/Tip height inconsistent</c:v>
                </c:pt>
              </c:strCache>
            </c:strRef>
          </c:cat>
          <c:val>
            <c:numRef>
              <c:f>'re-vh'!$D$5:$D$9</c:f>
              <c:numCache>
                <c:formatCode>0.00%</c:formatCode>
                <c:ptCount val="5"/>
                <c:pt idx="0">
                  <c:v>0.15376344086021507</c:v>
                </c:pt>
                <c:pt idx="1">
                  <c:v>0.13010752688172042</c:v>
                </c:pt>
                <c:pt idx="2">
                  <c:v>0.12365591397849462</c:v>
                </c:pt>
                <c:pt idx="3">
                  <c:v>7.3118279569892475E-2</c:v>
                </c:pt>
                <c:pt idx="4">
                  <c:v>5.6989247311827959E-2</c:v>
                </c:pt>
              </c:numCache>
            </c:numRef>
          </c:val>
          <c:extLst>
            <c:ext uri="{C3380CC4-5D6E-409C-BE32-E72D297353CC}">
              <ns5:uniqueId val="{00000006-763F-4FB3-811F-765D98F3B39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4"/>
        <c:overlap val="40"/>
        <c:axId val="366460779"/>
        <c:axId val="98868821"/>
      </c:barChart>
      <c:catAx>
        <c:axId val="366460779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98868821"/>
        <c:crosses val="autoZero"/>
        <c:auto val="1"/>
        <c:lblAlgn val="ctr"/>
        <c:lblOffset val="100"/>
        <c:noMultiLvlLbl val="0"/>
      </c:catAx>
      <c:valAx>
        <c:axId val="98868821"/>
        <c:scaling>
          <c:orientation val="minMax"/>
          <c:max val="255"/>
          <c:min val="0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2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vi-VN"/>
          </a:p>
        </c:txPr>
        <c:crossAx val="366460779"/>
        <c:crosses val="autoZero"/>
        <c:crossBetween val="between"/>
        <c:majorUnit val="100"/>
      </c:valAx>
      <c:spPr>
        <a:gradFill>
          <a:gsLst>
            <a:gs pos="21000">
              <a:srgbClr val="D9D9D9"/>
            </a:gs>
            <a:gs pos="50000">
              <a:schemeClr val="bg1">
                <a:lumMod val="95000"/>
              </a:schemeClr>
            </a:gs>
            <a:gs pos="100000">
              <a:schemeClr val="bg1"/>
            </a:gs>
            <a:gs pos="0">
              <a:schemeClr val="bg1">
                <a:lumMod val="75000"/>
              </a:schemeClr>
            </a:gs>
          </a:gsLst>
          <a:lin ang="21594000" scaled="0"/>
        </a:gradFill>
        <a:ln>
          <a:noFill/>
        </a:ln>
        <a:effectLst/>
      </c:spPr>
    </c:plotArea>
    <c:legend>
      <c:legendPos val="r"/>
      <c:legendEntry>
        <c:idx val="0"/>
        <c:delete val="1"/>
      </c:legendEntry>
      <c:layout>
        <c:manualLayout>
          <c:xMode val="edge"/>
          <c:yMode val="edge"/>
          <c:x val="0.29381528768031828"/>
          <c:y val="1.4756826983342953E-2"/>
          <c:w val="0.21057867683634601"/>
          <c:h val="0.11362518445646801"/>
        </c:manualLayout>
      </c:layout>
      <c:overlay val="0"/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vi-VN"/>
        </a:p>
      </c:txPr>
    </c:legend>
    <c:plotVisOnly val="1"/>
    <c:dispBlanksAs val="gap"/>
    <c:showDLblsOverMax val="0"/>
    <c:extLst>
      <c:ext uri="{0b15fc19-7d7d-44ad-8c2d-2c3a37ce22c3}">
        <ns6:chartProps chartId="{ee313c46-7f0e-40ab-85a9-bfece0767e9f}"/>
      </c:ext>
    </c:extLst>
  </c:chart>
  <c:spPr>
    <a:noFill/>
    <a:ln w="9525" cap="flat" cmpd="sng" algn="ctr">
      <a:noFill/>
      <a:prstDash val="solid"/>
      <a:round/>
    </a:ln>
    <a:effectLst/>
  </c:spPr>
  <c:txPr>
    <a:bodyPr wrap="square"/>
    <a:lstStyle/>
    <a:p>
      <a:pPr>
        <a:defRPr lang="en-US"/>
      </a:pPr>
      <a:endParaRPr lang="vi-VN"/>
    </a:p>
  </c:txPr>
  <c:externalData ns7:id="rId1">
    <c:autoUpdate val="1"/>
  </c:externalData>
</c:chartSpace>
</file>

<file path=ppt/charts/chart5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ns6="https://web.wps.cn/et/2018/main" xmlns:ns7="http://schemas.openxmlformats.org/officeDocument/2006/relationships">
  <c:date1904 val="0"/>
  <c:lang val="en-US"/>
  <c:roundedCorners val="0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1.3274336283185801E-2"/>
          <c:y val="1.07411385606874E-2"/>
          <c:w val="0.94775906365971996"/>
          <c:h val="0.7699248120300750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're-vh2'!$C$4</c:f>
              <c:strCache>
                <c:ptCount val="1"/>
                <c:pt idx="0">
                  <c:v>Quantity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cat>
            <c:strRef>
              <c:f>'re-vh2'!$A$5:$A$9</c:f>
              <c:strCache>
                <c:ptCount val="5"/>
                <c:pt idx="0">
                  <c:v>Cleanness</c:v>
                </c:pt>
                <c:pt idx="1">
                  <c:v>Airbag quality/stain</c:v>
                </c:pt>
                <c:pt idx="2">
                  <c:v>Midsole/Outsole to upper bond gap</c:v>
                </c:pt>
                <c:pt idx="3">
                  <c:v>Others</c:v>
                </c:pt>
                <c:pt idx="4">
                  <c:v>Thread end</c:v>
                </c:pt>
              </c:strCache>
            </c:strRef>
          </c:cat>
          <c:val>
            <c:numRef>
              <c:f>'re-vh2'!$C$5:$C$9</c:f>
              <c:numCache>
                <c:formatCode>General</c:formatCode>
                <c:ptCount val="5"/>
                <c:pt idx="0">
                  <c:v>49</c:v>
                </c:pt>
                <c:pt idx="1">
                  <c:v>27</c:v>
                </c:pt>
                <c:pt idx="2">
                  <c:v>23</c:v>
                </c:pt>
                <c:pt idx="3">
                  <c:v>19</c:v>
                </c:pt>
                <c:pt idx="4">
                  <c:v>17</c:v>
                </c:pt>
              </c:numCache>
            </c:numRef>
          </c:val>
          <c:extLst>
            <c:ext uri="{C3380CC4-5D6E-409C-BE32-E72D297353CC}">
              <ns5:uniqueId val="{00000000-A1A1-41A2-A9FF-CB3BF2516A6B}"/>
            </c:ext>
          </c:extLst>
        </c:ser>
        <c:ser>
          <c:idx val="1"/>
          <c:order val="1"/>
          <c:tx>
            <c:strRef>
              <c:f>'re-vh2'!$D$4</c:f>
              <c:strCache>
                <c:ptCount val="1"/>
                <c:pt idx="0">
                  <c:v>% Defect</c:v>
                </c:pt>
              </c:strCache>
            </c:strRef>
          </c:tx>
          <c:spPr>
            <a:noFill/>
          </c:spPr>
          <c:invertIfNegative val="0"/>
          <c:dLbls>
            <c:dLbl>
              <c:idx val="0"/>
              <c:layout>
                <c:manualLayout>
                  <c:x val="0.37543626945816749"/>
                  <c:y val="1.4748450740781882E-2"/>
                </c:manualLayout>
              </c:layout>
              <c:tx>
                <c:rich>
                  <a:bodyPr/>
                  <a:lstStyle/>
                  <a:p>
                    <a:r>
                      <a:rPr lang="en-US" sz="900" b="1" i="0" u="none" strike="noStrike" kern="1200" baseline="0" dirty="0">
                        <a:solidFill>
                          <a:schemeClr val="tx1"/>
                        </a:solidFill>
                      </a:rPr>
                      <a:t>Cleanness</a:t>
                    </a:r>
                    <a:r>
                      <a:rPr lang="en-US" sz="900" dirty="0">
                        <a:solidFill>
                          <a:schemeClr val="tx1"/>
                        </a:solidFill>
                      </a:rPr>
                      <a:t>, </a:t>
                    </a:r>
                    <a:r>
                      <a:rPr lang="en-US" sz="900" dirty="0">
                        <a:solidFill>
                          <a:srgbClr val="00B050"/>
                        </a:solidFill>
                      </a:rPr>
                      <a:t>27.53%</a:t>
                    </a: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uri="{CE6537A1-D6FC-4f65-9D91-7224C49458BB}">
                  <ns4:layout>
                    <c:manualLayout>
                      <c:w val="0.58986484242375181"/>
                      <c:h val="0.35362227067604124"/>
                    </c:manualLayout>
                  </ns4:layout>
                  <ns4:showDataLabelsRange val="0"/>
                </c:ext>
                <c:ext uri="{C3380CC4-5D6E-409C-BE32-E72D297353CC}">
                  <ns5:uniqueId val="{00000001-A1A1-41A2-A9FF-CB3BF2516A6B}"/>
                </c:ext>
              </c:extLst>
            </c:dLbl>
            <c:dLbl>
              <c:idx val="1"/>
              <c:layout>
                <c:manualLayout>
                  <c:x val="-1.1694664473059469E-7"/>
                  <c:y val="3.0783157092537691E-2"/>
                </c:manualLayout>
              </c:layout>
              <c:tx>
                <c:rich>
                  <a:bodyPr/>
                  <a:lstStyle/>
                  <a:p>
                    <a:r>
                      <a:rPr lang="en-US" sz="900" b="1" i="0" u="none" strike="noStrike" kern="1200" baseline="0" dirty="0">
                        <a:solidFill>
                          <a:schemeClr val="tx1"/>
                        </a:solidFill>
                      </a:rPr>
                      <a:t> Airbag quality/stain</a:t>
                    </a:r>
                    <a:r>
                      <a:rPr lang="en-US" sz="900" dirty="0">
                        <a:solidFill>
                          <a:schemeClr val="tx1"/>
                        </a:solidFill>
                      </a:rPr>
                      <a:t>, </a:t>
                    </a:r>
                    <a:r>
                      <a:rPr lang="en-US" sz="900" dirty="0">
                        <a:solidFill>
                          <a:srgbClr val="00B050"/>
                        </a:solidFill>
                      </a:rPr>
                      <a:t>15.17%</a:t>
                    </a: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uri="{CE6537A1-D6FC-4f65-9D91-7224C49458BB}">
                  <ns4:layout>
                    <c:manualLayout>
                      <c:w val="0.965843143757254"/>
                      <c:h val="0.16379734382685701"/>
                    </c:manualLayout>
                  </ns4:layout>
                  <ns4:showDataLabelsRange val="0"/>
                </c:ext>
                <c:ext uri="{C3380CC4-5D6E-409C-BE32-E72D297353CC}">
                  <ns5:uniqueId val="{00000002-A1A1-41A2-A9FF-CB3BF2516A6B}"/>
                </c:ext>
              </c:extLst>
            </c:dLbl>
            <c:dLbl>
              <c:idx val="2"/>
              <c:layout>
                <c:manualLayout>
                  <c:x val="1.2150756387508789E-4"/>
                  <c:y val="3.1016017678996619E-2"/>
                </c:manualLayout>
              </c:layout>
              <c:tx>
                <c:rich>
                  <a:bodyPr/>
                  <a:lstStyle/>
                  <a:p>
                    <a:r>
                      <a:rPr lang="en-US" sz="900" b="1" i="0" u="none" strike="noStrike" kern="1200" baseline="0" dirty="0">
                        <a:solidFill>
                          <a:schemeClr val="tx1"/>
                        </a:solidFill>
                      </a:rPr>
                      <a:t>Midsole/Outsole to upper bond gap</a:t>
                    </a:r>
                    <a:r>
                      <a:rPr lang="en-US" sz="900" dirty="0">
                        <a:solidFill>
                          <a:schemeClr val="tx1"/>
                        </a:solidFill>
                      </a:rPr>
                      <a:t>, </a:t>
                    </a:r>
                    <a:r>
                      <a:rPr lang="en-US" sz="900" dirty="0">
                        <a:solidFill>
                          <a:srgbClr val="00B050"/>
                        </a:solidFill>
                      </a:rPr>
                      <a:t>12.92%</a:t>
                    </a: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uri="{CE6537A1-D6FC-4f65-9D91-7224C49458BB}">
                  <ns4:layout>
                    <c:manualLayout>
                      <c:w val="0.965843143757254"/>
                      <c:h val="0.13280865715691101"/>
                    </c:manualLayout>
                  </ns4:layout>
                  <ns4:showDataLabelsRange val="0"/>
                </c:ext>
                <c:ext uri="{C3380CC4-5D6E-409C-BE32-E72D297353CC}">
                  <ns5:uniqueId val="{00000003-A1A1-41A2-A9FF-CB3BF2516A6B}"/>
                </c:ext>
              </c:extLst>
            </c:dLbl>
            <c:dLbl>
              <c:idx val="3"/>
              <c:layout>
                <c:manualLayout>
                  <c:x val="2.6814696170278057E-3"/>
                  <c:y val="2.337763820459883E-2"/>
                </c:manualLayout>
              </c:layout>
              <c:tx>
                <c:rich>
                  <a:bodyPr/>
                  <a:lstStyle/>
                  <a:p>
                    <a:r>
                      <a:rPr lang="en-US" sz="900" b="1" i="0" u="none" strike="noStrike" kern="1200" baseline="0" dirty="0">
                        <a:solidFill>
                          <a:schemeClr val="tx1"/>
                        </a:solidFill>
                      </a:rPr>
                      <a:t>Others</a:t>
                    </a:r>
                    <a:r>
                      <a:rPr lang="en-US" sz="900" dirty="0">
                        <a:solidFill>
                          <a:schemeClr val="tx1"/>
                        </a:solidFill>
                      </a:rPr>
                      <a:t>, </a:t>
                    </a:r>
                    <a:r>
                      <a:rPr lang="en-US" sz="900" dirty="0">
                        <a:solidFill>
                          <a:srgbClr val="00B050"/>
                        </a:solidFill>
                      </a:rPr>
                      <a:t>10.67%</a:t>
                    </a: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uri="{CE6537A1-D6FC-4f65-9D91-7224C49458BB}">
                  <ns4:layout>
                    <c:manualLayout>
                      <c:w val="0.96451675073571119"/>
                      <c:h val="0.12609999015174592"/>
                    </c:manualLayout>
                  </ns4:layout>
                  <ns4:showDataLabelsRange val="0"/>
                </c:ext>
                <c:ext uri="{C3380CC4-5D6E-409C-BE32-E72D297353CC}">
                  <ns5:uniqueId val="{00000004-A1A1-41A2-A9FF-CB3BF2516A6B}"/>
                </c:ext>
              </c:extLst>
            </c:dLbl>
            <c:dLbl>
              <c:idx val="4"/>
              <c:layout>
                <c:manualLayout>
                  <c:x val="0.25357393647677723"/>
                  <c:y val="-5.844476837962076E-3"/>
                </c:manualLayout>
              </c:layout>
              <c:tx>
                <c:rich>
                  <a:bodyPr/>
                  <a:lstStyle/>
                  <a:p>
                    <a:r>
                      <a:rPr lang="en-US" sz="900" b="1" i="0" u="none" strike="noStrike" kern="1200" baseline="0" dirty="0">
                        <a:solidFill>
                          <a:schemeClr val="tx1"/>
                        </a:solidFill>
                      </a:rPr>
                      <a:t> </a:t>
                    </a:r>
                    <a:r>
                      <a:rPr lang="en-US" sz="900" b="1" i="0" u="none" strike="noStrike" kern="1200" baseline="0" dirty="0">
                        <a:solidFill>
                          <a:prstClr val="black"/>
                        </a:solidFill>
                      </a:rPr>
                      <a:t>Thread end</a:t>
                    </a:r>
                    <a:r>
                      <a:rPr lang="en-US" sz="900" dirty="0">
                        <a:solidFill>
                          <a:schemeClr val="tx1"/>
                        </a:solidFill>
                      </a:rPr>
                      <a:t>,</a:t>
                    </a:r>
                    <a:r>
                      <a:rPr lang="en-US" sz="900" dirty="0">
                        <a:solidFill>
                          <a:srgbClr val="00B050"/>
                        </a:solidFill>
                      </a:rPr>
                      <a:t> 9.55%</a:t>
                    </a: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uri="{CE6537A1-D6FC-4f65-9D91-7224C49458BB}">
                  <ns4:layout>
                    <c:manualLayout>
                      <c:w val="0.71265133480561349"/>
                      <c:h val="0.16391360412043585"/>
                    </c:manualLayout>
                  </ns4:layout>
                  <ns4:showDataLabelsRange val="0"/>
                </c:ext>
                <c:ext uri="{C3380CC4-5D6E-409C-BE32-E72D297353CC}">
                  <ns5:uniqueId val="{00000005-A1A1-41A2-A9FF-CB3BF2516A6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0"/>
              <a:lstStyle/>
              <a:p>
                <a:pPr algn="r"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0"/>
              </c:ext>
            </c:extLst>
          </c:dLbls>
          <c:cat>
            <c:strRef>
              <c:f>'re-vh2'!$A$5:$A$9</c:f>
              <c:strCache>
                <c:ptCount val="5"/>
                <c:pt idx="0">
                  <c:v>Cleanness</c:v>
                </c:pt>
                <c:pt idx="1">
                  <c:v>Airbag quality/stain</c:v>
                </c:pt>
                <c:pt idx="2">
                  <c:v>Midsole/Outsole to upper bond gap</c:v>
                </c:pt>
                <c:pt idx="3">
                  <c:v>Others</c:v>
                </c:pt>
                <c:pt idx="4">
                  <c:v>Thread end</c:v>
                </c:pt>
              </c:strCache>
            </c:strRef>
          </c:cat>
          <c:val>
            <c:numRef>
              <c:f>'re-vh2'!$D$5:$D$9</c:f>
              <c:numCache>
                <c:formatCode>0.00%</c:formatCode>
                <c:ptCount val="5"/>
                <c:pt idx="0">
                  <c:v>0.2752808988764045</c:v>
                </c:pt>
                <c:pt idx="1">
                  <c:v>0.15168539325842698</c:v>
                </c:pt>
                <c:pt idx="2">
                  <c:v>0.12921348314606743</c:v>
                </c:pt>
                <c:pt idx="3">
                  <c:v>0.10674157303370786</c:v>
                </c:pt>
                <c:pt idx="4">
                  <c:v>9.5505617977528087E-2</c:v>
                </c:pt>
              </c:numCache>
            </c:numRef>
          </c:val>
          <c:extLst>
            <c:ext uri="{C3380CC4-5D6E-409C-BE32-E72D297353CC}">
              <ns5:uniqueId val="{00000006-A1A1-41A2-A9FF-CB3BF2516A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4"/>
        <c:overlap val="40"/>
        <c:axId val="680829220"/>
        <c:axId val="857071183"/>
      </c:barChart>
      <c:catAx>
        <c:axId val="680829220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857071183"/>
        <c:crosses val="autoZero"/>
        <c:auto val="1"/>
        <c:lblAlgn val="ctr"/>
        <c:lblOffset val="100"/>
        <c:noMultiLvlLbl val="0"/>
      </c:catAx>
      <c:valAx>
        <c:axId val="857071183"/>
        <c:scaling>
          <c:orientation val="minMax"/>
          <c:max val="92"/>
          <c:min val="0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2">
                <a:lumMod val="50000"/>
              </a:scheme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7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vi-VN"/>
          </a:p>
        </c:txPr>
        <c:crossAx val="680829220"/>
        <c:crosses val="autoZero"/>
        <c:crossBetween val="between"/>
        <c:majorUnit val="50"/>
      </c:valAx>
      <c:spPr>
        <a:gradFill>
          <a:gsLst>
            <a:gs pos="21000">
              <a:srgbClr val="DBDBDB"/>
            </a:gs>
            <a:gs pos="50000">
              <a:schemeClr val="bg1">
                <a:lumMod val="95000"/>
              </a:schemeClr>
            </a:gs>
            <a:gs pos="100000">
              <a:schemeClr val="bg1"/>
            </a:gs>
            <a:gs pos="0">
              <a:srgbClr val="C9C9C9"/>
            </a:gs>
          </a:gsLst>
          <a:lin ang="21594000" scaled="0"/>
        </a:gra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ns6:chartProps chartId="{6667f17f-08cb-4cbf-8b7c-5f50dfd3fc79}"/>
      </c:ext>
    </c:extLst>
  </c:chart>
  <c:spPr>
    <a:noFill/>
    <a:ln w="9525" cap="flat" cmpd="sng" algn="ctr">
      <a:noFill/>
      <a:prstDash val="solid"/>
      <a:round/>
    </a:ln>
    <a:effectLst/>
  </c:spPr>
  <c:txPr>
    <a:bodyPr wrap="square"/>
    <a:lstStyle/>
    <a:p>
      <a:pPr>
        <a:defRPr lang="en-US" b="1">
          <a:solidFill>
            <a:schemeClr val="bg1"/>
          </a:solidFill>
        </a:defRPr>
      </a:pPr>
      <a:endParaRPr lang="vi-VN"/>
    </a:p>
  </c:txPr>
  <c:externalData ns7:id="rId1">
    <c:autoUpdate val="1"/>
  </c:externalData>
</c:chartSpace>
</file>

<file path=ppt/charts/chart6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ns6="https://web.wps.cn/et/2018/main" xmlns:ns7="http://schemas.openxmlformats.org/officeDocument/2006/relationships">
  <c:date1904 val="0"/>
  <c:lang val="en-US"/>
  <c:roundedCorners val="0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2.9117898943762498E-2"/>
          <c:y val="1.07104605498036E-2"/>
          <c:w val="0.94711675706537302"/>
          <c:h val="0.8416279900035700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'RE-JV'!$C$5</c:f>
              <c:strCache>
                <c:ptCount val="1"/>
                <c:pt idx="0">
                  <c:v>Quantity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cat>
            <c:strRef>
              <c:f>'RE-JV'!$A$6:$A$10</c:f>
              <c:strCache>
                <c:ptCount val="5"/>
                <c:pt idx="0">
                  <c:v>Midsole/Outsole to upper bond gap</c:v>
                </c:pt>
                <c:pt idx="1">
                  <c:v>Over cement</c:v>
                </c:pt>
                <c:pt idx="2">
                  <c:v>Cleanness</c:v>
                </c:pt>
                <c:pt idx="3">
                  <c:v>Thread end</c:v>
                </c:pt>
                <c:pt idx="4">
                  <c:v>Sockliner position</c:v>
                </c:pt>
              </c:strCache>
            </c:strRef>
          </c:cat>
          <c:val>
            <c:numRef>
              <c:f>'RE-JV'!$C$6:$C$10</c:f>
              <c:numCache>
                <c:formatCode>General</c:formatCode>
                <c:ptCount val="5"/>
                <c:pt idx="0">
                  <c:v>392</c:v>
                </c:pt>
                <c:pt idx="1">
                  <c:v>320</c:v>
                </c:pt>
                <c:pt idx="2">
                  <c:v>233</c:v>
                </c:pt>
                <c:pt idx="3">
                  <c:v>195</c:v>
                </c:pt>
                <c:pt idx="4">
                  <c:v>80</c:v>
                </c:pt>
              </c:numCache>
            </c:numRef>
          </c:val>
          <c:extLst>
            <c:ext uri="{C3380CC4-5D6E-409C-BE32-E72D297353CC}">
              <ns5:uniqueId val="{00000000-F975-4A7F-AB1F-4337D9DA9491}"/>
            </c:ext>
          </c:extLst>
        </c:ser>
        <c:ser>
          <c:idx val="1"/>
          <c:order val="1"/>
          <c:tx>
            <c:strRef>
              <c:f>'RE-JV'!$D$5</c:f>
              <c:strCache>
                <c:ptCount val="1"/>
                <c:pt idx="0">
                  <c:v>% Defect</c:v>
                </c:pt>
              </c:strCache>
            </c:strRef>
          </c:tx>
          <c:spPr>
            <a:noFill/>
          </c:spPr>
          <c:invertIfNegative val="0"/>
          <c:dLbls>
            <c:dLbl>
              <c:idx val="0"/>
              <c:layout>
                <c:manualLayout>
                  <c:x val="0.43754833831793633"/>
                  <c:y val="3.5286241840586596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Midsole/Outsole to upper bond gap, </a:t>
                    </a:r>
                    <a:r>
                      <a:rPr lang="en-US" dirty="0">
                        <a:solidFill>
                          <a:srgbClr val="00B050"/>
                        </a:solidFill>
                      </a:rPr>
                      <a:t>24.59%</a:t>
                    </a: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uri="{CE6537A1-D6FC-4f65-9D91-7224C49458BB}">
                  <ns4:layout>
                    <c:manualLayout>
                      <c:w val="0.52758749452310238"/>
                      <c:h val="0.15514491081534393"/>
                    </c:manualLayout>
                  </ns4:layout>
                  <ns4:showDataLabelsRange val="0"/>
                </c:ext>
                <c:ext uri="{C3380CC4-5D6E-409C-BE32-E72D297353CC}">
                  <ns5:uniqueId val="{00000001-F975-4A7F-AB1F-4337D9DA9491}"/>
                </c:ext>
              </c:extLst>
            </c:dLbl>
            <c:dLbl>
              <c:idx val="1"/>
              <c:layout>
                <c:manualLayout>
                  <c:x val="6.0589155114677776E-3"/>
                  <c:y val="5.3804089671426469E-2"/>
                </c:manualLayout>
              </c:layout>
              <c:tx>
                <c:rich>
                  <a:bodyPr/>
                  <a:lstStyle/>
                  <a:p>
                    <a:r>
                      <a:rPr lang="en-US" sz="900" b="1" i="0" u="none" strike="noStrike" kern="1200" baseline="0" dirty="0">
                        <a:solidFill>
                          <a:prstClr val="black"/>
                        </a:solidFill>
                      </a:rPr>
                      <a:t>Over cement, </a:t>
                    </a:r>
                    <a:r>
                      <a:rPr lang="en-US" sz="900" b="1" i="0" u="none" strike="noStrike" kern="1200" baseline="0" dirty="0">
                        <a:solidFill>
                          <a:srgbClr val="00B050"/>
                        </a:solidFill>
                      </a:rPr>
                      <a:t>20.08%</a:t>
                    </a:r>
                    <a:endParaRPr lang="en-US" sz="900" dirty="0">
                      <a:solidFill>
                        <a:srgbClr val="00B050"/>
                      </a:solidFill>
                    </a:endParaRP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uri="{CE6537A1-D6FC-4f65-9D91-7224C49458BB}">
                  <ns4:layout>
                    <c:manualLayout>
                      <c:w val="0.96631387160880322"/>
                      <c:h val="0.13143712383702424"/>
                    </c:manualLayout>
                  </ns4:layout>
                  <ns4:showDataLabelsRange val="0"/>
                </c:ext>
                <c:ext uri="{C3380CC4-5D6E-409C-BE32-E72D297353CC}">
                  <ns5:uniqueId val="{00000002-F975-4A7F-AB1F-4337D9DA9491}"/>
                </c:ext>
              </c:extLst>
            </c:dLbl>
            <c:dLbl>
              <c:idx val="2"/>
              <c:layout>
                <c:manualLayout>
                  <c:x val="0"/>
                  <c:y val="4.446418522609219E-2"/>
                </c:manualLayout>
              </c:layout>
              <c:tx>
                <c:rich>
                  <a:bodyPr/>
                  <a:lstStyle/>
                  <a:p>
                    <a:r>
                      <a:rPr lang="en-US" sz="900" b="1" i="0" u="none" strike="noStrike" kern="1200" baseline="0" dirty="0">
                        <a:solidFill>
                          <a:prstClr val="black"/>
                        </a:solidFill>
                      </a:rPr>
                      <a:t>Cleanness</a:t>
                    </a:r>
                    <a:r>
                      <a:rPr lang="en-US" dirty="0"/>
                      <a:t>, </a:t>
                    </a:r>
                    <a:r>
                      <a:rPr lang="en-US" dirty="0">
                        <a:solidFill>
                          <a:srgbClr val="00B050"/>
                        </a:solidFill>
                      </a:rPr>
                      <a:t>14.62%</a:t>
                    </a: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uri="{CE6537A1-D6FC-4f65-9D91-7224C49458BB}">
                  <ns4:layout>
                    <c:manualLayout>
                      <c:w val="0.96941607889969561"/>
                      <c:h val="0.12366191094211867"/>
                    </c:manualLayout>
                  </ns4:layout>
                  <ns4:showDataLabelsRange val="0"/>
                </c:ext>
                <c:ext uri="{C3380CC4-5D6E-409C-BE32-E72D297353CC}">
                  <ns5:uniqueId val="{00000003-F975-4A7F-AB1F-4337D9DA9491}"/>
                </c:ext>
              </c:extLst>
            </c:dLbl>
            <c:dLbl>
              <c:idx val="3"/>
              <c:layout>
                <c:manualLayout>
                  <c:x val="5.8728527382175197E-3"/>
                  <c:y val="5.0443118731377128E-2"/>
                </c:manualLayout>
              </c:layout>
              <c:tx>
                <c:rich>
                  <a:bodyPr/>
                  <a:lstStyle/>
                  <a:p>
                    <a:r>
                      <a:rPr lang="en-US" sz="900" b="1" i="0" u="none" strike="noStrike" kern="1200" baseline="0" dirty="0">
                        <a:solidFill>
                          <a:prstClr val="black"/>
                        </a:solidFill>
                      </a:rPr>
                      <a:t>Thread end, </a:t>
                    </a:r>
                    <a:r>
                      <a:rPr lang="en-US" sz="900" b="1" i="0" u="none" strike="noStrike" kern="1200" baseline="0" dirty="0">
                        <a:solidFill>
                          <a:srgbClr val="00B050"/>
                        </a:solidFill>
                      </a:rPr>
                      <a:t>12.23%</a:t>
                    </a:r>
                    <a:endParaRPr lang="en-US" sz="900" dirty="0">
                      <a:solidFill>
                        <a:srgbClr val="00B050"/>
                      </a:solidFill>
                    </a:endParaRP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uri="{CE6537A1-D6FC-4f65-9D91-7224C49458BB}">
                  <ns4:layout>
                    <c:manualLayout>
                      <c:w val="0.96664543345237031"/>
                      <c:h val="0.12410881467449447"/>
                    </c:manualLayout>
                  </ns4:layout>
                  <ns4:showDataLabelsRange val="0"/>
                </c:ext>
                <c:ext uri="{C3380CC4-5D6E-409C-BE32-E72D297353CC}">
                  <ns5:uniqueId val="{00000004-F975-4A7F-AB1F-4337D9DA9491}"/>
                </c:ext>
              </c:extLst>
            </c:dLbl>
            <c:dLbl>
              <c:idx val="4"/>
              <c:layout>
                <c:manualLayout>
                  <c:x val="1.1745705476435178E-2"/>
                  <c:y val="4.6332516441953131E-2"/>
                </c:manualLayout>
              </c:layout>
              <c:tx>
                <c:rich>
                  <a:bodyPr/>
                  <a:lstStyle/>
                  <a:p>
                    <a:r>
                      <a:rPr lang="en-US" sz="900" b="1" i="0" u="none" strike="noStrike" kern="1200" baseline="0" dirty="0" err="1">
                        <a:solidFill>
                          <a:prstClr val="black"/>
                        </a:solidFill>
                      </a:rPr>
                      <a:t>Sockliner</a:t>
                    </a:r>
                    <a:r>
                      <a:rPr lang="en-US" sz="900" b="1" i="0" u="none" strike="noStrike" kern="1200" baseline="0" dirty="0">
                        <a:solidFill>
                          <a:prstClr val="black"/>
                        </a:solidFill>
                      </a:rPr>
                      <a:t> position, </a:t>
                    </a:r>
                    <a:r>
                      <a:rPr lang="en-US" sz="900" b="1" i="0" u="none" strike="noStrike" kern="1200" baseline="0" dirty="0">
                        <a:solidFill>
                          <a:srgbClr val="00B050"/>
                        </a:solidFill>
                      </a:rPr>
                      <a:t>5.02%</a:t>
                    </a:r>
                    <a:endParaRPr lang="en-US" sz="1000" dirty="0">
                      <a:solidFill>
                        <a:srgbClr val="00B050"/>
                      </a:solidFill>
                    </a:endParaRP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uri="{CE6537A1-D6FC-4f65-9D91-7224C49458BB}">
                  <ns4:layout>
                    <c:manualLayout>
                      <c:w val="0.95489972797593525"/>
                      <c:h val="0.12200289484172765"/>
                    </c:manualLayout>
                  </ns4:layout>
                  <ns4:showDataLabelsRange val="0"/>
                </c:ext>
                <c:ext uri="{C3380CC4-5D6E-409C-BE32-E72D297353CC}">
                  <ns5:uniqueId val="{00000005-F975-4A7F-AB1F-4337D9DA949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0"/>
              <a:lstStyle/>
              <a:p>
                <a:pPr algn="r"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0"/>
              </c:ext>
            </c:extLst>
          </c:dLbls>
          <c:cat>
            <c:strRef>
              <c:f>'RE-JV'!$A$6:$A$10</c:f>
              <c:strCache>
                <c:ptCount val="5"/>
                <c:pt idx="0">
                  <c:v>Midsole/Outsole to upper bond gap</c:v>
                </c:pt>
                <c:pt idx="1">
                  <c:v>Over cement</c:v>
                </c:pt>
                <c:pt idx="2">
                  <c:v>Cleanness</c:v>
                </c:pt>
                <c:pt idx="3">
                  <c:v>Thread end</c:v>
                </c:pt>
                <c:pt idx="4">
                  <c:v>Sockliner position</c:v>
                </c:pt>
              </c:strCache>
            </c:strRef>
          </c:cat>
          <c:val>
            <c:numRef>
              <c:f>'RE-JV'!$D$6:$D$10</c:f>
              <c:numCache>
                <c:formatCode>0.00%</c:formatCode>
                <c:ptCount val="5"/>
                <c:pt idx="0">
                  <c:v>0.24592220828105396</c:v>
                </c:pt>
                <c:pt idx="1">
                  <c:v>0.20075282308657466</c:v>
                </c:pt>
                <c:pt idx="2">
                  <c:v>0.14617314930991218</c:v>
                </c:pt>
                <c:pt idx="3">
                  <c:v>0.12233375156838143</c:v>
                </c:pt>
                <c:pt idx="4">
                  <c:v>5.0188205771643665E-2</c:v>
                </c:pt>
              </c:numCache>
            </c:numRef>
          </c:val>
          <c:extLst>
            <c:ext uri="{C3380CC4-5D6E-409C-BE32-E72D297353CC}">
              <ns5:uniqueId val="{00000006-F975-4A7F-AB1F-4337D9DA949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4"/>
        <c:overlap val="40"/>
        <c:axId val="560799717"/>
        <c:axId val="945051863"/>
      </c:barChart>
      <c:catAx>
        <c:axId val="560799717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945051863"/>
        <c:crosses val="autoZero"/>
        <c:auto val="1"/>
        <c:lblAlgn val="ctr"/>
        <c:lblOffset val="100"/>
        <c:noMultiLvlLbl val="0"/>
      </c:catAx>
      <c:valAx>
        <c:axId val="945051863"/>
        <c:scaling>
          <c:orientation val="minMax"/>
          <c:max val="650"/>
          <c:min val="0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2">
                <a:lumMod val="50000"/>
              </a:scheme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7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vi-VN"/>
          </a:p>
        </c:txPr>
        <c:crossAx val="560799717"/>
        <c:crosses val="autoZero"/>
        <c:crossBetween val="between"/>
        <c:majorUnit val="200"/>
      </c:valAx>
      <c:spPr>
        <a:gradFill>
          <a:gsLst>
            <a:gs pos="21000">
              <a:srgbClr val="DBDBDB"/>
            </a:gs>
            <a:gs pos="50000">
              <a:schemeClr val="bg1">
                <a:lumMod val="95000"/>
              </a:schemeClr>
            </a:gs>
            <a:gs pos="100000">
              <a:schemeClr val="bg1"/>
            </a:gs>
            <a:gs pos="0">
              <a:srgbClr val="C9C9C9"/>
            </a:gs>
          </a:gsLst>
          <a:lin ang="21594000" scaled="0"/>
        </a:gra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ns6:chartProps chartId="{33e12eff-4f1e-4651-b698-3a1499274226}"/>
      </c:ext>
    </c:extLst>
  </c:chart>
  <c:spPr>
    <a:noFill/>
    <a:ln w="9525" cap="flat" cmpd="sng" algn="ctr">
      <a:noFill/>
      <a:prstDash val="solid"/>
      <a:round/>
    </a:ln>
    <a:effectLst/>
  </c:spPr>
  <c:txPr>
    <a:bodyPr wrap="square"/>
    <a:lstStyle/>
    <a:p>
      <a:pPr>
        <a:defRPr lang="en-US"/>
      </a:pPr>
      <a:endParaRPr lang="vi-VN"/>
    </a:p>
  </c:txPr>
  <c:externalData ns7:id="rId1">
    <c:autoUpdate val="1"/>
  </c:externalData>
</c:chartSpace>
</file>

<file path=ppt/charts/chart7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ns6="https://web.wps.cn/et/2018/main" xmlns:ns7="http://schemas.openxmlformats.org/officeDocument/2006/relationships">
  <c:date1904 val="0"/>
  <c:lang val="en-US"/>
  <c:roundedCorners val="0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2.5062289247775253E-2"/>
          <c:y val="0"/>
          <c:w val="0.966390160183066"/>
          <c:h val="0.8265524625267669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'RE-JV2'!$C$4</c:f>
              <c:strCache>
                <c:ptCount val="1"/>
                <c:pt idx="0">
                  <c:v>Quantity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8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cat>
            <c:strRef>
              <c:f>'RE-JV2'!$A$5:$A$9</c:f>
              <c:strCache>
                <c:ptCount val="5"/>
                <c:pt idx="0">
                  <c:v>Cleanness</c:v>
                </c:pt>
                <c:pt idx="1">
                  <c:v>Over cement</c:v>
                </c:pt>
                <c:pt idx="2">
                  <c:v>Midsole/Outsole to upper bond gap</c:v>
                </c:pt>
                <c:pt idx="3">
                  <c:v>Thread end</c:v>
                </c:pt>
                <c:pt idx="4">
                  <c:v>Toe off center</c:v>
                </c:pt>
              </c:strCache>
            </c:strRef>
          </c:cat>
          <c:val>
            <c:numRef>
              <c:f>'RE-JV2'!$C$5:$C$9</c:f>
              <c:numCache>
                <c:formatCode>General</c:formatCode>
                <c:ptCount val="5"/>
                <c:pt idx="0">
                  <c:v>390</c:v>
                </c:pt>
                <c:pt idx="1">
                  <c:v>387</c:v>
                </c:pt>
                <c:pt idx="2">
                  <c:v>237</c:v>
                </c:pt>
                <c:pt idx="3">
                  <c:v>186</c:v>
                </c:pt>
                <c:pt idx="4">
                  <c:v>142</c:v>
                </c:pt>
              </c:numCache>
            </c:numRef>
          </c:val>
          <c:extLst>
            <c:ext uri="{C3380CC4-5D6E-409C-BE32-E72D297353CC}">
              <ns5:uniqueId val="{00000000-FA75-4E96-A098-249EBFC286CE}"/>
            </c:ext>
          </c:extLst>
        </c:ser>
        <c:ser>
          <c:idx val="1"/>
          <c:order val="1"/>
          <c:tx>
            <c:strRef>
              <c:f>'RE-JV2'!$D$4</c:f>
              <c:strCache>
                <c:ptCount val="1"/>
                <c:pt idx="0">
                  <c:v>% Defect</c:v>
                </c:pt>
              </c:strCache>
            </c:strRef>
          </c:tx>
          <c:spPr>
            <a:noFill/>
          </c:spPr>
          <c:invertIfNegative val="0"/>
          <c:dLbls>
            <c:dLbl>
              <c:idx val="0"/>
              <c:layout>
                <c:manualLayout>
                  <c:x val="1.1560736408987783E-7"/>
                  <c:y val="1.4138118790660154E-2"/>
                </c:manualLayout>
              </c:layout>
              <c:tx>
                <c:rich>
                  <a:bodyPr/>
                  <a:lstStyle/>
                  <a:p>
                    <a:r>
                      <a:rPr lang="en-US" sz="900" b="1" i="0" u="none" strike="noStrike" kern="1200" baseline="0" dirty="0">
                        <a:solidFill>
                          <a:prstClr val="black"/>
                        </a:solidFill>
                      </a:rPr>
                      <a:t> Cleanness, </a:t>
                    </a:r>
                    <a:r>
                      <a:rPr lang="en-US" sz="900" b="1" i="0" u="none" strike="noStrike" kern="1200" baseline="0" dirty="0">
                        <a:solidFill>
                          <a:srgbClr val="00B050"/>
                        </a:solidFill>
                      </a:rPr>
                      <a:t>19.28%</a:t>
                    </a:r>
                    <a:endParaRPr lang="en-US" sz="900" dirty="0">
                      <a:solidFill>
                        <a:srgbClr val="00B050"/>
                      </a:solidFill>
                    </a:endParaRP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uri="{CE6537A1-D6FC-4f65-9D91-7224C49458BB}">
                  <ns4:layout>
                    <c:manualLayout>
                      <c:w val="0.96460033146943425"/>
                      <c:h val="0.13790993156900602"/>
                    </c:manualLayout>
                  </ns4:layout>
                  <ns4:showDataLabelsRange val="0"/>
                </c:ext>
                <c:ext uri="{C3380CC4-5D6E-409C-BE32-E72D297353CC}">
                  <ns5:uniqueId val="{00000001-FA75-4E96-A098-249EBFC286CE}"/>
                </c:ext>
              </c:extLst>
            </c:dLbl>
            <c:dLbl>
              <c:idx val="1"/>
              <c:layout>
                <c:manualLayout>
                  <c:x val="0"/>
                  <c:y val="2.9354734853839572E-2"/>
                </c:manualLayout>
              </c:layout>
              <c:tx>
                <c:rich>
                  <a:bodyPr/>
                  <a:lstStyle/>
                  <a:p>
                    <a:r>
                      <a:rPr lang="en-US" sz="900" b="1" i="0" u="none" strike="noStrike" kern="1200" baseline="0" dirty="0">
                        <a:solidFill>
                          <a:prstClr val="black"/>
                        </a:solidFill>
                      </a:rPr>
                      <a:t>Over cement</a:t>
                    </a:r>
                    <a:r>
                      <a:rPr lang="en-US" dirty="0"/>
                      <a:t>, </a:t>
                    </a:r>
                    <a:r>
                      <a:rPr lang="en-US" dirty="0">
                        <a:solidFill>
                          <a:srgbClr val="00B050"/>
                        </a:solidFill>
                      </a:rPr>
                      <a:t>19.13%</a:t>
                    </a: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uri="{CE6537A1-D6FC-4f65-9D91-7224C49458BB}">
                  <ns4:layout>
                    <c:manualLayout>
                      <c:w val="0.96576357276697444"/>
                      <c:h val="0.11310859851901574"/>
                    </c:manualLayout>
                  </ns4:layout>
                  <ns4:showDataLabelsRange val="0"/>
                </c:ext>
                <c:ext uri="{C3380CC4-5D6E-409C-BE32-E72D297353CC}">
                  <ns5:uniqueId val="{00000002-FA75-4E96-A098-249EBFC286CE}"/>
                </c:ext>
              </c:extLst>
            </c:dLbl>
            <c:dLbl>
              <c:idx val="2"/>
              <c:layout>
                <c:manualLayout>
                  <c:x val="-3.3239429325056464E-3"/>
                  <c:y val="3.4067745133537518E-2"/>
                </c:manualLayout>
              </c:layout>
              <c:tx>
                <c:rich>
                  <a:bodyPr/>
                  <a:lstStyle/>
                  <a:p>
                    <a:r>
                      <a:rPr lang="en-US" sz="900" b="1" i="0" u="none" strike="noStrike" kern="1200" baseline="0" dirty="0">
                        <a:solidFill>
                          <a:prstClr val="black"/>
                        </a:solidFill>
                      </a:rPr>
                      <a:t>Midsole/Outsole to upper bond gap</a:t>
                    </a:r>
                    <a:r>
                      <a:rPr lang="en-US" sz="900" dirty="0"/>
                      <a:t>, </a:t>
                    </a:r>
                    <a:r>
                      <a:rPr lang="en-US" sz="900" dirty="0">
                        <a:solidFill>
                          <a:srgbClr val="00B050"/>
                        </a:solidFill>
                      </a:rPr>
                      <a:t>11.72%</a:t>
                    </a: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uri="{CE6537A1-D6FC-4f65-9D91-7224C49458BB}">
                  <ns4:layout>
                    <c:manualLayout>
                      <c:w val="0.96609605954611621"/>
                      <c:h val="9.0614748005578089E-2"/>
                    </c:manualLayout>
                  </ns4:layout>
                  <ns4:showDataLabelsRange val="0"/>
                </c:ext>
                <c:ext uri="{C3380CC4-5D6E-409C-BE32-E72D297353CC}">
                  <ns5:uniqueId val="{00000003-FA75-4E96-A098-249EBFC286CE}"/>
                </c:ext>
              </c:extLst>
            </c:dLbl>
            <c:dLbl>
              <c:idx val="3"/>
              <c:layout>
                <c:manualLayout>
                  <c:x val="0.43819491586558468"/>
                  <c:y val="3.6765128375377244E-2"/>
                </c:manualLayout>
              </c:layout>
              <c:tx>
                <c:rich>
                  <a:bodyPr/>
                  <a:lstStyle/>
                  <a:p>
                    <a:r>
                      <a:rPr lang="en-US" sz="900" b="1" i="0" u="none" strike="noStrike" kern="1200" baseline="0" dirty="0">
                        <a:solidFill>
                          <a:prstClr val="black"/>
                        </a:solidFill>
                      </a:rPr>
                      <a:t>Thread end</a:t>
                    </a:r>
                    <a:r>
                      <a:rPr lang="en-US" sz="900" dirty="0"/>
                      <a:t>, </a:t>
                    </a:r>
                    <a:r>
                      <a:rPr lang="en-US" sz="900" dirty="0">
                        <a:solidFill>
                          <a:srgbClr val="00B050"/>
                        </a:solidFill>
                      </a:rPr>
                      <a:t>9.19%</a:t>
                    </a: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uri="{CE6537A1-D6FC-4f65-9D91-7224C49458BB}">
                  <ns4:layout>
                    <c:manualLayout>
                      <c:w val="0.52771570946852053"/>
                      <c:h val="0.11301739367567373"/>
                    </c:manualLayout>
                  </ns4:layout>
                  <ns4:showDataLabelsRange val="0"/>
                </c:ext>
                <c:ext uri="{C3380CC4-5D6E-409C-BE32-E72D297353CC}">
                  <ns5:uniqueId val="{00000004-FA75-4E96-A098-249EBFC286CE}"/>
                </c:ext>
              </c:extLst>
            </c:dLbl>
            <c:dLbl>
              <c:idx val="4"/>
              <c:layout>
                <c:manualLayout>
                  <c:x val="-5.8728540961076421E-3"/>
                  <c:y val="4.6332972466169853E-2"/>
                </c:manualLayout>
              </c:layout>
              <c:tx>
                <c:rich>
                  <a:bodyPr/>
                  <a:lstStyle/>
                  <a:p>
                    <a:r>
                      <a:rPr lang="en-US" dirty="0"/>
                      <a:t>Toe off center, </a:t>
                    </a:r>
                    <a:r>
                      <a:rPr lang="en-US" dirty="0">
                        <a:solidFill>
                          <a:srgbClr val="00B050"/>
                        </a:solidFill>
                      </a:rPr>
                      <a:t>7.02%</a:t>
                    </a:r>
                  </a:p>
                </c:rich>
              </c:tx>
              <c:dLblPos val="outEnd"/>
              <c:showLegendKey val="0"/>
              <c:showVal val="1"/>
              <c:showCatName val="1"/>
              <c:showSerName val="0"/>
              <c:showPercent val="0"/>
              <c:showBubbleSize val="0"/>
              <c:extLst>
                <c:ext uri="{CE6537A1-D6FC-4f65-9D91-7224C49458BB}">
                  <ns4:layout>
                    <c:manualLayout>
                      <c:w val="0.96775803101236901"/>
                      <c:h val="8.3570085905841945E-2"/>
                    </c:manualLayout>
                  </ns4:layout>
                  <ns4:showDataLabelsRange val="0"/>
                </c:ext>
                <c:ext uri="{C3380CC4-5D6E-409C-BE32-E72D297353CC}">
                  <ns5:uniqueId val="{00000005-FA75-4E96-A098-249EBFC286C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0"/>
              <a:lstStyle/>
              <a:p>
                <a:pPr algn="r">
                  <a:defRPr lang="en-US" sz="9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outEnd"/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0"/>
              </c:ext>
            </c:extLst>
          </c:dLbls>
          <c:cat>
            <c:strRef>
              <c:f>'RE-JV2'!$A$5:$A$9</c:f>
              <c:strCache>
                <c:ptCount val="5"/>
                <c:pt idx="0">
                  <c:v>Cleanness</c:v>
                </c:pt>
                <c:pt idx="1">
                  <c:v>Over cement</c:v>
                </c:pt>
                <c:pt idx="2">
                  <c:v>Midsole/Outsole to upper bond gap</c:v>
                </c:pt>
                <c:pt idx="3">
                  <c:v>Thread end</c:v>
                </c:pt>
                <c:pt idx="4">
                  <c:v>Toe off center</c:v>
                </c:pt>
              </c:strCache>
            </c:strRef>
          </c:cat>
          <c:val>
            <c:numRef>
              <c:f>'RE-JV2'!$D$5:$D$9</c:f>
              <c:numCache>
                <c:formatCode>0.00%</c:formatCode>
                <c:ptCount val="5"/>
                <c:pt idx="0">
                  <c:v>0.19278299555116163</c:v>
                </c:pt>
                <c:pt idx="1">
                  <c:v>0.19130004943153733</c:v>
                </c:pt>
                <c:pt idx="2">
                  <c:v>0.11715274345032131</c:v>
                </c:pt>
                <c:pt idx="3">
                  <c:v>9.1942659416707859E-2</c:v>
                </c:pt>
                <c:pt idx="4">
                  <c:v>7.0192782995551165E-2</c:v>
                </c:pt>
              </c:numCache>
            </c:numRef>
          </c:val>
          <c:extLst>
            <c:ext uri="{C3380CC4-5D6E-409C-BE32-E72D297353CC}">
              <ns5:uniqueId val="{00000006-FA75-4E96-A098-249EBFC286C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4"/>
        <c:overlap val="40"/>
        <c:axId val="702337599"/>
        <c:axId val="807014670"/>
      </c:barChart>
      <c:catAx>
        <c:axId val="702337599"/>
        <c:scaling>
          <c:orientation val="minMax"/>
        </c:scaling>
        <c:delete val="1"/>
        <c:axPos val="l"/>
        <c:numFmt formatCode="General" sourceLinked="0"/>
        <c:majorTickMark val="none"/>
        <c:minorTickMark val="none"/>
        <c:tickLblPos val="nextTo"/>
        <c:crossAx val="807014670"/>
        <c:crosses val="autoZero"/>
        <c:auto val="1"/>
        <c:lblAlgn val="ctr"/>
        <c:lblOffset val="100"/>
        <c:noMultiLvlLbl val="0"/>
      </c:catAx>
      <c:valAx>
        <c:axId val="807014670"/>
        <c:scaling>
          <c:orientation val="minMax"/>
          <c:max val="650"/>
          <c:min val="0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2">
                <a:lumMod val="50000"/>
              </a:scheme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7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vi-VN"/>
          </a:p>
        </c:txPr>
        <c:crossAx val="702337599"/>
        <c:crosses val="autoZero"/>
        <c:crossBetween val="between"/>
        <c:majorUnit val="200"/>
      </c:valAx>
      <c:spPr>
        <a:gradFill>
          <a:gsLst>
            <a:gs pos="21000">
              <a:srgbClr val="DBDBDB"/>
            </a:gs>
            <a:gs pos="50000">
              <a:schemeClr val="bg1">
                <a:lumMod val="95000"/>
              </a:schemeClr>
            </a:gs>
            <a:gs pos="100000">
              <a:schemeClr val="bg1"/>
            </a:gs>
            <a:gs pos="0">
              <a:srgbClr val="C9C9C9"/>
            </a:gs>
          </a:gsLst>
          <a:lin ang="21594000" scaled="0"/>
        </a:gradFill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ns6:chartProps chartId="{f0d804da-2927-439c-b0d2-949a460c17bf}"/>
      </c:ext>
    </c:extLst>
  </c:chart>
  <c:spPr>
    <a:noFill/>
    <a:ln w="9525" cap="flat" cmpd="sng" algn="ctr">
      <a:noFill/>
      <a:prstDash val="solid"/>
      <a:round/>
    </a:ln>
    <a:effectLst/>
  </c:spPr>
  <c:txPr>
    <a:bodyPr wrap="square"/>
    <a:lstStyle/>
    <a:p>
      <a:pPr>
        <a:defRPr lang="en-US" sz="1000">
          <a:solidFill>
            <a:schemeClr val="bg1"/>
          </a:solidFill>
        </a:defRPr>
      </a:pPr>
      <a:endParaRPr lang="vi-VN"/>
    </a:p>
  </c:txPr>
  <c:externalData ns7:id="rId1">
    <c:autoUpdate val="1"/>
  </c:externalData>
</c:chartSpace>
</file>

<file path=ppt/charts/chart8.xml><?xml version="1.0" encoding="utf-8"?>
<ns0:chartSpace xmlns:ns0="http://schemas.openxmlformats.org/drawingml/2006/chart" xmlns:ns1="http://schemas.openxmlformats.org/markup-compatibility/2006" xmlns:ns2="http://schemas.microsoft.com/office/drawing/2007/8/2/chart" xmlns:ns3="http://schemas.openxmlformats.org/drawingml/2006/main" xmlns:ns4="http://schemas.microsoft.com/office/drawing/2014/chart" xmlns:ns5="https://web.wps.cn/et/2018/main" xmlns:ns6="http://schemas.openxmlformats.org/officeDocument/2006/relationships">
  <ns0:date1904 val="0"/>
  <ns0:lang val="en-US"/>
  <ns0:roundedCorners val="0"/>
  <ns1:AlternateContent>
    <ns1:Choice Requires="c14">
      <ns2:style val="102"/>
    </ns1:Choice>
    <ns1:Fallback>
      <ns0:style val="2"/>
    </ns1:Fallback>
  </ns1:AlternateContent>
  <ns0:chart>
    <ns0:autoTitleDeleted val="1"/>
    <ns0:view3D>
      <ns0:rotX val="30"/>
      <ns0:rotY val="0"/>
      <ns0:depthPercent val="100"/>
      <ns0:rAngAx val="0"/>
    </ns0:view3D>
    <ns0:floor>
      <ns0:thickness val="0"/>
      <ns0:spPr>
        <ns3:noFill/>
        <ns3:effectLst/>
      </ns0:spPr>
    </ns0:floor>
    <ns0:sideWall>
      <ns0:thickness val="0"/>
      <ns0:spPr>
        <ns3:noFill/>
        <ns3:effectLst/>
      </ns0:spPr>
    </ns0:sideWall>
    <ns0:backWall>
      <ns0:thickness val="0"/>
      <ns0:spPr>
        <ns3:noFill/>
        <ns3:effectLst/>
      </ns0:spPr>
    </ns0:backWall>
    <ns0:plotArea>
      <ns0:layout>
        <ns0:manualLayout>
          <ns0:layoutTarget val="inner"/>
          <ns0:xMode val="edge"/>
          <ns0:yMode val="edge"/>
          <ns0:x val="0.38287461773700299"/>
          <ns0:y val="3.1421446384039903E-2"/>
          <ns0:w val="0.60795107033639095"/>
          <ns0:h val="0.95361596009975103"/>
        </ns0:manualLayout>
      </ns0:layout>
      <ns0:pie3DChart>
        <ns0:varyColors val="1"/>
        <ns0:ser>
          <ns0:idx val="0"/>
          <ns0:order val="0"/>
          <ns0:tx>
            <ns0:strRef>
              <ns0:f>'re-vh'!$G$7</ns0:f>
              <ns0:strCache>
                <ns0:ptCount val="1"/>
                <ns0:pt idx="0">
                  <ns0:v>Grand Total</ns0:v>
                </ns0:pt>
              </ns0:strCache>
            </ns0:strRef>
          </ns0:tx>
          <ns0:spPr>
            <ns3:scene3d>
              <ns3:camera prst="orthographicFront"/>
              <ns3:lightRig rig="threePt" dir="t"/>
            </ns3:scene3d>
            <ns3:sp3d contourW="9525"/>
          </ns0:spPr>
          <ns0:dPt>
            <ns0:idx val="0"/>
            <ns0:bubble3D val="0"/>
            <ns0:spPr>
              <ns3:solidFill>
                <ns3:srgbClr val="4F81BD"/>
              </ns3:solidFill>
              <ns3:ln>
                <ns3:noFill/>
              </ns3:ln>
              <ns3:effectLst/>
            </ns0:spPr>
            <ns0:extLst>
              <ns0:ext uri="{C3380CC4-5D6E-409C-BE32-E72D297353CC}">
                <ns4:uniqueId val="{00000001-6CA2-491A-8676-5A4E00E07B04}"/>
              </ns0:ext>
            </ns0:extLst>
          </ns0:dPt>
          <ns0:dPt>
            <ns0:idx val="1"/>
            <ns0:bubble3D val="0"/>
            <ns0:spPr>
              <ns3:solidFill>
                <ns3:srgbClr val="9BBB59"/>
              </ns3:solidFill>
              <ns3:ln>
                <ns3:noFill/>
              </ns3:ln>
              <ns3:effectLst/>
            </ns0:spPr>
            <ns0:extLst>
              <ns0:ext uri="{C3380CC4-5D6E-409C-BE32-E72D297353CC}">
                <ns4:uniqueId val="{00000003-6CA2-491A-8676-5A4E00E07B04}"/>
              </ns0:ext>
            </ns0:extLst>
          </ns0:dPt>
          <ns0:dPt>
            <ns0:idx val="2"/>
            <ns0:bubble3D val="0"/>
            <ns0:spPr>
              <ns3:solidFill>
                <ns3:schemeClr val="accent5"/>
              </ns3:solidFill>
              <ns3:ln>
                <ns3:noFill/>
              </ns3:ln>
              <ns3:effectLst/>
            </ns0:spPr>
            <ns0:extLst>
              <ns0:ext uri="{C3380CC4-5D6E-409C-BE32-E72D297353CC}">
                <ns4:uniqueId val="{00000005-6CA2-491A-8676-5A4E00E07B04}"/>
              </ns0:ext>
            </ns0:extLst>
          </ns0:dPt>
          <ns0:dPt>
            <ns0:idx val="3"/>
            <ns0:bubble3D val="0"/>
            <ns0:spPr>
              <ns3:solidFill>
                <ns3:schemeClr val="accent1">
                  <ns3:lumMod val="60000"/>
                </ns3:schemeClr>
              </ns3:solidFill>
              <ns3:ln>
                <ns3:noFill/>
              </ns3:ln>
              <ns3:effectLst/>
            </ns0:spPr>
            <ns0:extLst>
              <ns0:ext uri="{C3380CC4-5D6E-409C-BE32-E72D297353CC}">
                <ns4:uniqueId val="{00000007-6CA2-491A-8676-5A4E00E07B04}"/>
              </ns0:ext>
            </ns0:extLst>
          </ns0:dPt>
          <ns0:dPt>
            <ns0:idx val="4"/>
            <ns0:bubble3D val="0"/>
            <ns0:spPr>
              <ns3:solidFill>
                <ns3:srgbClr val="5F7530"/>
              </ns3:solidFill>
              <ns3:ln>
                <ns3:noFill/>
              </ns3:ln>
              <ns3:effectLst/>
            </ns0:spPr>
            <ns0:extLst>
              <ns0:ext uri="{C3380CC4-5D6E-409C-BE32-E72D297353CC}">
                <ns4:uniqueId val="{00000009-6CA2-491A-8676-5A4E00E07B04}"/>
              </ns0:ext>
            </ns0:extLst>
          </ns0:dPt>
          <ns0:dPt>
            <ns0:idx val="5"/>
            <ns0:bubble3D val="0"/>
            <ns0:spPr>
              <ns3:solidFill>
                <ns3:srgbClr val="CBCBCB"/>
              </ns3:solidFill>
              <ns3:ln>
                <ns3:noFill/>
              </ns3:ln>
              <ns3:effectLst/>
            </ns0:spPr>
            <ns0:extLst>
              <ns0:ext uri="{C3380CC4-5D6E-409C-BE32-E72D297353CC}">
                <ns4:uniqueId val="{0000000B-6CA2-491A-8676-5A4E00E07B04}"/>
              </ns0:ext>
            </ns0:extLst>
          </ns0:dPt>
          <ns0:dLbls>
            <ns0:dLbl>
              <ns0:idx val="4"/>
              <ns0:layout>
                <ns0:manualLayout>
                  <ns0:x val="0.13043848876688574"/>
                  <ns0:y val="1.1592172979547832E-3"/>
                </ns0:manualLayout>
              </ns0:layout>
              <ns0:dLblPos val="bestFit"/>
              <ns0:showLegendKey val="0"/>
              <ns0:showVal val="0"/>
              <ns0:showCatName val="0"/>
              <ns0:showSerName val="0"/>
              <ns0:showPercent val="1"/>
              <ns0:showBubbleSize val="0"/>
              <ns0:extLst>
                <ns0:ext uri="{CE6537A1-D6FC-4f65-9D91-7224C49458BB}"/>
                <ns0:ext uri="{C3380CC4-5D6E-409C-BE32-E72D297353CC}">
                  <ns4:uniqueId val="{00000009-6CA2-491A-8676-5A4E00E07B04}"/>
                </ns0:ext>
              </ns0:extLst>
            </ns0:dLbl>
            <ns0:dLbl>
              <ns0:idx val="5"/>
              <ns0:numFmt formatCode="0.0%" sourceLinked="0"/>
              <ns0:spPr>
                <ns3:noFill/>
                <ns3:ln>
                  <ns3:noFill/>
                </ns3:ln>
                <ns3:effectLst/>
              </ns0:spPr>
              <ns0:txPr>
                <ns3:bodyPr rot="0" spcFirstLastPara="0" vertOverflow="ellipsis" vert="horz" wrap="square" lIns="38100" tIns="19050" rIns="38100" bIns="19050" anchor="ctr" anchorCtr="1"/>
                <ns3:lstStyle/>
                <ns3:p>
                  <ns3:pPr>
                    <ns3:defRPr lang="en-US" sz="700" b="1" i="0" u="none" strike="noStrike" kern="1200" baseline="0">
                      <ns3:solidFill>
                        <ns3:schemeClr val="bg1"/>
                      </ns3:solidFill>
                      <ns3:latin typeface="+mn-lt"/>
                      <ns3:ea typeface="+mn-ea"/>
                      <ns3:cs typeface="+mn-cs"/>
                    </ns3:defRPr>
                  </ns3:pPr>
                  <ns3:endParaRPr lang="vi-VN"/>
                </ns3:p>
              </ns0:txPr>
              <ns0:dLblPos val="inEnd"/>
              <ns0:showLegendKey val="0"/>
              <ns0:showVal val="0"/>
              <ns0:showCatName val="0"/>
              <ns0:showSerName val="0"/>
              <ns0:showPercent val="1"/>
              <ns0:showBubbleSize val="0"/>
              <ns0:extLst>
                <ns0:ext uri="{C3380CC4-5D6E-409C-BE32-E72D297353CC}">
                  <ns4:uniqueId val="{0000000B-6CA2-491A-8676-5A4E00E07B04}"/>
                </ns0:ext>
              </ns0:extLst>
            </ns0:dLbl>
            <ns0:numFmt formatCode="0.0%" sourceLinked="0"/>
            <ns0:spPr>
              <ns3:noFill/>
              <ns3:ln>
                <ns3:noFill/>
              </ns3:ln>
              <ns3:effectLst/>
            </ns0:spPr>
            <ns0:txPr>
              <ns3:bodyPr rot="0" spcFirstLastPara="0" vertOverflow="ellipsis" vert="horz" wrap="square" lIns="38100" tIns="19050" rIns="38100" bIns="19050" anchor="ctr" anchorCtr="1"/>
              <ns3:lstStyle/>
              <ns3:p>
                <ns3:pPr>
                  <ns3:defRPr lang="en-US" sz="700" b="1" i="0" u="none" strike="noStrike" kern="1200" baseline="0">
                    <ns3:solidFill>
                      <ns3:schemeClr val="bg1"/>
                    </ns3:solidFill>
                    <ns3:latin typeface="+mn-lt"/>
                    <ns3:ea typeface="+mn-ea"/>
                    <ns3:cs typeface="+mn-cs"/>
                  </ns3:defRPr>
                </ns3:pPr>
                <ns3:endParaRPr lang="vi-VN"/>
              </ns3:p>
            </ns0:txPr>
            <ns0:dLblPos val="inEnd"/>
            <ns0:showLegendKey val="0"/>
            <ns0:showVal val="0"/>
            <ns0:showCatName val="0"/>
            <ns0:showSerName val="0"/>
            <ns0:showPercent val="1"/>
            <ns0:showBubbleSize val="0"/>
            <ns0:showLeaderLines val="0"/>
            <ns0:extLst>
              <ns0:ext uri="{CE6537A1-D6FC-4f65-9D91-7224C49458BB}"/>
            </ns0:extLst>
          </ns0:dLbls>
          <ns0:cat>
            <ns0:strRef>
              <ns0:f>'re-vh'!$F$8:$F$13</ns0:f>
              <ns0:strCache>
                <ns0:ptCount val="6"/>
                <ns0:pt idx="0">
                  <ns0:v>USA</ns0:v>
                </ns0:pt>
                <ns0:pt idx="1">
                  <ns0:v>CHINA</ns0:v>
                </ns0:pt>
                <ns0:pt idx="2">
                  <ns0:v>JAPAN</ns0:v>
                </ns0:pt>
                <ns0:pt idx="3">
                  <ns0:v>NETHERLANDS</ns0:v>
                </ns0:pt>
                <ns0:pt idx="4">
                  <ns0:v>BELGIUM</ns0:v>
                </ns0:pt>
                <ns0:pt idx="5">
                  <ns0:v>OTHERS</ns0:v>
                </ns0:pt>
              </ns0:strCache>
            </ns0:strRef>
          </ns0:cat>
          <ns0:val>
            <ns0:numRef>
              <ns0:f>'re-vh'!$G$8:$G$13</ns0:f>
              <ns0:numCache>
                <ns0:formatCode>General</ns0:formatCode>
                <ns0:ptCount val="6"/>
                <ns0:pt idx="0">
                  <ns0:v>145</ns0:v>
                </ns0:pt>
                <ns0:pt idx="1">
                  <ns0:v>25</ns0:v>
                </ns0:pt>
                <ns0:pt idx="2">
                  <ns0:v>23</ns0:v>
                </ns0:pt>
                <ns0:pt idx="3">
                  <ns0:v>13</ns0:v>
                </ns0:pt>
                <ns0:pt idx="4">
                  <ns0:v>12</ns0:v>
                </ns0:pt>
                <ns0:pt idx="5">
                  <ns0:v>64</ns0:v>
                </ns0:pt>
              </ns0:numCache>
            </ns0:numRef>
          </ns0:val>
          <ns0:extLst>
            <ns0:ext uri="{C3380CC4-5D6E-409C-BE32-E72D297353CC}">
              <ns4:uniqueId val="{0000000C-6CA2-491A-8676-5A4E00E07B04}"/>
            </ns0:ext>
          </ns0:extLst>
        </ns0:ser>
        <ns0:ser>
          <ns0:idx val="1"/>
          <ns0:order val="1"/>
          <ns0:tx>
            <ns0:strRef>
              <ns0:f>'re-vh'!$I$7</ns0:f>
              <ns0:strCache>
                <ns0:ptCount val="1"/>
                <ns0:pt idx="0">
                  <ns0:v>%</ns0:v>
                </ns0:pt>
              </ns0:strCache>
            </ns0:strRef>
          </ns0:tx>
          <ns0:dLbls>
            <ns0:spPr>
              <ns3:noFill/>
              <ns3:ln>
                <ns3:noFill/>
              </ns3:ln>
              <ns3:effectLst/>
            </ns0:spPr>
            <ns0:showLegendKey val="0"/>
            <ns0:showVal val="0"/>
            <ns0:showCatName val="0"/>
            <ns0:showSerName val="0"/>
            <ns0:showPercent val="1"/>
            <ns0:showBubbleSize val="0"/>
            <ns0:showLeaderLines val="1"/>
            <ns0:extLst>
              <ns0:ext uri="{CE6537A1-D6FC-4f65-9D91-7224C49458BB}"/>
            </ns0:extLst>
          </ns0:dLbls>
          <ns0:cat>
            <ns0:strRef>
              <ns0:f>'re-vh'!$F$8:$F$13</ns0:f>
              <ns0:strCache>
                <ns0:ptCount val="6"/>
                <ns0:pt idx="0">
                  <ns0:v>USA</ns0:v>
                </ns0:pt>
                <ns0:pt idx="1">
                  <ns0:v>CHINA</ns0:v>
                </ns0:pt>
                <ns0:pt idx="2">
                  <ns0:v>JAPAN</ns0:v>
                </ns0:pt>
                <ns0:pt idx="3">
                  <ns0:v>NETHERLANDS</ns0:v>
                </ns0:pt>
                <ns0:pt idx="4">
                  <ns0:v>BELGIUM</ns0:v>
                </ns0:pt>
                <ns0:pt idx="5">
                  <ns0:v>OTHERS</ns0:v>
                </ns0:pt>
              </ns0:strCache>
            </ns0:strRef>
          </ns0:cat>
          <ns0:val>
            <ns0:numRef>
              <ns0:f>'re-vh'!$I$8:$I$13</ns0:f>
              <ns0:numCache>
                <ns0:formatCode>0.00%</ns0:formatCode>
                <ns0:ptCount val="6"/>
                <ns0:pt idx="0">
                  <ns0:v>0.51418439716312059</ns0:v>
                </ns0:pt>
                <ns0:pt idx="1">
                  <ns0:v>8.8652482269503549E-2</ns0:v>
                </ns0:pt>
                <ns0:pt idx="2">
                  <ns0:v>8.1560283687943269E-2</ns0:v>
                </ns0:pt>
                <ns0:pt idx="3">
                  <ns0:v>4.6099290780141841E-2</ns0:v>
                </ns0:pt>
                <ns0:pt idx="4">
                  <ns0:v>4.2553191489361701E-2</ns0:v>
                </ns0:pt>
                <ns0:pt idx="5">
                  <ns0:v>0.22695035460992907</ns0:v>
                </ns0:pt>
              </ns0:numCache>
            </ns0:numRef>
          </ns0:val>
          <ns0:extLst>
            <ns0:ext uri="{C3380CC4-5D6E-409C-BE32-E72D297353CC}">
              <ns4:uniqueId val="{00000027-6CA2-491A-8676-5A4E00E07B04}"/>
            </ns0:ext>
          </ns0:extLst>
        </ns0:ser>
        <ns0:dLbls>
          <ns0:showLegendKey val="0"/>
          <ns0:showVal val="0"/>
          <ns0:showCatName val="0"/>
          <ns0:showSerName val="0"/>
          <ns0:showPercent val="1"/>
          <ns0:showBubbleSize val="0"/>
          <ns0:showLeaderLines val="0"/>
        </ns0:dLbls>
      </ns0:pie3DChart>
      <ns0:spPr>
        <ns3:noFill/>
        <ns3:ln>
          <ns3:noFill/>
        </ns3:ln>
        <ns3:effectLst/>
      </ns0:spPr>
    </ns0:plotArea>
    <ns0:legend>
      <ns0:legendPos val="b"/>
      <ns0:legendEntry>
        <ns0:idx val="0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ln>
                  <ns3:noFill/>
                </ns3:ln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endParaRPr lang="vi-VN"/>
          </ns3:p>
        </ns0:txPr>
      </ns0:legendEntry>
      <ns0:legendEntry>
        <ns0:idx val="1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endParaRPr lang="vi-VN"/>
          </ns3:p>
        </ns0:txPr>
      </ns0:legendEntry>
      <ns0:legendEntry>
        <ns0:idx val="2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endParaRPr lang="vi-VN"/>
          </ns3:p>
        </ns0:txPr>
      </ns0:legendEntry>
      <ns0:legendEntry>
        <ns0:idx val="3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endParaRPr lang="vi-VN"/>
          </ns3:p>
        </ns0:txPr>
      </ns0:legendEntry>
      <ns0:legendEntry>
        <ns0:idx val="4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endParaRPr lang="vi-VN"/>
          </ns3:p>
        </ns0:txPr>
      </ns0:legendEntry>
      <ns0:legendEntry>
        <ns0:idx val="5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endParaRPr lang="vi-VN"/>
          </ns3:p>
        </ns0:txPr>
      </ns0:legendEntry>
      <ns0:layout>
        <ns0:manualLayout>
          <ns0:xMode val="edge"/>
          <ns0:yMode val="edge"/>
          <ns0:x val="9.1743119266055051E-3"/>
          <ns0:y val="0.12752127458614193"/>
          <ns0:w val="0.39692359555972928"/>
          <ns0:h val="0.6485535124376276"/>
        </ns0:manualLayout>
      </ns0:layout>
      <ns0:overlay val="0"/>
      <ns0:spPr>
        <ns3:noFill/>
        <ns3:ln>
          <ns3:noFill/>
        </ns3:ln>
        <ns3:effectLst/>
      </ns0:spPr>
      <ns0:txPr>
        <ns3:bodyPr rot="0" spcFirstLastPara="0" vertOverflow="ellipsis" vert="horz" wrap="square" anchor="ctr" anchorCtr="1"/>
        <ns3:lstStyle/>
        <ns3:p>
          <ns3:pPr>
            <ns3:defRPr lang="en-US" sz="600" b="1" i="0" u="none" strike="noStrike" kern="1200" baseline="0">
              <ns3:solidFill>
                <ns3:schemeClr val="tx1"/>
              </ns3:solidFill>
              <ns3:latin typeface="+mn-lt"/>
              <ns3:ea typeface="+mn-ea"/>
              <ns3:cs typeface="+mn-cs"/>
            </ns3:defRPr>
          </ns3:pPr>
          <ns3:endParaRPr lang="vi-VN"/>
        </ns3:p>
      </ns0:txPr>
    </ns0:legend>
    <ns0:plotVisOnly val="1"/>
    <ns0:dispBlanksAs val="gap"/>
    <ns0:showDLblsOverMax val="0"/>
    <ns0:extLst>
      <ns0:ext uri="{0b15fc19-7d7d-44ad-8c2d-2c3a37ce22c3}">
        <ns5:chartProps chartId="{4a1444a9-1d7f-4cf6-a83d-faa6caa2afb3}"/>
      </ns0:ext>
    </ns0:extLst>
  </ns0:chart>
  <ns0:spPr>
    <ns3:noFill/>
    <ns3:ln w="9525" cap="flat" cmpd="sng" algn="ctr">
      <ns3:noFill/>
      <ns3:round/>
    </ns3:ln>
    <ns3:effectLst/>
  </ns0:spPr>
  <ns0:txPr>
    <ns3:bodyPr wrap="square"/>
    <ns3:lstStyle/>
    <ns3:p>
      <ns3:pPr>
        <ns3:defRPr lang="en-US" sz="800"/>
      </ns3:pPr>
      <ns3:endParaRPr lang="vi-VN"/>
    </ns3:p>
  </ns0:txPr>
  <ns0:externalData ns6:id="rId1">
    <ns0:autoUpdate val="1"/>
  </ns0:externalData>
</ns0:chartSpace>
</file>

<file path=ppt/charts/chart9.xml><?xml version="1.0" encoding="utf-8"?>
<ns0:chartSpace xmlns:ns0="http://schemas.openxmlformats.org/drawingml/2006/chart" xmlns:ns1="http://schemas.openxmlformats.org/markup-compatibility/2006" xmlns:ns2="http://schemas.microsoft.com/office/drawing/2007/8/2/chart" xmlns:ns3="http://schemas.openxmlformats.org/drawingml/2006/main" xmlns:ns4="http://schemas.microsoft.com/office/drawing/2014/chart" xmlns:ns5="http://schemas.microsoft.com/office/drawing/2012/chart" xmlns:ns6="https://web.wps.cn/et/2018/main" xmlns:ns7="http://schemas.openxmlformats.org/officeDocument/2006/relationships">
  <ns0:date1904 val="0"/>
  <ns0:lang val="en-US"/>
  <ns0:roundedCorners val="0"/>
  <ns1:AlternateContent>
    <ns1:Choice Requires="c14">
      <ns2:style val="102"/>
    </ns1:Choice>
    <ns1:Fallback>
      <ns0:style val="2"/>
    </ns1:Fallback>
  </ns1:AlternateContent>
  <ns0:chart>
    <ns0:autoTitleDeleted val="1"/>
    <ns0:view3D>
      <ns0:rotX val="30"/>
      <ns0:rotY val="0"/>
      <ns0:depthPercent val="100"/>
      <ns0:rAngAx val="0"/>
    </ns0:view3D>
    <ns0:floor>
      <ns0:thickness val="0"/>
      <ns0:spPr>
        <ns3:noFill/>
        <ns3:effectLst/>
      </ns0:spPr>
    </ns0:floor>
    <ns0:sideWall>
      <ns0:thickness val="0"/>
      <ns0:spPr>
        <ns3:noFill/>
        <ns3:effectLst/>
      </ns0:spPr>
    </ns0:sideWall>
    <ns0:backWall>
      <ns0:thickness val="0"/>
      <ns0:spPr>
        <ns3:noFill/>
        <ns3:effectLst/>
      </ns0:spPr>
    </ns0:backWall>
    <ns0:plotArea>
      <ns0:layout>
        <ns0:manualLayout>
          <ns0:layoutTarget val="inner"/>
          <ns0:xMode val="edge"/>
          <ns0:yMode val="edge"/>
          <ns0:x val="0.39340256566890702"/>
          <ns0:y val="2.4925224327018901E-2"/>
          <ns0:w val="0.597434331093464"/>
          <ns0:h val="0.96011964107676995"/>
        </ns0:manualLayout>
      </ns0:layout>
      <ns0:pie3DChart>
        <ns0:varyColors val="1"/>
        <ns0:ser>
          <ns0:idx val="0"/>
          <ns0:order val="0"/>
          <ns0:tx>
            <ns0:strRef>
              <ns0:f>'re-vh2'!$H$6</ns0:f>
              <ns0:strCache>
                <ns0:ptCount val="1"/>
                <ns0:pt idx="0">
                  <ns0:v>Grand Total</ns0:v>
                </ns0:pt>
              </ns0:strCache>
            </ns0:strRef>
          </ns0:tx>
          <ns0:spPr>
            <ns3:scene3d>
              <ns3:camera prst="orthographicFront"/>
              <ns3:lightRig rig="threePt" dir="t"/>
            </ns3:scene3d>
            <ns3:sp3d contourW="9525"/>
          </ns0:spPr>
          <ns0:dPt>
            <ns0:idx val="0"/>
            <ns0:bubble3D val="0"/>
            <ns0:spPr>
              <ns3:solidFill>
                <ns3:srgbClr val="4F81BD"/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  <ns0:extLst>
              <ns0:ext uri="{C3380CC4-5D6E-409C-BE32-E72D297353CC}">
                <ns4:uniqueId val="{00000001-8FFA-4CF5-8D3E-CB3CC4B0C93A}"/>
              </ns0:ext>
            </ns0:extLst>
          </ns0:dPt>
          <ns0:dPt>
            <ns0:idx val="1"/>
            <ns0:bubble3D val="0"/>
            <ns0:spPr>
              <ns3:solidFill>
                <ns3:srgbClr val="5E742E"/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  <ns0:extLst>
              <ns0:ext uri="{C3380CC4-5D6E-409C-BE32-E72D297353CC}">
                <ns4:uniqueId val="{00000003-8FFA-4CF5-8D3E-CB3CC4B0C93A}"/>
              </ns0:ext>
            </ns0:extLst>
          </ns0:dPt>
          <ns0:dPt>
            <ns0:idx val="2"/>
            <ns0:bubble3D val="0"/>
            <ns0:spPr>
              <ns3:solidFill>
                <ns3:srgbClr val="4AA9C3"/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  <ns0:extLst>
              <ns0:ext uri="{C3380CC4-5D6E-409C-BE32-E72D297353CC}">
                <ns4:uniqueId val="{00000005-8FFA-4CF5-8D3E-CB3CC4B0C93A}"/>
              </ns0:ext>
            </ns0:extLst>
          </ns0:dPt>
          <ns0:dPt>
            <ns0:idx val="3"/>
            <ns0:bubble3D val="0"/>
            <ns0:spPr>
              <ns3:solidFill>
                <ns3:srgbClr val="99B958"/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  <ns0:extLst>
              <ns0:ext uri="{C3380CC4-5D6E-409C-BE32-E72D297353CC}">
                <ns4:uniqueId val="{00000007-8FFA-4CF5-8D3E-CB3CC4B0C93A}"/>
              </ns0:ext>
            </ns0:extLst>
          </ns0:dPt>
          <ns0:dPt>
            <ns0:idx val="4"/>
            <ns0:bubble3D val="0"/>
            <ns0:spPr>
              <ns3:solidFill>
                <ns3:srgbClr val="134D18"/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  <ns0:extLst>
              <ns0:ext uri="{C3380CC4-5D6E-409C-BE32-E72D297353CC}">
                <ns4:uniqueId val="{00000009-8FFA-4CF5-8D3E-CB3CC4B0C93A}"/>
              </ns0:ext>
            </ns0:extLst>
          </ns0:dPt>
          <ns0:dPt>
            <ns0:idx val="5"/>
            <ns0:bubble3D val="0"/>
            <ns0:spPr>
              <ns3:solidFill>
                <ns3:schemeClr val="bg1">
                  <ns3:lumMod val="75000"/>
                </ns3:schemeClr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  <ns0:extLst>
              <ns0:ext uri="{C3380CC4-5D6E-409C-BE32-E72D297353CC}">
                <ns4:uniqueId val="{0000000B-8FFA-4CF5-8D3E-CB3CC4B0C93A}"/>
              </ns0:ext>
            </ns0:extLst>
          </ns0:dPt>
          <ns0:dLbls>
            <ns0:dLbl>
              <ns0:idx val="0"/>
              <ns0:dLblPos val="inEnd"/>
              <ns0:showLegendKey val="0"/>
              <ns0:showVal val="0"/>
              <ns0:showCatName val="0"/>
              <ns0:showSerName val="0"/>
              <ns0:showPercent val="1"/>
              <ns0:showBubbleSize val="0"/>
              <ns0:extLst>
                <ns0:ext uri="{CE6537A1-D6FC-4f65-9D91-7224C49458BB}">
                  <ns5:layout>
                    <ns0:manualLayout>
                      <ns0:w val="0.14175691937424789"/>
                      <ns0:h val="0.12596867922842445"/>
                    </ns0:manualLayout>
                  </ns5:layout>
                </ns0:ext>
                <ns0:ext uri="{C3380CC4-5D6E-409C-BE32-E72D297353CC}">
                  <ns4:uniqueId val="{00000001-8FFA-4CF5-8D3E-CB3CC4B0C93A}"/>
                </ns0:ext>
              </ns0:extLst>
            </ns0:dLbl>
            <ns0:dLbl>
              <ns0:idx val="1"/>
              <ns0:dLblPos val="inEnd"/>
              <ns0:showLegendKey val="0"/>
              <ns0:showVal val="0"/>
              <ns0:showCatName val="0"/>
              <ns0:showSerName val="0"/>
              <ns0:showPercent val="1"/>
              <ns0:showBubbleSize val="0"/>
              <ns0:extLst>
                <ns0:ext uri="{CE6537A1-D6FC-4f65-9D91-7224C49458BB}">
                  <ns5:layout>
                    <ns0:manualLayout>
                      <ns0:w val="0.14175691937424789"/>
                      <ns0:h val="0.12596867922842445"/>
                    </ns0:manualLayout>
                  </ns5:layout>
                </ns0:ext>
                <ns0:ext uri="{C3380CC4-5D6E-409C-BE32-E72D297353CC}">
                  <ns4:uniqueId val="{00000003-8FFA-4CF5-8D3E-CB3CC4B0C93A}"/>
                </ns0:ext>
              </ns0:extLst>
            </ns0:dLbl>
            <ns0:dLbl>
              <ns0:idx val="2"/>
              <ns0:dLblPos val="inEnd"/>
              <ns0:showLegendKey val="0"/>
              <ns0:showVal val="0"/>
              <ns0:showCatName val="0"/>
              <ns0:showSerName val="0"/>
              <ns0:showPercent val="1"/>
              <ns0:showBubbleSize val="0"/>
              <ns0:extLst>
                <ns0:ext uri="{CE6537A1-D6FC-4f65-9D91-7224C49458BB}">
                  <ns5:layout>
                    <ns0:manualLayout>
                      <ns0:w val="0.14175691937424789"/>
                      <ns0:h val="0.12596867922842445"/>
                    </ns0:manualLayout>
                  </ns5:layout>
                </ns0:ext>
                <ns0:ext uri="{C3380CC4-5D6E-409C-BE32-E72D297353CC}">
                  <ns4:uniqueId val="{00000005-8FFA-4CF5-8D3E-CB3CC4B0C93A}"/>
                </ns0:ext>
              </ns0:extLst>
            </ns0:dLbl>
            <ns0:dLbl>
              <ns0:idx val="3"/>
              <ns0:layout>
                <ns0:manualLayout>
                  <ns0:x val="0.1328463003496404"/>
                  <ns0:y val="-0.17995439690160109"/>
                </ns0:manualLayout>
              </ns0:layout>
              <ns0:dLblPos val="bestFit"/>
              <ns0:showLegendKey val="0"/>
              <ns0:showVal val="0"/>
              <ns0:showCatName val="0"/>
              <ns0:showSerName val="0"/>
              <ns0:showPercent val="1"/>
              <ns0:showBubbleSize val="0"/>
              <ns0:extLst>
                <ns0:ext uri="{CE6537A1-D6FC-4f65-9D91-7224C49458BB}">
                  <ns5:layout>
                    <ns0:manualLayout>
                      <ns0:w val="0.15649819494584835"/>
                      <ns0:h val="0.12596867922842445"/>
                    </ns0:manualLayout>
                  </ns5:layout>
                </ns0:ext>
                <ns0:ext uri="{C3380CC4-5D6E-409C-BE32-E72D297353CC}">
                  <ns4:uniqueId val="{00000007-8FFA-4CF5-8D3E-CB3CC4B0C93A}"/>
                </ns0:ext>
              </ns0:extLst>
            </ns0:dLbl>
            <ns0:dLbl>
              <ns0:idx val="4"/>
              <ns0:layout>
                <ns0:manualLayout>
                  <ns0:x val="0.14114860191212561"/>
                  <ns0:y val="-1.8420799411661609E-2"/>
                </ns0:manualLayout>
              </ns0:layout>
              <ns0:dLblPos val="bestFit"/>
              <ns0:showLegendKey val="0"/>
              <ns0:showVal val="0"/>
              <ns0:showCatName val="0"/>
              <ns0:showSerName val="0"/>
              <ns0:showPercent val="1"/>
              <ns0:showBubbleSize val="0"/>
              <ns0:extLst>
                <ns0:ext uri="{CE6537A1-D6FC-4f65-9D91-7224C49458BB}">
                  <ns5:layout>
                    <ns0:manualLayout>
                      <ns0:w val="0.1203971119133574"/>
                      <ns0:h val="0.12596867922842445"/>
                    </ns0:manualLayout>
                  </ns5:layout>
                </ns0:ext>
                <ns0:ext uri="{C3380CC4-5D6E-409C-BE32-E72D297353CC}">
                  <ns4:uniqueId val="{00000009-8FFA-4CF5-8D3E-CB3CC4B0C93A}"/>
                </ns0:ext>
              </ns0:extLst>
            </ns0:dLbl>
            <ns0:dLbl>
              <ns0:idx val="5"/>
              <ns0:layout>
                <ns0:manualLayout>
                  <ns0:x val="0.12116748998311669"/>
                  <ns0:y val="0.11512916148639314"/>
                </ns0:manualLayout>
              </ns0:layout>
              <ns0:dLblPos val="bestFit"/>
              <ns0:showLegendKey val="0"/>
              <ns0:showVal val="0"/>
              <ns0:showCatName val="0"/>
              <ns0:showSerName val="0"/>
              <ns0:showPercent val="1"/>
              <ns0:showBubbleSize val="0"/>
              <ns0:extLst>
                <ns0:ext uri="{CE6537A1-D6FC-4f65-9D91-7224C49458BB}">
                  <ns5:layout>
                    <ns0:manualLayout>
                      <ns0:w val="0.14175691937424789"/>
                      <ns0:h val="0.12596867922842445"/>
                    </ns0:manualLayout>
                  </ns5:layout>
                  <ns5:dlblFieldTable/>
                  <ns5:showDataLabelsRange val="0"/>
                </ns0:ext>
                <ns0:ext uri="{C3380CC4-5D6E-409C-BE32-E72D297353CC}">
                  <ns4:uniqueId val="{0000000B-8FFA-4CF5-8D3E-CB3CC4B0C93A}"/>
                </ns0:ext>
              </ns0:extLst>
            </ns0:dLbl>
            <ns0:numFmt formatCode="0.0%" sourceLinked="0"/>
            <ns0:spPr>
              <ns3:noFill/>
              <ns3:ln>
                <ns3:noFill/>
              </ns3:ln>
              <ns3:effectLst/>
            </ns0:spPr>
            <ns0:txPr>
              <ns3:bodyPr rot="0" spcFirstLastPara="0" vertOverflow="ellipsis" vert="horz" wrap="square" lIns="38100" tIns="19050" rIns="38100" bIns="19050" anchor="ctr" anchorCtr="1">
                <ns3:noAutofit/>
              </ns3:bodyPr>
              <ns3:lstStyle/>
              <ns3:p>
                <ns3:pPr>
                  <ns3:defRPr lang="en-US" sz="700" b="1" i="0" u="none" strike="noStrike" kern="1200" baseline="0">
                    <ns3:solidFill>
                      <ns3:schemeClr val="bg1"/>
                    </ns3:solidFill>
                    <ns3:latin typeface="+mn-lt"/>
                    <ns3:ea typeface="+mn-ea"/>
                    <ns3:cs typeface="+mn-cs"/>
                  </ns3:defRPr>
                </ns3:pPr>
                <ns3:endParaRPr lang="vi-VN"/>
              </ns3:p>
            </ns0:txPr>
            <ns0:dLblPos val="inEnd"/>
            <ns0:showLegendKey val="0"/>
            <ns0:showVal val="0"/>
            <ns0:showCatName val="0"/>
            <ns0:showSerName val="0"/>
            <ns0:showPercent val="1"/>
            <ns0:showBubbleSize val="0"/>
            <ns0:showLeaderLines val="1"/>
            <ns0:leaderLines>
              <ns0:spPr>
                <ns3:ln w="9525" cap="flat" cmpd="sng" algn="ctr">
                  <ns3:solidFill>
                    <ns3:schemeClr val="tx1">
                      <ns3:shade val="95000"/>
                      <ns3:satMod val="105000"/>
                    </ns3:schemeClr>
                  </ns3:solidFill>
                  <ns3:prstDash val="solid"/>
                  <ns3:round/>
                </ns3:ln>
                <ns3:effectLst/>
              </ns0:spPr>
            </ns0:leaderLines>
            <ns0:extLst>
              <ns0:ext uri="{CE6537A1-D6FC-4f65-9D91-7224C49458BB}">
                <ns5:spPr>
                  <ns3:prstGeom prst="rect">
                    <ns3:avLst/>
                  </ns3:prstGeom>
                </ns5:spPr>
              </ns0:ext>
            </ns0:extLst>
          </ns0:dLbls>
          <ns0:cat>
            <ns0:strRef>
              <ns0:f>'re-vh2'!$G$7:$G$12</ns0:f>
              <ns0:strCache>
                <ns0:ptCount val="6"/>
                <ns0:pt idx="0">
                  <ns0:v>USA</ns0:v>
                </ns0:pt>
                <ns0:pt idx="1">
                  <ns0:v>BELGIUM</ns0:v>
                </ns0:pt>
                <ns0:pt idx="2">
                  <ns0:v>JAPAN</ns0:v>
                </ns0:pt>
                <ns0:pt idx="3">
                  <ns0:v>CHINA</ns0:v>
                </ns0:pt>
                <ns0:pt idx="4">
                  <ns0:v>PARAGUAY</ns0:v>
                </ns0:pt>
                <ns0:pt idx="5">
                  <ns0:v>OTHERS</ns0:v>
                </ns0:pt>
              </ns0:strCache>
            </ns0:strRef>
          </ns0:cat>
          <ns0:val>
            <ns0:numRef>
              <ns0:f>'re-vh2'!$H$7:$H$12</ns0:f>
              <ns0:numCache>
                <ns0:formatCode>General</ns0:formatCode>
                <ns0:ptCount val="6"/>
                <ns0:pt idx="0">
                  <ns0:v>8</ns0:v>
                </ns0:pt>
                <ns0:pt idx="1">
                  <ns0:v>5</ns0:v>
                </ns0:pt>
                <ns0:pt idx="2">
                  <ns0:v>2</ns0:v>
                </ns0:pt>
                <ns0:pt idx="3">
                  <ns0:v>2</ns0:v>
                </ns0:pt>
                <ns0:pt idx="4">
                  <ns0:v>1</ns0:v>
                </ns0:pt>
                <ns0:pt idx="5">
                  <ns0:v>5</ns0:v>
                </ns0:pt>
              </ns0:numCache>
            </ns0:numRef>
          </ns0:val>
          <ns0:extLst>
            <ns0:ext uri="{C3380CC4-5D6E-409C-BE32-E72D297353CC}">
              <ns4:uniqueId val="{0000000C-8FFA-4CF5-8D3E-CB3CC4B0C93A}"/>
            </ns0:ext>
          </ns0:extLst>
        </ns0:ser>
        <ns0:ser>
          <ns0:idx val="1"/>
          <ns0:order val="1"/>
          <ns0:tx>
            <ns0:strRef>
              <ns0:f>'re-vh2'!$J$6</ns0:f>
              <ns0:strCache>
                <ns0:ptCount val="1"/>
                <ns0:pt idx="0">
                  <ns0:v>%</ns0:v>
                </ns0:pt>
              </ns0:strCache>
            </ns0:strRef>
          </ns0:tx>
          <ns0:cat>
            <ns0:strRef>
              <ns0:f>'re-vh2'!$G$7:$G$12</ns0:f>
              <ns0:strCache>
                <ns0:ptCount val="6"/>
                <ns0:pt idx="0">
                  <ns0:v>USA</ns0:v>
                </ns0:pt>
                <ns0:pt idx="1">
                  <ns0:v>BELGIUM</ns0:v>
                </ns0:pt>
                <ns0:pt idx="2">
                  <ns0:v>JAPAN</ns0:v>
                </ns0:pt>
                <ns0:pt idx="3">
                  <ns0:v>CHINA</ns0:v>
                </ns0:pt>
                <ns0:pt idx="4">
                  <ns0:v>PARAGUAY</ns0:v>
                </ns0:pt>
                <ns0:pt idx="5">
                  <ns0:v>OTHERS</ns0:v>
                </ns0:pt>
              </ns0:strCache>
            </ns0:strRef>
          </ns0:cat>
          <ns0:val>
            <ns0:numRef>
              <ns0:f>'re-vh2'!$J$7:$J$12</ns0:f>
              <ns0:numCache>
                <ns0:formatCode>0.00%</ns0:formatCode>
                <ns0:ptCount val="6"/>
                <ns0:pt idx="0">
                  <ns0:v>0.34782608695652173</ns0:v>
                </ns0:pt>
                <ns0:pt idx="1">
                  <ns0:v>0.21739130434782608</ns0:v>
                </ns0:pt>
                <ns0:pt idx="2">
                  <ns0:v>8.6956521739130432E-2</ns0:v>
                </ns0:pt>
                <ns0:pt idx="3">
                  <ns0:v>8.6956521739130432E-2</ns0:v>
                </ns0:pt>
                <ns0:pt idx="4">
                  <ns0:v>4.3478260869565216E-2</ns0:v>
                </ns0:pt>
                <ns0:pt idx="5">
                  <ns0:v>0.21739130434782608</ns0:v>
                </ns0:pt>
              </ns0:numCache>
            </ns0:numRef>
          </ns0:val>
          <ns0:extLst>
            <ns0:ext uri="{C3380CC4-5D6E-409C-BE32-E72D297353CC}">
              <ns4:uniqueId val="{00000027-8FFA-4CF5-8D3E-CB3CC4B0C93A}"/>
            </ns0:ext>
          </ns0:extLst>
        </ns0:ser>
        <ns0:dLbls>
          <ns0:showLegendKey val="0"/>
          <ns0:showVal val="0"/>
          <ns0:showCatName val="0"/>
          <ns0:showSerName val="0"/>
          <ns0:showPercent val="0"/>
          <ns0:showBubbleSize val="0"/>
          <ns0:showLeaderLines val="1"/>
        </ns0:dLbls>
      </ns0:pie3DChart>
      <ns0:spPr>
        <ns3:noFill/>
        <ns3:ln>
          <ns3:noFill/>
        </ns3:ln>
        <ns3:effectLst/>
      </ns0:spPr>
    </ns0:plotArea>
    <ns0:legend>
      <ns0:legendPos val="r"/>
      <ns0:legendEntry>
        <ns0:idx val="0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endParaRPr lang="vi-VN"/>
          </ns3:p>
        </ns0:txPr>
      </ns0:legendEntry>
      <ns0:legendEntry>
        <ns0:idx val="1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endParaRPr lang="vi-VN"/>
          </ns3:p>
        </ns0:txPr>
      </ns0:legendEntry>
      <ns0:legendEntry>
        <ns0:idx val="2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endParaRPr lang="vi-VN"/>
          </ns3:p>
        </ns0:txPr>
      </ns0:legendEntry>
      <ns0:legendEntry>
        <ns0:idx val="3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endParaRPr lang="vi-VN"/>
          </ns3:p>
        </ns0:txPr>
      </ns0:legendEntry>
      <ns0:legendEntry>
        <ns0:idx val="4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endParaRPr lang="vi-VN"/>
          </ns3:p>
        </ns0:txPr>
      </ns0:legendEntry>
      <ns0:legendEntry>
        <ns0:idx val="5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endParaRPr lang="vi-VN"/>
          </ns3:p>
        </ns0:txPr>
      </ns0:legendEntry>
      <ns0:layout>
        <ns0:manualLayout>
          <ns0:xMode val="edge"/>
          <ns0:yMode val="edge"/>
          <ns0:x val="0"/>
          <ns0:y val="0.18275948575375703"/>
          <ns0:w val="0.39792963605181114"/>
          <ns0:h val="0.58665877404300493"/>
        </ns0:manualLayout>
      </ns0:layout>
      <ns0:overlay val="0"/>
      <ns0:spPr>
        <ns3:noFill/>
        <ns3:ln>
          <ns3:noFill/>
        </ns3:ln>
        <ns3:effectLst/>
      </ns0:spPr>
      <ns0:txPr>
        <ns3:bodyPr rot="0" spcFirstLastPara="0" vertOverflow="ellipsis" vert="horz" wrap="square" anchor="ctr" anchorCtr="1"/>
        <ns3:lstStyle/>
        <ns3:p>
          <ns3:pPr>
            <ns3:defRPr lang="en-US" sz="600" b="1" i="0" u="none" strike="noStrike" kern="1200" baseline="0">
              <ns3:solidFill>
                <ns3:schemeClr val="tx1"/>
              </ns3:solidFill>
              <ns3:latin typeface="+mn-lt"/>
              <ns3:ea typeface="+mn-ea"/>
              <ns3:cs typeface="+mn-cs"/>
            </ns3:defRPr>
          </ns3:pPr>
          <ns3:endParaRPr lang="vi-VN"/>
        </ns3:p>
      </ns0:txPr>
    </ns0:legend>
    <ns0:plotVisOnly val="1"/>
    <ns0:dispBlanksAs val="gap"/>
    <ns0:showDLblsOverMax val="0"/>
    <ns0:extLst>
      <ns0:ext uri="{0b15fc19-7d7d-44ad-8c2d-2c3a37ce22c3}">
        <ns6:chartProps chartId="{4ac9024e-27f2-4e20-97b0-4e498308b851}"/>
      </ns0:ext>
    </ns0:extLst>
  </ns0:chart>
  <ns0:spPr>
    <ns3:noFill/>
    <ns3:ln w="9525" cap="flat" cmpd="sng" algn="ctr">
      <ns3:noFill/>
      <ns3:prstDash val="solid"/>
      <ns3:round/>
    </ns3:ln>
    <ns3:effectLst/>
  </ns0:spPr>
  <ns0:txPr>
    <ns3:bodyPr wrap="square"/>
    <ns3:lstStyle/>
    <ns3:p>
      <ns3:pPr>
        <ns3:defRPr lang="en-US" sz="900"/>
      </ns3:pPr>
      <ns3:endParaRPr lang="vi-VN"/>
    </ns3:p>
  </ns0:txPr>
  <ns0:externalData ns7:id="rId1">
    <ns0:autoUpdate val="1"/>
  </ns0:externalData>
</ns0:chartSpace>
</file>

<file path=ppt/charts/chart10.xml><?xml version="1.0" encoding="utf-8"?>
<ns0:chartSpace xmlns:ns0="http://schemas.openxmlformats.org/drawingml/2006/chart" xmlns:ns1="http://schemas.openxmlformats.org/markup-compatibility/2006" xmlns:ns2="http://schemas.microsoft.com/office/drawing/2007/8/2/chart" xmlns:ns3="http://schemas.openxmlformats.org/drawingml/2006/main" xmlns:ns4="http://schemas.microsoft.com/office/drawing/2014/chart" xmlns:ns5="http://schemas.microsoft.com/office/drawing/2012/chart" xmlns:ns6="https://web.wps.cn/et/2018/main" xmlns:ns7="http://schemas.openxmlformats.org/officeDocument/2006/relationships">
  <ns0:date1904 val="0"/>
  <ns0:lang val="en-US"/>
  <ns0:roundedCorners val="0"/>
  <ns1:AlternateContent>
    <ns1:Choice Requires="c14">
      <ns2:style val="103"/>
    </ns1:Choice>
    <ns1:Fallback>
      <ns0:style val="3"/>
    </ns1:Fallback>
  </ns1:AlternateContent>
  <ns0:chart>
    <ns0:autoTitleDeleted val="1"/>
    <ns0:view3D>
      <ns0:rotX val="30"/>
      <ns0:rotY val="0"/>
      <ns0:depthPercent val="100"/>
      <ns0:rAngAx val="0"/>
    </ns0:view3D>
    <ns0:floor>
      <ns0:thickness val="0"/>
      <ns0:spPr>
        <ns3:noFill/>
        <ns3:effectLst/>
      </ns0:spPr>
    </ns0:floor>
    <ns0:sideWall>
      <ns0:thickness val="0"/>
      <ns0:spPr>
        <ns3:noFill/>
        <ns3:effectLst/>
      </ns0:spPr>
    </ns0:sideWall>
    <ns0:backWall>
      <ns0:thickness val="0"/>
      <ns0:spPr>
        <ns3:noFill/>
        <ns3:effectLst/>
      </ns0:spPr>
    </ns0:backWall>
    <ns0:plotArea>
      <ns0:layout>
        <ns0:manualLayout>
          <ns0:layoutTarget val="inner"/>
          <ns0:xMode val="edge"/>
          <ns0:yMode val="edge"/>
          <ns0:x val="0"/>
          <ns0:y val="0.13413678719994745"/>
          <ns0:w val="0.59664811767407855"/>
          <ns0:h val="0.74264455739657598"/>
        </ns0:manualLayout>
      </ns0:layout>
      <ns0:pie3DChart>
        <ns0:varyColors val="1"/>
        <ns0:ser>
          <ns0:idx val="0"/>
          <ns0:order val="0"/>
          <ns0:tx>
            <ns0:strRef>
              <ns0:f>'RE-JV2'!$H$8</ns0:f>
              <ns0:strCache>
                <ns0:ptCount val="1"/>
                <ns0:pt idx="0">
                  <ns0:v>Grand Total</ns0:v>
                </ns0:pt>
              </ns0:strCache>
            </ns0:strRef>
          </ns0:tx>
          <ns0:spPr>
            <ns3:scene3d>
              <ns3:camera prst="orthographicFront"/>
              <ns3:lightRig rig="threePt" dir="t"/>
            </ns3:scene3d>
            <ns3:sp3d contourW="9525"/>
          </ns0:spPr>
          <ns0:dPt>
            <ns0:idx val="0"/>
            <ns0:bubble3D val="0"/>
            <ns0:spPr>
              <ns3:solidFill>
                <ns3:srgbClr val="4F81BD"/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  <ns0:extLst>
              <ns0:ext uri="{C3380CC4-5D6E-409C-BE32-E72D297353CC}">
                <ns4:uniqueId val="{00000001-4368-4516-9E3D-0520A6391040}"/>
              </ns0:ext>
            </ns0:extLst>
          </ns0:dPt>
          <ns0:dPt>
            <ns0:idx val="1"/>
            <ns0:bubble3D val="0"/>
            <ns0:spPr>
              <ns3:solidFill>
                <ns3:srgbClr val="4AA9C3"/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  <ns0:extLst>
              <ns0:ext uri="{C3380CC4-5D6E-409C-BE32-E72D297353CC}">
                <ns4:uniqueId val="{00000003-4368-4516-9E3D-0520A6391040}"/>
              </ns0:ext>
            </ns0:extLst>
          </ns0:dPt>
          <ns0:dPt>
            <ns0:idx val="2"/>
            <ns0:bubble3D val="0"/>
            <ns0:spPr>
              <ns3:solidFill>
                <ns3:srgbClr val="5E742E"/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  <ns0:extLst>
              <ns0:ext uri="{C3380CC4-5D6E-409C-BE32-E72D297353CC}">
                <ns4:uniqueId val="{00000005-4368-4516-9E3D-0520A6391040}"/>
              </ns0:ext>
            </ns0:extLst>
          </ns0:dPt>
          <ns0:dPt>
            <ns0:idx val="3"/>
            <ns0:bubble3D val="0"/>
            <ns0:spPr>
              <ns3:solidFill>
                <ns3:srgbClr val="99B958"/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  <ns0:extLst>
              <ns0:ext uri="{C3380CC4-5D6E-409C-BE32-E72D297353CC}">
                <ns4:uniqueId val="{00000007-4368-4516-9E3D-0520A6391040}"/>
              </ns0:ext>
            </ns0:extLst>
          </ns0:dPt>
          <ns0:dPt>
            <ns0:idx val="4"/>
            <ns0:bubble3D val="0"/>
            <ns0:spPr>
              <ns3:solidFill>
                <ns3:schemeClr val="accent2">
                  <ns3:lumMod val="60000"/>
                  <ns3:lumOff val="40000"/>
                </ns3:schemeClr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  <ns0:extLst>
              <ns0:ext uri="{C3380CC4-5D6E-409C-BE32-E72D297353CC}">
                <ns4:uniqueId val="{00000009-4368-4516-9E3D-0520A6391040}"/>
              </ns0:ext>
            </ns0:extLst>
          </ns0:dPt>
          <ns0:dPt>
            <ns0:idx val="5"/>
            <ns0:bubble3D val="0"/>
            <ns0:spPr>
              <ns3:solidFill>
                <ns3:schemeClr val="bg1">
                  <ns3:lumMod val="75000"/>
                </ns3:schemeClr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  <ns0:extLst>
              <ns0:ext uri="{C3380CC4-5D6E-409C-BE32-E72D297353CC}">
                <ns4:uniqueId val="{0000000B-4368-4516-9E3D-0520A6391040}"/>
              </ns0:ext>
            </ns0:extLst>
          </ns0:dPt>
          <ns0:dLbls>
            <ns0:dLbl>
              <ns0:idx val="5"/>
              <ns0:dLblPos val="inEnd"/>
              <ns0:showLegendKey val="0"/>
              <ns0:showVal val="0"/>
              <ns0:showCatName val="0"/>
              <ns0:showSerName val="0"/>
              <ns0:showPercent val="1"/>
              <ns0:showBubbleSize val="0"/>
              <ns0:extLst>
                <ns0:ext uri="{CE6537A1-D6FC-4f65-9D91-7224C49458BB}">
                  <ns5:dlblFieldTable/>
                  <ns5:showDataLabelsRange val="0"/>
                </ns0:ext>
                <ns0:ext uri="{C3380CC4-5D6E-409C-BE32-E72D297353CC}">
                  <ns4:uniqueId val="{0000000B-4368-4516-9E3D-0520A6391040}"/>
                </ns0:ext>
              </ns0:extLst>
            </ns0:dLbl>
            <ns0:numFmt formatCode="0.0%" sourceLinked="0"/>
            <ns0:spPr>
              <ns3:noFill/>
              <ns3:ln>
                <ns3:noFill/>
              </ns3:ln>
              <ns3:effectLst/>
            </ns0:spPr>
            <ns0:txPr>
              <ns3:bodyPr rot="0" spcFirstLastPara="0" vertOverflow="ellipsis" vert="horz" wrap="square" lIns="38100" tIns="19050" rIns="38100" bIns="19050" anchor="ctr" anchorCtr="1"/>
              <ns3:lstStyle/>
              <ns3:p>
                <ns3:pPr>
                  <ns3:defRPr lang="en-US" sz="700" b="1" i="0" u="none" strike="noStrike" kern="1200" baseline="0">
                    <ns3:solidFill>
                      <ns3:schemeClr val="bg1"/>
                    </ns3:solidFill>
                    <ns3:latin typeface="+mn-lt"/>
                    <ns3:ea typeface="+mn-ea"/>
                    <ns3:cs typeface="+mn-cs"/>
                  </ns3:defRPr>
                </ns3:pPr>
                <ns3:endParaRPr lang="vi-VN"/>
              </ns3:p>
            </ns0:txPr>
            <ns0:dLblPos val="inEnd"/>
            <ns0:showLegendKey val="0"/>
            <ns0:showVal val="0"/>
            <ns0:showCatName val="0"/>
            <ns0:showSerName val="0"/>
            <ns0:showPercent val="1"/>
            <ns0:showBubbleSize val="0"/>
            <ns0:showLeaderLines val="0"/>
            <ns0:extLst>
              <ns0:ext uri="{CE6537A1-D6FC-4f65-9D91-7224C49458BB}"/>
            </ns0:extLst>
          </ns0:dLbls>
          <ns0:cat>
            <ns0:strRef>
              <ns0:f>'RE-JV2'!$G$9:$G$14</ns0:f>
              <ns0:strCache>
                <ns0:ptCount val="6"/>
                <ns0:pt idx="0">
                  <ns0:v>USA</ns0:v>
                </ns0:pt>
                <ns0:pt idx="1">
                  <ns0:v>JAPAN</ns0:v>
                </ns0:pt>
                <ns0:pt idx="2">
                  <ns0:v>BELGIUM</ns0:v>
                </ns0:pt>
                <ns0:pt idx="3">
                  <ns0:v>CHINA</ns0:v>
                </ns0:pt>
                <ns0:pt idx="4">
                  <ns0:v>MEXICO</ns0:v>
                </ns0:pt>
                <ns0:pt idx="5">
                  <ns0:v>OTHERS</ns0:v>
                </ns0:pt>
              </ns0:strCache>
            </ns0:strRef>
          </ns0:cat>
          <ns0:val>
            <ns0:numRef>
              <ns0:f>'RE-JV2'!$H$9:$H$14</ns0:f>
              <ns0:numCache>
                <ns0:formatCode>General</ns0:formatCode>
                <ns0:ptCount val="6"/>
                <ns0:pt idx="0">
                  <ns0:v>341</ns0:v>
                </ns0:pt>
                <ns0:pt idx="1">
                  <ns0:v>35</ns0:v>
                </ns0:pt>
                <ns0:pt idx="2">
                  <ns0:v>34</ns0:v>
                </ns0:pt>
                <ns0:pt idx="3">
                  <ns0:v>33</ns0:v>
                </ns0:pt>
                <ns0:pt idx="4">
                  <ns0:v>29</ns0:v>
                </ns0:pt>
                <ns0:pt idx="5">
                  <ns0:v>99</ns0:v>
                </ns0:pt>
              </ns0:numCache>
            </ns0:numRef>
          </ns0:val>
          <ns0:extLst>
            <ns0:ext uri="{C3380CC4-5D6E-409C-BE32-E72D297353CC}">
              <ns4:uniqueId val="{0000000C-4368-4516-9E3D-0520A6391040}"/>
            </ns0:ext>
          </ns0:extLst>
        </ns0:ser>
        <ns0:ser>
          <ns0:idx val="2"/>
          <ns0:order val="2"/>
          <ns0:tx>
            <ns0:strRef>
              <ns0:f>'RE-JV2'!$J$8</ns0:f>
              <ns0:strCache>
                <ns0:ptCount val="1"/>
                <ns0:pt idx="0">
                  <ns0:v>%</ns0:v>
                </ns0:pt>
              </ns0:strCache>
            </ns0:strRef>
          </ns0:tx>
          <ns0:dPt>
            <ns0:idx val="0"/>
            <ns0:bubble3D val="0"/>
            <ns0:spPr>
              <ns3:solidFill>
                <ns3:schemeClr val="accent1">
                  <ns3:shade val="50000"/>
                </ns3:schemeClr>
              </ns3:solidFill>
              <ns3:ln>
                <ns3:noFill/>
              </ns3:ln>
              <ns3:effectLst/>
            </ns0:spPr>
            <ns0:extLst>
              <ns0:ext uri="{C3380CC4-5D6E-409C-BE32-E72D297353CC}">
                <ns4:uniqueId val="{0000001B-4368-4516-9E3D-0520A6391040}"/>
              </ns0:ext>
            </ns0:extLst>
          </ns0:dPt>
          <ns0:dPt>
            <ns0:idx val="1"/>
            <ns0:bubble3D val="0"/>
            <ns0:spPr>
              <ns3:solidFill>
                <ns3:schemeClr val="accent1">
                  <ns3:shade val="70000"/>
                </ns3:schemeClr>
              </ns3:solidFill>
              <ns3:ln>
                <ns3:noFill/>
              </ns3:ln>
              <ns3:effectLst/>
            </ns0:spPr>
            <ns0:extLst>
              <ns0:ext uri="{C3380CC4-5D6E-409C-BE32-E72D297353CC}">
                <ns4:uniqueId val="{0000001D-4368-4516-9E3D-0520A6391040}"/>
              </ns0:ext>
            </ns0:extLst>
          </ns0:dPt>
          <ns0:dPt>
            <ns0:idx val="2"/>
            <ns0:bubble3D val="0"/>
            <ns0:spPr>
              <ns3:solidFill>
                <ns3:schemeClr val="accent1">
                  <ns3:shade val="90000"/>
                </ns3:schemeClr>
              </ns3:solidFill>
              <ns3:ln>
                <ns3:noFill/>
              </ns3:ln>
              <ns3:effectLst/>
            </ns0:spPr>
            <ns0:extLst>
              <ns0:ext uri="{C3380CC4-5D6E-409C-BE32-E72D297353CC}">
                <ns4:uniqueId val="{0000001F-4368-4516-9E3D-0520A6391040}"/>
              </ns0:ext>
            </ns0:extLst>
          </ns0:dPt>
          <ns0:dPt>
            <ns0:idx val="3"/>
            <ns0:bubble3D val="0"/>
            <ns0:spPr>
              <ns3:solidFill>
                <ns3:schemeClr val="accent1">
                  <ns3:tint val="90000"/>
                </ns3:schemeClr>
              </ns3:solidFill>
              <ns3:ln>
                <ns3:noFill/>
              </ns3:ln>
              <ns3:effectLst/>
            </ns0:spPr>
            <ns0:extLst>
              <ns0:ext uri="{C3380CC4-5D6E-409C-BE32-E72D297353CC}">
                <ns4:uniqueId val="{00000021-4368-4516-9E3D-0520A6391040}"/>
              </ns0:ext>
            </ns0:extLst>
          </ns0:dPt>
          <ns0:dPt>
            <ns0:idx val="4"/>
            <ns0:bubble3D val="0"/>
            <ns0:spPr>
              <ns3:solidFill>
                <ns3:schemeClr val="accent1">
                  <ns3:tint val="70000"/>
                </ns3:schemeClr>
              </ns3:solidFill>
              <ns3:ln>
                <ns3:noFill/>
              </ns3:ln>
              <ns3:effectLst/>
            </ns0:spPr>
            <ns0:extLst>
              <ns0:ext uri="{C3380CC4-5D6E-409C-BE32-E72D297353CC}">
                <ns4:uniqueId val="{00000023-4368-4516-9E3D-0520A6391040}"/>
              </ns0:ext>
            </ns0:extLst>
          </ns0:dPt>
          <ns0:dPt>
            <ns0:idx val="5"/>
            <ns0:bubble3D val="0"/>
            <ns0:spPr>
              <ns3:solidFill>
                <ns3:schemeClr val="accent1">
                  <ns3:tint val="50000"/>
                </ns3:schemeClr>
              </ns3:solidFill>
              <ns3:ln>
                <ns3:noFill/>
              </ns3:ln>
              <ns3:effectLst/>
            </ns0:spPr>
            <ns0:extLst>
              <ns0:ext uri="{C3380CC4-5D6E-409C-BE32-E72D297353CC}">
                <ns4:uniqueId val="{00000025-4368-4516-9E3D-0520A6391040}"/>
              </ns0:ext>
            </ns0:extLst>
          </ns0:dPt>
          <ns0:cat>
            <ns0:strRef>
              <ns0:f>'RE-JV2'!$G$9:$G$14</ns0:f>
              <ns0:strCache>
                <ns0:ptCount val="6"/>
                <ns0:pt idx="0">
                  <ns0:v>USA</ns0:v>
                </ns0:pt>
                <ns0:pt idx="1">
                  <ns0:v>JAPAN</ns0:v>
                </ns0:pt>
                <ns0:pt idx="2">
                  <ns0:v>BELGIUM</ns0:v>
                </ns0:pt>
                <ns0:pt idx="3">
                  <ns0:v>CHINA</ns0:v>
                </ns0:pt>
                <ns0:pt idx="4">
                  <ns0:v>MEXICO</ns0:v>
                </ns0:pt>
                <ns0:pt idx="5">
                  <ns0:v>OTHERS</ns0:v>
                </ns0:pt>
              </ns0:strCache>
            </ns0:strRef>
          </ns0:cat>
          <ns0:val>
            <ns0:numRef>
              <ns0:f>'RE-JV2'!$J$9:$J$14</ns0:f>
              <ns0:numCache>
                <ns0:formatCode>0.00%</ns0:formatCode>
                <ns0:ptCount val="6"/>
                <ns0:pt idx="0">
                  <ns0:v>0.59719789842381787</ns0:v>
                </ns0:pt>
                <ns0:pt idx="1">
                  <ns0:v>6.1295971978984239E-2</ns0:v>
                </ns0:pt>
                <ns0:pt idx="2">
                  <ns0:v>5.9544658493870403E-2</ns0:v>
                </ns0:pt>
                <ns0:pt idx="3">
                  <ns0:v>5.7793345008756568E-2</ns0:v>
                </ns0:pt>
                <ns0:pt idx="4">
                  <ns0:v>5.0788091068301226E-2</ns0:v>
                </ns0:pt>
                <ns0:pt idx="5">
                  <ns0:v>0.1733800350262697</ns0:v>
                </ns0:pt>
              </ns0:numCache>
            </ns0:numRef>
          </ns0:val>
          <ns0:extLst>
            <ns0:ext uri="{C3380CC4-5D6E-409C-BE32-E72D297353CC}">
              <ns4:uniqueId val="{00000026-4368-4516-9E3D-0520A6391040}"/>
            </ns0:ext>
          </ns0:extLst>
        </ns0:ser>
        <ns0:dLbls>
          <ns0:showLegendKey val="0"/>
          <ns0:showVal val="0"/>
          <ns0:showCatName val="0"/>
          <ns0:showSerName val="0"/>
          <ns0:showPercent val="0"/>
          <ns0:showBubbleSize val="0"/>
          <ns0:showLeaderLines val="0"/>
        </ns0:dLbls>
        <ns0:extLst>
          <ns0:ext uri="{02D57815-91ED-43cb-92C2-25804820EDAC}">
            <ns5:filteredPieSeries>
              <ns5:ser>
                <ns0:idx val="1"/>
                <ns0:order val="1"/>
                <ns0:tx>
                  <ns0:strRef>
                    <ns0:extLst>
                      <ns0:ext uri="{02D57815-91ED-43cb-92C2-25804820EDAC}">
                        <ns5:formulaRef>
                          <ns5:sqref>'RE-JV2'!$I$8</ns5:sqref>
                        </ns5:formulaRef>
                      </ns0:ext>
                    </ns0:extLst>
                    <ns0:strCache>
                      <ns0:ptCount val="1"/>
                      <ns0:pt idx="0">
                        <ns0:v>Sum of Fail</ns0:v>
                      </ns0:pt>
                    </ns0:strCache>
                  </ns0:strRef>
                </ns0:tx>
                <ns0:dPt>
                  <ns0:idx val="0"/>
                  <ns0:bubble3D val="0"/>
                  <ns0:spPr>
                    <ns3:solidFill>
                      <ns3:schemeClr val="accent1">
                        <ns3:shade val="50000"/>
                      </ns3:schemeClr>
                    </ns3:solidFill>
                    <ns3:ln>
                      <ns3:noFill/>
                    </ns3:ln>
                    <ns3:effectLst/>
                  </ns0:spPr>
                  <ns0:extLst>
                    <ns0:ext uri="{C3380CC4-5D6E-409C-BE32-E72D297353CC}">
                      <ns4:uniqueId val="{0000000E-4368-4516-9E3D-0520A6391040}"/>
                    </ns0:ext>
                  </ns0:extLst>
                </ns0:dPt>
                <ns0:dPt>
                  <ns0:idx val="1"/>
                  <ns0:bubble3D val="0"/>
                  <ns0:spPr>
                    <ns3:solidFill>
                      <ns3:schemeClr val="accent1">
                        <ns3:shade val="70000"/>
                      </ns3:schemeClr>
                    </ns3:solidFill>
                    <ns3:ln>
                      <ns3:noFill/>
                    </ns3:ln>
                    <ns3:effectLst/>
                  </ns0:spPr>
                  <ns0:extLst>
                    <ns0:ext uri="{C3380CC4-5D6E-409C-BE32-E72D297353CC}">
                      <ns4:uniqueId val="{00000010-4368-4516-9E3D-0520A6391040}"/>
                    </ns0:ext>
                  </ns0:extLst>
                </ns0:dPt>
                <ns0:dPt>
                  <ns0:idx val="2"/>
                  <ns0:bubble3D val="0"/>
                  <ns0:spPr>
                    <ns3:solidFill>
                      <ns3:schemeClr val="accent1">
                        <ns3:shade val="90000"/>
                      </ns3:schemeClr>
                    </ns3:solidFill>
                    <ns3:ln>
                      <ns3:noFill/>
                    </ns3:ln>
                    <ns3:effectLst/>
                  </ns0:spPr>
                  <ns0:extLst>
                    <ns0:ext uri="{C3380CC4-5D6E-409C-BE32-E72D297353CC}">
                      <ns4:uniqueId val="{00000012-4368-4516-9E3D-0520A6391040}"/>
                    </ns0:ext>
                  </ns0:extLst>
                </ns0:dPt>
                <ns0:dPt>
                  <ns0:idx val="3"/>
                  <ns0:bubble3D val="0"/>
                  <ns0:spPr>
                    <ns3:solidFill>
                      <ns3:schemeClr val="accent1">
                        <ns3:tint val="90000"/>
                      </ns3:schemeClr>
                    </ns3:solidFill>
                    <ns3:ln>
                      <ns3:noFill/>
                    </ns3:ln>
                    <ns3:effectLst/>
                  </ns0:spPr>
                  <ns0:extLst>
                    <ns0:ext uri="{C3380CC4-5D6E-409C-BE32-E72D297353CC}">
                      <ns4:uniqueId val="{00000014-4368-4516-9E3D-0520A6391040}"/>
                    </ns0:ext>
                  </ns0:extLst>
                </ns0:dPt>
                <ns0:dPt>
                  <ns0:idx val="4"/>
                  <ns0:bubble3D val="0"/>
                  <ns0:spPr>
                    <ns3:solidFill>
                      <ns3:schemeClr val="accent1">
                        <ns3:tint val="70000"/>
                      </ns3:schemeClr>
                    </ns3:solidFill>
                    <ns3:ln>
                      <ns3:noFill/>
                    </ns3:ln>
                    <ns3:effectLst/>
                  </ns0:spPr>
                  <ns0:extLst>
                    <ns0:ext uri="{C3380CC4-5D6E-409C-BE32-E72D297353CC}">
                      <ns4:uniqueId val="{00000016-4368-4516-9E3D-0520A6391040}"/>
                    </ns0:ext>
                  </ns0:extLst>
                </ns0:dPt>
                <ns0:dPt>
                  <ns0:idx val="5"/>
                  <ns0:bubble3D val="0"/>
                  <ns0:spPr>
                    <ns3:solidFill>
                      <ns3:schemeClr val="accent1">
                        <ns3:tint val="50000"/>
                      </ns3:schemeClr>
                    </ns3:solidFill>
                    <ns3:ln>
                      <ns3:noFill/>
                    </ns3:ln>
                    <ns3:effectLst/>
                  </ns0:spPr>
                  <ns0:extLst>
                    <ns0:ext uri="{C3380CC4-5D6E-409C-BE32-E72D297353CC}">
                      <ns4:uniqueId val="{00000018-4368-4516-9E3D-0520A6391040}"/>
                    </ns0:ext>
                  </ns0:extLst>
                </ns0:dPt>
                <ns0:cat>
                  <ns0:strRef>
                    <ns0:extLst>
                      <ns0:ext uri="{02D57815-91ED-43cb-92C2-25804820EDAC}">
                        <ns5:formulaRef>
                          <ns5:sqref>'RE-JV2'!$G$9:$G$14</ns5:sqref>
                        </ns5:formulaRef>
                      </ns0:ext>
                    </ns0:extLst>
                    <ns0:strCache>
                      <ns0:ptCount val="6"/>
                      <ns0:pt idx="0">
                        <ns0:v>USA</ns0:v>
                      </ns0:pt>
                      <ns0:pt idx="1">
                        <ns0:v>JAPAN</ns0:v>
                      </ns0:pt>
                      <ns0:pt idx="2">
                        <ns0:v>BELGIUM</ns0:v>
                      </ns0:pt>
                      <ns0:pt idx="3">
                        <ns0:v>CHINA</ns0:v>
                      </ns0:pt>
                      <ns0:pt idx="4">
                        <ns0:v>MEXICO</ns0:v>
                      </ns0:pt>
                      <ns0:pt idx="5">
                        <ns0:v>OTHERS</ns0:v>
                      </ns0:pt>
                    </ns0:strCache>
                  </ns0:strRef>
                </ns0:cat>
                <ns0:val>
                  <ns0:numRef>
                    <ns0:extLst>
                      <ns0:ext uri="{02D57815-91ED-43cb-92C2-25804820EDAC}">
                        <ns5:formulaRef>
                          <ns5:sqref>'RE-JV2'!$I$9:$I$14</ns5:sqref>
                        </ns5:formulaRef>
                      </ns0:ext>
                    </ns0:extLst>
                    <ns0:numCache>
                      <ns0:formatCode>General</ns0:formatCode>
                      <ns0:ptCount val="6"/>
                      <ns0:pt idx="0">
                        <ns0:v>571</ns0:v>
                      </ns0:pt>
                      <ns0:pt idx="1">
                        <ns0:v>571</ns0:v>
                      </ns0:pt>
                      <ns0:pt idx="2">
                        <ns0:v>571</ns0:v>
                      </ns0:pt>
                      <ns0:pt idx="3">
                        <ns0:v>571</ns0:v>
                      </ns0:pt>
                      <ns0:pt idx="4">
                        <ns0:v>571</ns0:v>
                      </ns0:pt>
                      <ns0:pt idx="5">
                        <ns0:v>571</ns0:v>
                      </ns0:pt>
                    </ns0:numCache>
                  </ns0:numRef>
                </ns0:val>
                <ns0:extLst>
                  <ns0:ext uri="{C3380CC4-5D6E-409C-BE32-E72D297353CC}">
                    <ns4:uniqueId val="{00000019-4368-4516-9E3D-0520A6391040}"/>
                  </ns0:ext>
                </ns0:extLst>
              </ns5:ser>
            </ns5:filteredPieSeries>
          </ns0:ext>
        </ns0:extLst>
      </ns0:pie3DChart>
      <ns0:spPr>
        <ns3:noFill/>
        <ns3:ln>
          <ns3:noFill/>
        </ns3:ln>
        <ns3:effectLst/>
      </ns0:spPr>
    </ns0:plotArea>
    <ns0:legend>
      <ns0:legendPos val="t"/>
      <ns0:legendEntry>
        <ns0:idx val="0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endParaRPr lang="vi-VN"/>
          </ns3:p>
        </ns0:txPr>
      </ns0:legendEntry>
      <ns0:legendEntry>
        <ns0:idx val="1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endParaRPr lang="vi-VN"/>
          </ns3:p>
        </ns0:txPr>
      </ns0:legendEntry>
      <ns0:legendEntry>
        <ns0:idx val="2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endParaRPr lang="vi-VN"/>
          </ns3:p>
        </ns0:txPr>
      </ns0:legendEntry>
      <ns0:legendEntry>
        <ns0:idx val="3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endParaRPr lang="vi-VN"/>
          </ns3:p>
        </ns0:txPr>
      </ns0:legendEntry>
      <ns0:legendEntry>
        <ns0:idx val="4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endParaRPr lang="vi-VN"/>
          </ns3:p>
        </ns0:txPr>
      </ns0:legendEntry>
      <ns0:legendEntry>
        <ns0:idx val="5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endParaRPr lang="vi-VN"/>
          </ns3:p>
        </ns0:txPr>
      </ns0:legendEntry>
      <ns0:layout>
        <ns0:manualLayout>
          <ns0:xMode val="edge"/>
          <ns0:yMode val="edge"/>
          <ns0:x val="0.61605092910242021"/>
          <ns0:y val="0.11142495711092243"/>
          <ns0:w val="0.38394907089757979"/>
          <ns0:h val="0.64533172569596131"/>
        </ns0:manualLayout>
      </ns0:layout>
      <ns0:overlay val="0"/>
      <ns0:spPr>
        <ns3:noFill/>
        <ns3:ln>
          <ns3:noFill/>
        </ns3:ln>
        <ns3:effectLst/>
      </ns0:spPr>
      <ns0:txPr>
        <ns3:bodyPr rot="0" spcFirstLastPara="0" vertOverflow="ellipsis" vert="horz" wrap="square" anchor="ctr" anchorCtr="1"/>
        <ns3:lstStyle/>
        <ns3:p>
          <ns3:pPr>
            <ns3:defRPr lang="en-US" sz="600" b="1" i="0" u="none" strike="noStrike" kern="1200" baseline="0">
              <ns3:solidFill>
                <ns3:schemeClr val="tx1"/>
              </ns3:solidFill>
              <ns3:latin typeface="+mn-lt"/>
              <ns3:ea typeface="+mn-ea"/>
              <ns3:cs typeface="+mn-cs"/>
            </ns3:defRPr>
          </ns3:pPr>
          <ns3:endParaRPr lang="vi-VN"/>
        </ns3:p>
      </ns0:txPr>
    </ns0:legend>
    <ns0:plotVisOnly val="1"/>
    <ns0:dispBlanksAs val="gap"/>
    <ns0:showDLblsOverMax val="0"/>
    <ns0:extLst>
      <ns0:ext uri="{0b15fc19-7d7d-44ad-8c2d-2c3a37ce22c3}">
        <ns6:chartProps chartId="{f8dd79a9-e21b-46da-80f5-500a0cf71162}"/>
      </ns0:ext>
    </ns0:extLst>
  </ns0:chart>
  <ns0:spPr>
    <ns3:noFill/>
    <ns3:ln w="9525" cap="flat" cmpd="sng" algn="ctr">
      <ns3:noFill/>
      <ns3:prstDash val="solid"/>
      <ns3:round/>
    </ns3:ln>
    <ns3:effectLst/>
  </ns0:spPr>
  <ns0:txPr>
    <ns3:bodyPr wrap="square"/>
    <ns3:lstStyle/>
    <ns3:p>
      <ns3:pPr>
        <ns3:defRPr lang="en-US" sz="700" b="1"/>
      </ns3:pPr>
      <ns3:endParaRPr lang="vi-VN"/>
    </ns3:p>
  </ns0:txPr>
  <ns0:externalData ns7:id="rId1">
    <ns0:autoUpdate val="1"/>
  </ns0:externalData>
</ns0:chartSpace>
</file>

<file path=ppt/charts/chart11.xml><?xml version="1.0" encoding="utf-8"?>
<ns0:chartSpace xmlns:ns0="http://schemas.openxmlformats.org/drawingml/2006/chart" xmlns:ns1="http://schemas.openxmlformats.org/markup-compatibility/2006" xmlns:ns2="http://schemas.microsoft.com/office/drawing/2007/8/2/chart" xmlns:ns3="http://schemas.openxmlformats.org/drawingml/2006/main" xmlns:ns4="http://schemas.microsoft.com/office/drawing/2014/chart" xmlns:ns5="http://schemas.microsoft.com/office/drawing/2012/chart" xmlns:ns6="https://web.wps.cn/et/2018/main" xmlns:ns7="http://schemas.openxmlformats.org/officeDocument/2006/relationships">
  <ns0:date1904 val="0"/>
  <ns0:lang val="en-US"/>
  <ns0:roundedCorners val="0"/>
  <ns1:AlternateContent>
    <ns1:Choice Requires="c14">
      <ns2:style val="103"/>
    </ns1:Choice>
    <ns1:Fallback>
      <ns0:style val="3"/>
    </ns1:Fallback>
  </ns1:AlternateContent>
  <ns0:chart>
    <ns0:autoTitleDeleted val="1"/>
    <ns0:view3D>
      <ns0:rotX val="30"/>
      <ns0:rotY val="0"/>
      <ns0:depthPercent val="100"/>
      <ns0:rAngAx val="0"/>
    </ns0:view3D>
    <ns0:floor>
      <ns0:thickness val="0"/>
      <ns0:spPr>
        <ns3:noFill/>
        <ns3:effectLst/>
      </ns0:spPr>
    </ns0:floor>
    <ns0:sideWall>
      <ns0:thickness val="0"/>
      <ns0:spPr>
        <ns3:noFill/>
        <ns3:effectLst/>
      </ns0:spPr>
    </ns0:sideWall>
    <ns0:backWall>
      <ns0:thickness val="0"/>
      <ns0:spPr>
        <ns3:noFill/>
        <ns3:effectLst/>
      </ns0:spPr>
    </ns0:backWall>
    <ns0:plotArea>
      <ns0:layout>
        <ns0:manualLayout>
          <ns0:layoutTarget val="inner"/>
          <ns0:xMode val="edge"/>
          <ns0:yMode val="edge"/>
          <ns0:x val="1.3923698134224449E-2"/>
          <ns0:y val="0.14716849248593863"/>
          <ns0:w val="0.56836535783904207"/>
          <ns0:h val="0.64723679832512404"/>
        </ns0:manualLayout>
      </ns0:layout>
      <ns0:pie3DChart>
        <ns0:varyColors val="1"/>
        <ns0:ser>
          <ns0:idx val="0"/>
          <ns0:order val="0"/>
          <ns0:tx>
            <ns0:strRef>
              <ns0:f>'RE-JV'!$G$6</ns0:f>
              <ns0:strCache>
                <ns0:ptCount val="1"/>
                <ns0:pt idx="0">
                  <ns0:v>Fail</ns0:v>
                </ns0:pt>
              </ns0:strCache>
            </ns0:strRef>
          </ns0:tx>
          <ns0:spPr>
            <ns3:scene3d>
              <ns3:camera prst="orthographicFront"/>
              <ns3:lightRig rig="threePt" dir="t"/>
            </ns3:scene3d>
            <ns3:sp3d contourW="9525"/>
          </ns0:spPr>
          <ns0:dPt>
            <ns0:idx val="0"/>
            <ns0:bubble3D val="0"/>
            <ns0:spPr>
              <ns3:solidFill>
                <ns3:srgbClr val="99B958"/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  <ns0:extLst>
              <ns0:ext uri="{C3380CC4-5D6E-409C-BE32-E72D297353CC}">
                <ns4:uniqueId val="{00000001-232F-4762-A9A0-20AD53E99565}"/>
              </ns0:ext>
            </ns0:extLst>
          </ns0:dPt>
          <ns0:dPt>
            <ns0:idx val="1"/>
            <ns0:bubble3D val="0"/>
            <ns0:spPr>
              <ns3:solidFill>
                <ns3:srgbClr val="4E80BB"/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  <ns0:extLst>
              <ns0:ext uri="{C3380CC4-5D6E-409C-BE32-E72D297353CC}">
                <ns4:uniqueId val="{00000003-232F-4762-A9A0-20AD53E99565}"/>
              </ns0:ext>
            </ns0:extLst>
          </ns0:dPt>
          <ns0:dPt>
            <ns0:idx val="2"/>
            <ns0:bubble3D val="0"/>
            <ns0:spPr>
              <ns3:solidFill>
                <ns3:srgbClr val="5E742E"/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  <ns0:extLst>
              <ns0:ext uri="{C3380CC4-5D6E-409C-BE32-E72D297353CC}">
                <ns4:uniqueId val="{00000005-232F-4762-A9A0-20AD53E99565}"/>
              </ns0:ext>
            </ns0:extLst>
          </ns0:dPt>
          <ns0:dPt>
            <ns0:idx val="3"/>
            <ns0:bubble3D val="0"/>
            <ns0:spPr>
              <ns3:solidFill>
                <ns3:schemeClr val="accent4">
                  <ns3:lumMod val="50000"/>
                </ns3:schemeClr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  <ns0:extLst>
              <ns0:ext uri="{C3380CC4-5D6E-409C-BE32-E72D297353CC}">
                <ns4:uniqueId val="{00000007-232F-4762-A9A0-20AD53E99565}"/>
              </ns0:ext>
            </ns0:extLst>
          </ns0:dPt>
          <ns0:dPt>
            <ns0:idx val="4"/>
            <ns0:bubble3D val="0"/>
            <ns0:spPr>
              <ns3:solidFill>
                <ns3:srgbClr val="4AA9C3"/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  <ns0:extLst>
              <ns0:ext uri="{C3380CC4-5D6E-409C-BE32-E72D297353CC}">
                <ns4:uniqueId val="{00000009-232F-4762-A9A0-20AD53E99565}"/>
              </ns0:ext>
            </ns0:extLst>
          </ns0:dPt>
          <ns0:dPt>
            <ns0:idx val="5"/>
            <ns0:bubble3D val="0"/>
            <ns0:spPr>
              <ns3:solidFill>
                <ns3:schemeClr val="bg1">
                  <ns3:lumMod val="75000"/>
                </ns3:schemeClr>
              </ns3:solidFill>
              <ns3:ln>
                <ns3:noFill/>
              </ns3:ln>
              <ns3:effectLst/>
              <ns3:scene3d>
                <ns3:camera prst="orthographicFront"/>
                <ns3:lightRig rig="threePt" dir="t"/>
              </ns3:scene3d>
              <ns3:sp3d contourW="9525"/>
            </ns0:spPr>
            <ns0:extLst>
              <ns0:ext uri="{C3380CC4-5D6E-409C-BE32-E72D297353CC}">
                <ns4:uniqueId val="{0000000B-232F-4762-A9A0-20AD53E99565}"/>
              </ns0:ext>
            </ns0:extLst>
          </ns0:dPt>
          <ns0:dLbls>
            <ns0:dLbl>
              <ns0:idx val="4"/>
              <ns0:layout>
                <ns0:manualLayout>
                  <ns0:x val="7.3717758964339977E-2"/>
                  <ns0:y val="1.2489911269457711E-2"/>
                </ns0:manualLayout>
              </ns0:layout>
              <ns0:dLblPos val="bestFit"/>
              <ns0:showLegendKey val="0"/>
              <ns0:showVal val="0"/>
              <ns0:showCatName val="0"/>
              <ns0:showSerName val="0"/>
              <ns0:showPercent val="1"/>
              <ns0:showBubbleSize val="0"/>
              <ns0:extLst>
                <ns0:ext uri="{CE6537A1-D6FC-4f65-9D91-7224C49458BB}">
                  <ns5:layout>
                    <ns0:manualLayout>
                      <ns0:w val="0.11144527986633249"/>
                      <ns0:h val="9.0953205890561467E-2"/>
                    </ns0:manualLayout>
                  </ns5:layout>
                </ns0:ext>
                <ns0:ext uri="{C3380CC4-5D6E-409C-BE32-E72D297353CC}">
                  <ns4:uniqueId val="{00000009-232F-4762-A9A0-20AD53E99565}"/>
                </ns0:ext>
              </ns0:extLst>
            </ns0:dLbl>
            <ns0:dLbl>
              <ns0:idx val="5"/>
              <ns0:layout>
                <ns0:manualLayout>
                  <ns0:x val="0.11173603299587549"/>
                  <ns0:y val="9.9517836205111954E-2"/>
                </ns0:manualLayout>
              </ns0:layout>
              <ns0:dLblPos val="bestFit"/>
              <ns0:showLegendKey val="0"/>
              <ns0:showVal val="0"/>
              <ns0:showCatName val="0"/>
              <ns0:showSerName val="0"/>
              <ns0:showPercent val="1"/>
              <ns0:showBubbleSize val="0"/>
              <ns0:extLst>
                <ns0:ext uri="{CE6537A1-D6FC-4f65-9D91-7224C49458BB}">
                  <ns5:layout>
                    <ns0:manualLayout>
                      <ns0:w val="0.15349484823169035"/>
                      <ns0:h val="0.12288513807417763"/>
                    </ns0:manualLayout>
                  </ns5:layout>
                  <ns5:dlblFieldTable/>
                  <ns5:showDataLabelsRange val="0"/>
                </ns0:ext>
                <ns0:ext uri="{C3380CC4-5D6E-409C-BE32-E72D297353CC}">
                  <ns4:uniqueId val="{0000000B-232F-4762-A9A0-20AD53E99565}"/>
                </ns0:ext>
              </ns0:extLst>
            </ns0:dLbl>
            <ns0:numFmt formatCode="0.0%" sourceLinked="0"/>
            <ns0:spPr>
              <ns3:noFill/>
              <ns3:ln>
                <ns3:noFill/>
              </ns3:ln>
              <ns3:effectLst/>
            </ns0:spPr>
            <ns0:txPr>
              <ns3:bodyPr rot="0" spcFirstLastPara="0" vertOverflow="ellipsis" vert="horz" wrap="square" lIns="38100" tIns="19050" rIns="38100" bIns="19050" anchor="ctr" anchorCtr="1"/>
              <ns3:lstStyle/>
              <ns3:p>
                <ns3:pPr>
                  <ns3:defRPr lang="en-US" sz="700" b="1" i="0" u="none" strike="noStrike" kern="1200" baseline="0">
                    <ns3:solidFill>
                      <ns3:schemeClr val="bg1"/>
                    </ns3:solidFill>
                    <ns3:latin typeface="+mn-lt"/>
                    <ns3:ea typeface="+mn-ea"/>
                    <ns3:cs typeface="+mn-cs"/>
                  </ns3:defRPr>
                </ns3:pPr>
                <ns3:endParaRPr lang="vi-VN"/>
              </ns3:p>
            </ns0:txPr>
            <ns0:dLblPos val="inEnd"/>
            <ns0:showLegendKey val="0"/>
            <ns0:showVal val="0"/>
            <ns0:showCatName val="0"/>
            <ns0:showSerName val="0"/>
            <ns0:showPercent val="1"/>
            <ns0:showBubbleSize val="0"/>
            <ns0:showLeaderLines val="0"/>
            <ns0:extLst>
              <ns0:ext uri="{CE6537A1-D6FC-4f65-9D91-7224C49458BB}"/>
            </ns0:extLst>
          </ns0:dLbls>
          <ns0:cat>
            <ns0:strRef>
              <ns0:f>'RE-JV'!$F$7:$F$12</ns0:f>
              <ns0:strCache>
                <ns0:ptCount val="6"/>
                <ns0:pt idx="0">
                  <ns0:v>CHINA</ns0:v>
                </ns0:pt>
                <ns0:pt idx="1">
                  <ns0:v>USA</ns0:v>
                </ns0:pt>
                <ns0:pt idx="2">
                  <ns0:v>BELGIUM</ns0:v>
                </ns0:pt>
                <ns0:pt idx="3">
                  <ns0:v>CANADA</ns0:v>
                </ns0:pt>
                <ns0:pt idx="4">
                  <ns0:v>JAPAN</ns0:v>
                </ns0:pt>
                <ns0:pt idx="5">
                  <ns0:v>OTHERS</ns0:v>
                </ns0:pt>
              </ns0:strCache>
            </ns0:strRef>
          </ns0:cat>
          <ns0:val>
            <ns0:numRef>
              <ns0:f>'RE-JV'!$G$7:$G$12</ns0:f>
              <ns0:numCache>
                <ns0:formatCode>General</ns0:formatCode>
                <ns0:ptCount val="6"/>
                <ns0:pt idx="0">
                  <ns0:v>32</ns0:v>
                </ns0:pt>
                <ns0:pt idx="1">
                  <ns0:v>26</ns0:v>
                </ns0:pt>
                <ns0:pt idx="2">
                  <ns0:v>13</ns0:v>
                </ns0:pt>
                <ns0:pt idx="3">
                  <ns0:v>7</ns0:v>
                </ns0:pt>
                <ns0:pt idx="4">
                  <ns0:v>4</ns0:v>
                </ns0:pt>
                <ns0:pt idx="5">
                  <ns0:v>17</ns0:v>
                </ns0:pt>
              </ns0:numCache>
            </ns0:numRef>
          </ns0:val>
          <ns0:extLst>
            <ns0:ext uri="{C3380CC4-5D6E-409C-BE32-E72D297353CC}">
              <ns4:uniqueId val="{0000000C-232F-4762-A9A0-20AD53E99565}"/>
            </ns0:ext>
          </ns0:extLst>
        </ns0:ser>
        <ns0:ser>
          <ns0:idx val="2"/>
          <ns0:order val="2"/>
          <ns0:tx>
            <ns0:strRef>
              <ns0:f>'RE-JV'!$I$6</ns0:f>
              <ns0:strCache>
                <ns0:ptCount val="1"/>
                <ns0:pt idx="0">
                  <ns0:v>% Fail</ns0:v>
                </ns0:pt>
              </ns0:strCache>
            </ns0:strRef>
          </ns0:tx>
          <ns0:dPt>
            <ns0:idx val="0"/>
            <ns0:bubble3D val="0"/>
            <ns0:spPr>
              <ns3:solidFill>
                <ns3:schemeClr val="accent1">
                  <ns3:shade val="50000"/>
                </ns3:schemeClr>
              </ns3:solidFill>
              <ns3:ln>
                <ns3:noFill/>
              </ns3:ln>
              <ns3:effectLst/>
            </ns0:spPr>
            <ns0:extLst>
              <ns0:ext uri="{C3380CC4-5D6E-409C-BE32-E72D297353CC}">
                <ns4:uniqueId val="{0000001B-232F-4762-A9A0-20AD53E99565}"/>
              </ns0:ext>
            </ns0:extLst>
          </ns0:dPt>
          <ns0:dPt>
            <ns0:idx val="1"/>
            <ns0:bubble3D val="0"/>
            <ns0:spPr>
              <ns3:solidFill>
                <ns3:schemeClr val="accent1">
                  <ns3:shade val="70000"/>
                </ns3:schemeClr>
              </ns3:solidFill>
              <ns3:ln>
                <ns3:noFill/>
              </ns3:ln>
              <ns3:effectLst/>
            </ns0:spPr>
            <ns0:extLst>
              <ns0:ext uri="{C3380CC4-5D6E-409C-BE32-E72D297353CC}">
                <ns4:uniqueId val="{0000001D-232F-4762-A9A0-20AD53E99565}"/>
              </ns0:ext>
            </ns0:extLst>
          </ns0:dPt>
          <ns0:dPt>
            <ns0:idx val="2"/>
            <ns0:bubble3D val="0"/>
            <ns0:spPr>
              <ns3:solidFill>
                <ns3:schemeClr val="accent1">
                  <ns3:shade val="90000"/>
                </ns3:schemeClr>
              </ns3:solidFill>
              <ns3:ln>
                <ns3:noFill/>
              </ns3:ln>
              <ns3:effectLst/>
            </ns0:spPr>
            <ns0:extLst>
              <ns0:ext uri="{C3380CC4-5D6E-409C-BE32-E72D297353CC}">
                <ns4:uniqueId val="{0000001F-232F-4762-A9A0-20AD53E99565}"/>
              </ns0:ext>
            </ns0:extLst>
          </ns0:dPt>
          <ns0:dPt>
            <ns0:idx val="3"/>
            <ns0:bubble3D val="0"/>
            <ns0:spPr>
              <ns3:solidFill>
                <ns3:schemeClr val="accent1">
                  <ns3:tint val="90000"/>
                </ns3:schemeClr>
              </ns3:solidFill>
              <ns3:ln>
                <ns3:noFill/>
              </ns3:ln>
              <ns3:effectLst/>
            </ns0:spPr>
            <ns0:extLst>
              <ns0:ext uri="{C3380CC4-5D6E-409C-BE32-E72D297353CC}">
                <ns4:uniqueId val="{00000021-232F-4762-A9A0-20AD53E99565}"/>
              </ns0:ext>
            </ns0:extLst>
          </ns0:dPt>
          <ns0:dPt>
            <ns0:idx val="4"/>
            <ns0:bubble3D val="0"/>
            <ns0:spPr>
              <ns3:solidFill>
                <ns3:schemeClr val="accent1">
                  <ns3:tint val="70000"/>
                </ns3:schemeClr>
              </ns3:solidFill>
              <ns3:ln>
                <ns3:noFill/>
              </ns3:ln>
              <ns3:effectLst/>
            </ns0:spPr>
            <ns0:extLst>
              <ns0:ext uri="{C3380CC4-5D6E-409C-BE32-E72D297353CC}">
                <ns4:uniqueId val="{00000023-232F-4762-A9A0-20AD53E99565}"/>
              </ns0:ext>
            </ns0:extLst>
          </ns0:dPt>
          <ns0:dPt>
            <ns0:idx val="5"/>
            <ns0:bubble3D val="0"/>
            <ns0:spPr>
              <ns3:solidFill>
                <ns3:schemeClr val="accent1">
                  <ns3:tint val="50000"/>
                </ns3:schemeClr>
              </ns3:solidFill>
              <ns3:ln>
                <ns3:noFill/>
              </ns3:ln>
              <ns3:effectLst/>
            </ns0:spPr>
            <ns0:extLst>
              <ns0:ext uri="{C3380CC4-5D6E-409C-BE32-E72D297353CC}">
                <ns4:uniqueId val="{00000025-232F-4762-A9A0-20AD53E99565}"/>
              </ns0:ext>
            </ns0:extLst>
          </ns0:dPt>
          <ns0:cat>
            <ns0:strRef>
              <ns0:f>'RE-JV'!$F$7:$F$12</ns0:f>
              <ns0:strCache>
                <ns0:ptCount val="6"/>
                <ns0:pt idx="0">
                  <ns0:v>CHINA</ns0:v>
                </ns0:pt>
                <ns0:pt idx="1">
                  <ns0:v>USA</ns0:v>
                </ns0:pt>
                <ns0:pt idx="2">
                  <ns0:v>BELGIUM</ns0:v>
                </ns0:pt>
                <ns0:pt idx="3">
                  <ns0:v>CANADA</ns0:v>
                </ns0:pt>
                <ns0:pt idx="4">
                  <ns0:v>JAPAN</ns0:v>
                </ns0:pt>
                <ns0:pt idx="5">
                  <ns0:v>OTHERS</ns0:v>
                </ns0:pt>
              </ns0:strCache>
            </ns0:strRef>
          </ns0:cat>
          <ns0:val>
            <ns0:numRef>
              <ns0:f>'RE-JV'!$I$7:$I$12</ns0:f>
              <ns0:numCache>
                <ns0:formatCode>0.00%</ns0:formatCode>
                <ns0:ptCount val="6"/>
                <ns0:pt idx="0">
                  <ns0:v>0.32323232323232326</ns0:v>
                </ns0:pt>
                <ns0:pt idx="1">
                  <ns0:v>0.26262626262626265</ns0:v>
                </ns0:pt>
                <ns0:pt idx="2">
                  <ns0:v>0.13131313131313133</ns0:v>
                </ns0:pt>
                <ns0:pt idx="3">
                  <ns0:v>7.0707070707070704E-2</ns0:v>
                </ns0:pt>
                <ns0:pt idx="4">
                  <ns0:v>4.0404040404040407E-2</ns0:v>
                </ns0:pt>
                <ns0:pt idx="5">
                  <ns0:v>0.17171717171717171</ns0:v>
                </ns0:pt>
              </ns0:numCache>
            </ns0:numRef>
          </ns0:val>
          <ns0:extLst>
            <ns0:ext uri="{C3380CC4-5D6E-409C-BE32-E72D297353CC}">
              <ns4:uniqueId val="{00000026-232F-4762-A9A0-20AD53E99565}"/>
            </ns0:ext>
          </ns0:extLst>
        </ns0:ser>
        <ns0:dLbls>
          <ns0:showLegendKey val="0"/>
          <ns0:showVal val="0"/>
          <ns0:showCatName val="0"/>
          <ns0:showSerName val="0"/>
          <ns0:showPercent val="0"/>
          <ns0:showBubbleSize val="0"/>
          <ns0:showLeaderLines val="0"/>
        </ns0:dLbls>
        <ns0:extLst>
          <ns0:ext uri="{02D57815-91ED-43cb-92C2-25804820EDAC}">
            <ns5:filteredPieSeries>
              <ns5:ser>
                <ns0:idx val="1"/>
                <ns0:order val="1"/>
                <ns0:tx>
                  <ns0:strRef>
                    <ns0:extLst>
                      <ns0:ext uri="{02D57815-91ED-43cb-92C2-25804820EDAC}">
                        <ns5:formulaRef>
                          <ns5:sqref>'RE-JV'!$H$6</ns5:sqref>
                        </ns5:formulaRef>
                      </ns0:ext>
                    </ns0:extLst>
                    <ns0:strCache>
                      <ns0:ptCount val="1"/>
                      <ns0:pt idx="0">
                        <ns0:v>Sum of Fail</ns0:v>
                      </ns0:pt>
                    </ns0:strCache>
                  </ns0:strRef>
                </ns0:tx>
                <ns0:dPt>
                  <ns0:idx val="0"/>
                  <ns0:bubble3D val="0"/>
                  <ns0:spPr>
                    <ns3:solidFill>
                      <ns3:schemeClr val="accent1">
                        <ns3:shade val="50000"/>
                      </ns3:schemeClr>
                    </ns3:solidFill>
                    <ns3:ln>
                      <ns3:noFill/>
                    </ns3:ln>
                    <ns3:effectLst/>
                  </ns0:spPr>
                  <ns0:extLst>
                    <ns0:ext uri="{C3380CC4-5D6E-409C-BE32-E72D297353CC}">
                      <ns4:uniqueId val="{0000000E-232F-4762-A9A0-20AD53E99565}"/>
                    </ns0:ext>
                  </ns0:extLst>
                </ns0:dPt>
                <ns0:dPt>
                  <ns0:idx val="1"/>
                  <ns0:bubble3D val="0"/>
                  <ns0:spPr>
                    <ns3:solidFill>
                      <ns3:schemeClr val="accent1">
                        <ns3:shade val="70000"/>
                      </ns3:schemeClr>
                    </ns3:solidFill>
                    <ns3:ln>
                      <ns3:noFill/>
                    </ns3:ln>
                    <ns3:effectLst/>
                  </ns0:spPr>
                  <ns0:extLst>
                    <ns0:ext uri="{C3380CC4-5D6E-409C-BE32-E72D297353CC}">
                      <ns4:uniqueId val="{00000010-232F-4762-A9A0-20AD53E99565}"/>
                    </ns0:ext>
                  </ns0:extLst>
                </ns0:dPt>
                <ns0:dPt>
                  <ns0:idx val="2"/>
                  <ns0:bubble3D val="0"/>
                  <ns0:spPr>
                    <ns3:solidFill>
                      <ns3:schemeClr val="accent1">
                        <ns3:shade val="90000"/>
                      </ns3:schemeClr>
                    </ns3:solidFill>
                    <ns3:ln>
                      <ns3:noFill/>
                    </ns3:ln>
                    <ns3:effectLst/>
                  </ns0:spPr>
                  <ns0:extLst>
                    <ns0:ext uri="{C3380CC4-5D6E-409C-BE32-E72D297353CC}">
                      <ns4:uniqueId val="{00000012-232F-4762-A9A0-20AD53E99565}"/>
                    </ns0:ext>
                  </ns0:extLst>
                </ns0:dPt>
                <ns0:dPt>
                  <ns0:idx val="3"/>
                  <ns0:bubble3D val="0"/>
                  <ns0:spPr>
                    <ns3:solidFill>
                      <ns3:schemeClr val="accent1">
                        <ns3:tint val="90000"/>
                      </ns3:schemeClr>
                    </ns3:solidFill>
                    <ns3:ln>
                      <ns3:noFill/>
                    </ns3:ln>
                    <ns3:effectLst/>
                  </ns0:spPr>
                  <ns0:extLst>
                    <ns0:ext uri="{C3380CC4-5D6E-409C-BE32-E72D297353CC}">
                      <ns4:uniqueId val="{00000014-232F-4762-A9A0-20AD53E99565}"/>
                    </ns0:ext>
                  </ns0:extLst>
                </ns0:dPt>
                <ns0:dPt>
                  <ns0:idx val="4"/>
                  <ns0:bubble3D val="0"/>
                  <ns0:spPr>
                    <ns3:solidFill>
                      <ns3:schemeClr val="accent1">
                        <ns3:tint val="70000"/>
                      </ns3:schemeClr>
                    </ns3:solidFill>
                    <ns3:ln>
                      <ns3:noFill/>
                    </ns3:ln>
                    <ns3:effectLst/>
                  </ns0:spPr>
                  <ns0:extLst>
                    <ns0:ext uri="{C3380CC4-5D6E-409C-BE32-E72D297353CC}">
                      <ns4:uniqueId val="{00000016-232F-4762-A9A0-20AD53E99565}"/>
                    </ns0:ext>
                  </ns0:extLst>
                </ns0:dPt>
                <ns0:dPt>
                  <ns0:idx val="5"/>
                  <ns0:bubble3D val="0"/>
                  <ns0:spPr>
                    <ns3:solidFill>
                      <ns3:schemeClr val="accent1">
                        <ns3:tint val="50000"/>
                      </ns3:schemeClr>
                    </ns3:solidFill>
                    <ns3:ln>
                      <ns3:noFill/>
                    </ns3:ln>
                    <ns3:effectLst/>
                  </ns0:spPr>
                  <ns0:extLst>
                    <ns0:ext uri="{C3380CC4-5D6E-409C-BE32-E72D297353CC}">
                      <ns4:uniqueId val="{00000018-232F-4762-A9A0-20AD53E99565}"/>
                    </ns0:ext>
                  </ns0:extLst>
                </ns0:dPt>
                <ns0:cat>
                  <ns0:strRef>
                    <ns0:extLst>
                      <ns0:ext uri="{02D57815-91ED-43cb-92C2-25804820EDAC}">
                        <ns5:formulaRef>
                          <ns5:sqref>'RE-JV'!$F$7:$F$12</ns5:sqref>
                        </ns5:formulaRef>
                      </ns0:ext>
                    </ns0:extLst>
                    <ns0:strCache>
                      <ns0:ptCount val="6"/>
                      <ns0:pt idx="0">
                        <ns0:v>CHINA</ns0:v>
                      </ns0:pt>
                      <ns0:pt idx="1">
                        <ns0:v>USA</ns0:v>
                      </ns0:pt>
                      <ns0:pt idx="2">
                        <ns0:v>BELGIUM</ns0:v>
                      </ns0:pt>
                      <ns0:pt idx="3">
                        <ns0:v>CANADA</ns0:v>
                      </ns0:pt>
                      <ns0:pt idx="4">
                        <ns0:v>JAPAN</ns0:v>
                      </ns0:pt>
                      <ns0:pt idx="5">
                        <ns0:v>OTHERS</ns0:v>
                      </ns0:pt>
                    </ns0:strCache>
                  </ns0:strRef>
                </ns0:cat>
                <ns0:val>
                  <ns0:numRef>
                    <ns0:extLst>
                      <ns0:ext uri="{02D57815-91ED-43cb-92C2-25804820EDAC}">
                        <ns5:formulaRef>
                          <ns5:sqref>'RE-JV'!$H$7:$H$12</ns5:sqref>
                        </ns5:formulaRef>
                      </ns0:ext>
                    </ns0:extLst>
                    <ns0:numCache>
                      <ns0:formatCode>General</ns0:formatCode>
                      <ns0:ptCount val="6"/>
                      <ns0:pt idx="0">
                        <ns0:v>99</ns0:v>
                      </ns0:pt>
                      <ns0:pt idx="1">
                        <ns0:v>99</ns0:v>
                      </ns0:pt>
                      <ns0:pt idx="2">
                        <ns0:v>99</ns0:v>
                      </ns0:pt>
                      <ns0:pt idx="3">
                        <ns0:v>99</ns0:v>
                      </ns0:pt>
                      <ns0:pt idx="4">
                        <ns0:v>99</ns0:v>
                      </ns0:pt>
                      <ns0:pt idx="5">
                        <ns0:v>99</ns0:v>
                      </ns0:pt>
                    </ns0:numCache>
                  </ns0:numRef>
                </ns0:val>
                <ns0:extLst>
                  <ns0:ext uri="{C3380CC4-5D6E-409C-BE32-E72D297353CC}">
                    <ns4:uniqueId val="{00000019-232F-4762-A9A0-20AD53E99565}"/>
                  </ns0:ext>
                </ns0:extLst>
              </ns5:ser>
            </ns5:filteredPieSeries>
          </ns0:ext>
        </ns0:extLst>
      </ns0:pie3DChart>
      <ns0:spPr>
        <ns3:noFill/>
        <ns3:ln>
          <ns3:noFill/>
        </ns3:ln>
        <ns3:effectLst/>
      </ns0:spPr>
    </ns0:plotArea>
    <ns0:legend>
      <ns0:legendPos val="t"/>
      <ns0:legendEntry>
        <ns0:idx val="0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endParaRPr lang="vi-VN"/>
          </ns3:p>
        </ns0:txPr>
      </ns0:legendEntry>
      <ns0:legendEntry>
        <ns0:idx val="1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endParaRPr lang="vi-VN"/>
          </ns3:p>
        </ns0:txPr>
      </ns0:legendEntry>
      <ns0:legendEntry>
        <ns0:idx val="2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endParaRPr lang="vi-VN"/>
          </ns3:p>
        </ns0:txPr>
      </ns0:legendEntry>
      <ns0:legendEntry>
        <ns0:idx val="3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endParaRPr lang="vi-VN"/>
          </ns3:p>
        </ns0:txPr>
      </ns0:legendEntry>
      <ns0:legendEntry>
        <ns0:idx val="4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endParaRPr lang="vi-VN"/>
          </ns3:p>
        </ns0:txPr>
      </ns0:legendEntry>
      <ns0:legendEntry>
        <ns0:idx val="5"/>
        <ns0:txPr>
          <ns3:bodyPr rot="0" spcFirstLastPara="0" vertOverflow="ellipsis" vert="horz" wrap="square" anchor="ctr" anchorCtr="1"/>
          <ns3:lstStyle/>
          <ns3:p>
            <ns3:pPr>
              <ns3:defRPr lang="en-US" sz="600" b="1" i="0" u="none" strike="noStrike" kern="1200" baseline="0">
                <ns3:solidFill>
                  <ns3:schemeClr val="tx1"/>
                </ns3:solidFill>
                <ns3:latin typeface="+mn-lt"/>
                <ns3:ea typeface="+mn-ea"/>
                <ns3:cs typeface="+mn-cs"/>
              </ns3:defRPr>
            </ns3:pPr>
            <ns3:endParaRPr lang="vi-VN"/>
          </ns3:p>
        </ns0:txPr>
      </ns0:legendEntry>
      <ns0:layout>
        <ns0:manualLayout>
          <ns0:xMode val="edge"/>
          <ns0:yMode val="edge"/>
          <ns0:x val="0.62099693678641044"/>
          <ns0:y val="0.10264481885542881"/>
          <ns0:w val="0.36229462545252017"/>
          <ns0:h val="0.58867983670294843"/>
        </ns0:manualLayout>
      </ns0:layout>
      <ns0:overlay val="0"/>
      <ns0:spPr>
        <ns3:noFill/>
        <ns3:ln>
          <ns3:noFill/>
        </ns3:ln>
        <ns3:effectLst/>
      </ns0:spPr>
      <ns0:txPr>
        <ns3:bodyPr rot="0" spcFirstLastPara="0" vertOverflow="ellipsis" vert="horz" wrap="square" anchor="ctr" anchorCtr="1"/>
        <ns3:lstStyle/>
        <ns3:p>
          <ns3:pPr>
            <ns3:defRPr lang="en-US" sz="600" b="1" i="0" u="none" strike="noStrike" kern="1200" baseline="0">
              <ns3:solidFill>
                <ns3:schemeClr val="tx1"/>
              </ns3:solidFill>
              <ns3:latin typeface="+mn-lt"/>
              <ns3:ea typeface="+mn-ea"/>
              <ns3:cs typeface="+mn-cs"/>
            </ns3:defRPr>
          </ns3:pPr>
          <ns3:endParaRPr lang="vi-VN"/>
        </ns3:p>
      </ns0:txPr>
    </ns0:legend>
    <ns0:plotVisOnly val="1"/>
    <ns0:dispBlanksAs val="gap"/>
    <ns0:showDLblsOverMax val="0"/>
    <ns0:extLst>
      <ns0:ext uri="{0b15fc19-7d7d-44ad-8c2d-2c3a37ce22c3}">
        <ns6:chartProps chartId="{bd50490e-0fef-4a80-b568-8bc4843a2255}"/>
      </ns0:ext>
    </ns0:extLst>
  </ns0:chart>
  <ns0:spPr>
    <ns3:noFill/>
    <ns3:ln w="9525" cap="flat" cmpd="sng" algn="ctr">
      <ns3:noFill/>
      <ns3:prstDash val="solid"/>
      <ns3:round/>
    </ns3:ln>
    <ns3:effectLst/>
  </ns0:spPr>
  <ns0:txPr>
    <ns3:bodyPr wrap="square"/>
    <ns3:lstStyle/>
    <ns3:p>
      <ns3:pPr>
        <ns3:defRPr lang="en-US"/>
      </ns3:pPr>
      <ns3:endParaRPr lang="vi-VN"/>
    </ns3:p>
  </ns0:txPr>
  <ns0:externalData ns7:id="rId1">
    <ns0:autoUpdate val="1"/>
  </ns0:externalData>
</ns0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2882631725676098E-2"/>
          <c:y val="5.1871898962562002E-2"/>
          <c:w val="0.65173310225303305"/>
          <c:h val="0.54325452214278358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QC!$AF$81</c:f>
              <c:strCache>
                <c:ptCount val="1"/>
                <c:pt idx="0">
                  <c:v>Airbag quality/stain</c:v>
                </c:pt>
              </c:strCache>
            </c:strRef>
          </c:tx>
          <c:spPr>
            <a:solidFill>
              <a:srgbClr val="59E4B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QC!$AC$82:$AE$91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JORDAN 1 LOW SE (GS)</c:v>
                  </c:pt>
                  <c:pt idx="2">
                    <c:v>AIR JORDAN 1 LOW SE (MS/WS)</c:v>
                  </c:pt>
                  <c:pt idx="4">
                    <c:v>JORDAN SPIZIKE LOW (GS)</c:v>
                  </c:pt>
                  <c:pt idx="6">
                    <c:v>NIKE AIR WINFLO 12 (MS/WS)</c:v>
                  </c:pt>
                  <c:pt idx="8">
                    <c:v>NIKE SB FORCE 58</c:v>
                  </c:pt>
                </c:lvl>
              </c:multiLvlStrCache>
            </c:multiLvlStrRef>
          </c:cat>
          <c:val>
            <c:numRef>
              <c:f>QC!$AF$82:$AF$91</c:f>
              <c:numCache>
                <c:formatCode>General</c:formatCode>
                <c:ptCount val="10"/>
              </c:numCache>
            </c:numRef>
          </c:val>
          <c:extLst>
            <c:ext xmlns:c16="http://schemas.microsoft.com/office/drawing/2014/chart" uri="{C3380CC4-5D6E-409C-BE32-E72D297353CC}">
              <c16:uniqueId val="{00000006-0A00-4E1D-B72B-91A3D05BA13F}"/>
            </c:ext>
          </c:extLst>
        </c:ser>
        <c:ser>
          <c:idx val="1"/>
          <c:order val="1"/>
          <c:tx>
            <c:strRef>
              <c:f>QC!$AG$81</c:f>
              <c:strCache>
                <c:ptCount val="1"/>
                <c:pt idx="0">
                  <c:v>Cleanness</c:v>
                </c:pt>
              </c:strCache>
            </c:strRef>
          </c:tx>
          <c:spPr>
            <a:solidFill>
              <a:srgbClr val="10253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QC!$AC$82:$AE$91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JORDAN 1 LOW SE (GS)</c:v>
                  </c:pt>
                  <c:pt idx="2">
                    <c:v>AIR JORDAN 1 LOW SE (MS/WS)</c:v>
                  </c:pt>
                  <c:pt idx="4">
                    <c:v>JORDAN SPIZIKE LOW (GS)</c:v>
                  </c:pt>
                  <c:pt idx="6">
                    <c:v>NIKE AIR WINFLO 12 (MS/WS)</c:v>
                  </c:pt>
                  <c:pt idx="8">
                    <c:v>NIKE SB FORCE 58</c:v>
                  </c:pt>
                </c:lvl>
              </c:multiLvlStrCache>
            </c:multiLvlStrRef>
          </c:cat>
          <c:val>
            <c:numRef>
              <c:f>QC!$AG$82:$AG$91</c:f>
              <c:numCache>
                <c:formatCode>General</c:formatCode>
                <c:ptCount val="10"/>
                <c:pt idx="0">
                  <c:v>1218</c:v>
                </c:pt>
                <c:pt idx="1">
                  <c:v>15</c:v>
                </c:pt>
                <c:pt idx="2">
                  <c:v>1901</c:v>
                </c:pt>
                <c:pt idx="3">
                  <c:v>32</c:v>
                </c:pt>
                <c:pt idx="4">
                  <c:v>1792</c:v>
                </c:pt>
                <c:pt idx="5">
                  <c:v>25</c:v>
                </c:pt>
                <c:pt idx="7">
                  <c:v>20</c:v>
                </c:pt>
                <c:pt idx="8">
                  <c:v>1491</c:v>
                </c:pt>
                <c:pt idx="9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A00-4E1D-B72B-91A3D05BA13F}"/>
            </c:ext>
          </c:extLst>
        </c:ser>
        <c:ser>
          <c:idx val="2"/>
          <c:order val="2"/>
          <c:tx>
            <c:strRef>
              <c:f>QC!$AH$81</c:f>
              <c:strCache>
                <c:ptCount val="1"/>
                <c:pt idx="0">
                  <c:v>Midsole/Outsole to upper bond gap</c:v>
                </c:pt>
              </c:strCache>
            </c:strRef>
          </c:tx>
          <c:spPr>
            <a:solidFill>
              <a:srgbClr val="F7964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QC!$AC$82:$AE$91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JORDAN 1 LOW SE (GS)</c:v>
                  </c:pt>
                  <c:pt idx="2">
                    <c:v>AIR JORDAN 1 LOW SE (MS/WS)</c:v>
                  </c:pt>
                  <c:pt idx="4">
                    <c:v>JORDAN SPIZIKE LOW (GS)</c:v>
                  </c:pt>
                  <c:pt idx="6">
                    <c:v>NIKE AIR WINFLO 12 (MS/WS)</c:v>
                  </c:pt>
                  <c:pt idx="8">
                    <c:v>NIKE SB FORCE 58</c:v>
                  </c:pt>
                </c:lvl>
              </c:multiLvlStrCache>
            </c:multiLvlStrRef>
          </c:cat>
          <c:val>
            <c:numRef>
              <c:f>QC!$AH$82:$AH$91</c:f>
              <c:numCache>
                <c:formatCode>General</c:formatCode>
                <c:ptCount val="10"/>
                <c:pt idx="2">
                  <c:v>1787</c:v>
                </c:pt>
                <c:pt idx="3">
                  <c:v>35</c:v>
                </c:pt>
                <c:pt idx="5">
                  <c:v>21</c:v>
                </c:pt>
                <c:pt idx="6">
                  <c:v>2395</c:v>
                </c:pt>
                <c:pt idx="7">
                  <c:v>14</c:v>
                </c:pt>
                <c:pt idx="9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00-4E1D-B72B-91A3D05BA13F}"/>
            </c:ext>
          </c:extLst>
        </c:ser>
        <c:ser>
          <c:idx val="3"/>
          <c:order val="3"/>
          <c:tx>
            <c:strRef>
              <c:f>QC!$AI$81</c:f>
              <c:strCache>
                <c:ptCount val="1"/>
                <c:pt idx="0">
                  <c:v>Over cement</c:v>
                </c:pt>
              </c:strCache>
            </c:strRef>
          </c:tx>
          <c:spPr>
            <a:solidFill>
              <a:srgbClr val="4F622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QC!$AC$82:$AE$91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JORDAN 1 LOW SE (GS)</c:v>
                  </c:pt>
                  <c:pt idx="2">
                    <c:v>AIR JORDAN 1 LOW SE (MS/WS)</c:v>
                  </c:pt>
                  <c:pt idx="4">
                    <c:v>JORDAN SPIZIKE LOW (GS)</c:v>
                  </c:pt>
                  <c:pt idx="6">
                    <c:v>NIKE AIR WINFLO 12 (MS/WS)</c:v>
                  </c:pt>
                  <c:pt idx="8">
                    <c:v>NIKE SB FORCE 58</c:v>
                  </c:pt>
                </c:lvl>
              </c:multiLvlStrCache>
            </c:multiLvlStrRef>
          </c:cat>
          <c:val>
            <c:numRef>
              <c:f>QC!$AI$82:$AI$91</c:f>
              <c:numCache>
                <c:formatCode>General</c:formatCode>
                <c:ptCount val="10"/>
                <c:pt idx="0">
                  <c:v>1269</c:v>
                </c:pt>
                <c:pt idx="1">
                  <c:v>14</c:v>
                </c:pt>
                <c:pt idx="3">
                  <c:v>29</c:v>
                </c:pt>
                <c:pt idx="4">
                  <c:v>1479</c:v>
                </c:pt>
                <c:pt idx="6">
                  <c:v>2764</c:v>
                </c:pt>
                <c:pt idx="8">
                  <c:v>1649</c:v>
                </c:pt>
                <c:pt idx="9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A00-4E1D-B72B-91A3D05BA13F}"/>
            </c:ext>
          </c:extLst>
        </c:ser>
        <c:ser>
          <c:idx val="4"/>
          <c:order val="4"/>
          <c:tx>
            <c:strRef>
              <c:f>QC!$AJ$81</c:f>
              <c:strCache>
                <c:ptCount val="1"/>
                <c:pt idx="0">
                  <c:v>Thread end</c:v>
                </c:pt>
              </c:strCache>
            </c:strRef>
          </c:tx>
          <c:spPr>
            <a:solidFill>
              <a:srgbClr val="4F7FB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QC!$AC$82:$AE$91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JORDAN 1 LOW SE (GS)</c:v>
                  </c:pt>
                  <c:pt idx="2">
                    <c:v>AIR JORDAN 1 LOW SE (MS/WS)</c:v>
                  </c:pt>
                  <c:pt idx="4">
                    <c:v>JORDAN SPIZIKE LOW (GS)</c:v>
                  </c:pt>
                  <c:pt idx="6">
                    <c:v>NIKE AIR WINFLO 12 (MS/WS)</c:v>
                  </c:pt>
                  <c:pt idx="8">
                    <c:v>NIKE SB FORCE 58</c:v>
                  </c:pt>
                </c:lvl>
              </c:multiLvlStrCache>
            </c:multiLvlStrRef>
          </c:cat>
          <c:val>
            <c:numRef>
              <c:f>QC!$AJ$82:$AJ$91</c:f>
              <c:numCache>
                <c:formatCode>General</c:formatCode>
                <c:ptCount val="10"/>
                <c:pt idx="2">
                  <c:v>1991</c:v>
                </c:pt>
                <c:pt idx="4">
                  <c:v>1496</c:v>
                </c:pt>
                <c:pt idx="5">
                  <c:v>22</c:v>
                </c:pt>
                <c:pt idx="8">
                  <c:v>1588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27-452E-BC0A-D2638D6F3F5A}"/>
            </c:ext>
          </c:extLst>
        </c:ser>
        <c:ser>
          <c:idx val="5"/>
          <c:order val="5"/>
          <c:tx>
            <c:strRef>
              <c:f>QC!$AK$81</c:f>
              <c:strCache>
                <c:ptCount val="1"/>
                <c:pt idx="0">
                  <c:v>Wrinkle bottom</c:v>
                </c:pt>
              </c:strCache>
            </c:strRef>
          </c:tx>
          <c:spPr>
            <a:solidFill>
              <a:srgbClr val="FAC09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QC!$AC$82:$AE$91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JORDAN 1 LOW SE (GS)</c:v>
                  </c:pt>
                  <c:pt idx="2">
                    <c:v>AIR JORDAN 1 LOW SE (MS/WS)</c:v>
                  </c:pt>
                  <c:pt idx="4">
                    <c:v>JORDAN SPIZIKE LOW (GS)</c:v>
                  </c:pt>
                  <c:pt idx="6">
                    <c:v>NIKE AIR WINFLO 12 (MS/WS)</c:v>
                  </c:pt>
                  <c:pt idx="8">
                    <c:v>NIKE SB FORCE 58</c:v>
                  </c:pt>
                </c:lvl>
              </c:multiLvlStrCache>
            </c:multiLvlStrRef>
          </c:cat>
          <c:val>
            <c:numRef>
              <c:f>QC!$AK$82:$AK$91</c:f>
              <c:numCache>
                <c:formatCode>General</c:formatCode>
                <c:ptCount val="10"/>
                <c:pt idx="6">
                  <c:v>2611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E527-452E-BC0A-D2638D6F3F5A}"/>
            </c:ext>
          </c:extLst>
        </c:ser>
        <c:ser>
          <c:idx val="6"/>
          <c:order val="6"/>
          <c:tx>
            <c:strRef>
              <c:f>QC!$AL$81</c:f>
              <c:strCache>
                <c:ptCount val="1"/>
                <c:pt idx="0">
                  <c:v>Wrinkle upper</c:v>
                </c:pt>
              </c:strCache>
            </c:strRef>
          </c:tx>
          <c:spPr>
            <a:solidFill>
              <a:srgbClr val="B9FE8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QC!$AC$82:$AE$91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JORDAN 1 LOW SE (GS)</c:v>
                  </c:pt>
                  <c:pt idx="2">
                    <c:v>AIR JORDAN 1 LOW SE (MS/WS)</c:v>
                  </c:pt>
                  <c:pt idx="4">
                    <c:v>JORDAN SPIZIKE LOW (GS)</c:v>
                  </c:pt>
                  <c:pt idx="6">
                    <c:v>NIKE AIR WINFLO 12 (MS/WS)</c:v>
                  </c:pt>
                  <c:pt idx="8">
                    <c:v>NIKE SB FORCE 58</c:v>
                  </c:pt>
                </c:lvl>
              </c:multiLvlStrCache>
            </c:multiLvlStrRef>
          </c:cat>
          <c:val>
            <c:numRef>
              <c:f>QC!$AL$82:$AL$91</c:f>
              <c:numCache>
                <c:formatCode>General</c:formatCode>
                <c:ptCount val="10"/>
                <c:pt idx="7">
                  <c:v>17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2-E527-452E-BC0A-D2638D6F3F5A}"/>
            </c:ext>
          </c:extLst>
        </c:ser>
        <c:ser>
          <c:idx val="7"/>
          <c:order val="7"/>
          <c:tx>
            <c:strRef>
              <c:f>QC!$AM$81</c:f>
              <c:strCache>
                <c:ptCount val="1"/>
                <c:pt idx="0">
                  <c:v>Heel/Tip height inconsistent</c:v>
                </c:pt>
              </c:strCache>
            </c:strRef>
          </c:tx>
          <c:spPr>
            <a:solidFill>
              <a:srgbClr val="336A4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QC!$AC$82:$AE$91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JORDAN 1 LOW SE (GS)</c:v>
                  </c:pt>
                  <c:pt idx="2">
                    <c:v>AIR JORDAN 1 LOW SE (MS/WS)</c:v>
                  </c:pt>
                  <c:pt idx="4">
                    <c:v>JORDAN SPIZIKE LOW (GS)</c:v>
                  </c:pt>
                  <c:pt idx="6">
                    <c:v>NIKE AIR WINFLO 12 (MS/WS)</c:v>
                  </c:pt>
                  <c:pt idx="8">
                    <c:v>NIKE SB FORCE 58</c:v>
                  </c:pt>
                </c:lvl>
              </c:multiLvlStrCache>
            </c:multiLvlStrRef>
          </c:cat>
          <c:val>
            <c:numRef>
              <c:f>QC!$AM$82:$AM$91</c:f>
              <c:numCache>
                <c:formatCode>General</c:formatCode>
                <c:ptCount val="10"/>
                <c:pt idx="0">
                  <c:v>1022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46-4F2F-AB89-A0FCCA4B47DE}"/>
            </c:ext>
          </c:extLst>
        </c:ser>
        <c:ser>
          <c:idx val="8"/>
          <c:order val="8"/>
          <c:tx>
            <c:strRef>
              <c:f>QC!$AN$81</c:f>
              <c:strCache>
                <c:ptCount val="1"/>
                <c:pt idx="0">
                  <c:v>Rocking</c:v>
                </c:pt>
              </c:strCache>
            </c:strRef>
          </c:tx>
          <c:spPr>
            <a:solidFill>
              <a:srgbClr val="EAD7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QC!$AC$82:$AE$91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JORDAN 1 LOW SE (GS)</c:v>
                  </c:pt>
                  <c:pt idx="2">
                    <c:v>AIR JORDAN 1 LOW SE (MS/WS)</c:v>
                  </c:pt>
                  <c:pt idx="4">
                    <c:v>JORDAN SPIZIKE LOW (GS)</c:v>
                  </c:pt>
                  <c:pt idx="6">
                    <c:v>NIKE AIR WINFLO 12 (MS/WS)</c:v>
                  </c:pt>
                  <c:pt idx="8">
                    <c:v>NIKE SB FORCE 58</c:v>
                  </c:pt>
                </c:lvl>
              </c:multiLvlStrCache>
            </c:multiLvlStrRef>
          </c:cat>
          <c:val>
            <c:numRef>
              <c:f>QC!$AN$82:$AN$91</c:f>
              <c:numCache>
                <c:formatCode>General</c:formatCode>
                <c:ptCount val="10"/>
                <c:pt idx="1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746-4F2F-AB89-A0FCCA4B47D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overlap val="100"/>
        <c:axId val="420531423"/>
        <c:axId val="291423313"/>
        <c:extLst/>
      </c:barChart>
      <c:catAx>
        <c:axId val="42053142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rnd" cmpd="sng" algn="ctr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3000">
                  <a:srgbClr val="BEC0CB">
                    <a:alpha val="100000"/>
                  </a:srgbClr>
                </a:gs>
                <a:gs pos="39000">
                  <a:srgbClr val="85869A"/>
                </a:gs>
                <a:gs pos="100000">
                  <a:srgbClr val="141338"/>
                </a:gs>
              </a:gsLst>
              <a:lin ang="5400000" scaled="0"/>
            </a:gra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vi-VN"/>
          </a:p>
        </c:txPr>
        <c:crossAx val="291423313"/>
        <c:crosses val="autoZero"/>
        <c:auto val="1"/>
        <c:lblAlgn val="ctr"/>
        <c:lblOffset val="100"/>
        <c:noMultiLvlLbl val="0"/>
      </c:catAx>
      <c:valAx>
        <c:axId val="29142331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vi-VN"/>
          </a:p>
        </c:txPr>
        <c:crossAx val="4205314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e63fed7b-fe7f-4d98-bb8e-7f1a7be96b3a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en-US" sz="700"/>
      </a:pPr>
      <a:endParaRPr lang="vi-VN"/>
    </a:p>
  </c:txPr>
  <c:externalData r:id="rId3">
    <c:autoUpdate val="1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2882631725676098E-2"/>
          <c:y val="4.92505353319058E-2"/>
          <c:w val="0.65173310225303305"/>
          <c:h val="0.53098574259509324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MA!$AM$81</c:f>
              <c:strCache>
                <c:ptCount val="1"/>
                <c:pt idx="0">
                  <c:v>Cleanness</c:v>
                </c:pt>
              </c:strCache>
            </c:strRef>
          </c:tx>
          <c:spPr>
            <a:solidFill>
              <a:srgbClr val="10253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MA!$AJ$82:$AL$91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JORDAN 1 LOW SE (GS)</c:v>
                  </c:pt>
                  <c:pt idx="2">
                    <c:v>AIR JORDAN 1 LOW SE (MS/WS)</c:v>
                  </c:pt>
                  <c:pt idx="4">
                    <c:v>JORDAN SPIZIKE LOW (GS)</c:v>
                  </c:pt>
                  <c:pt idx="6">
                    <c:v>NIKE AIR WINFLO 12 (MS/WS)</c:v>
                  </c:pt>
                  <c:pt idx="8">
                    <c:v>NIKE SB FORCE 58</c:v>
                  </c:pt>
                </c:lvl>
              </c:multiLvlStrCache>
            </c:multiLvlStrRef>
          </c:cat>
          <c:val>
            <c:numRef>
              <c:f>MA!$AM$82:$AM$91</c:f>
              <c:numCache>
                <c:formatCode>General</c:formatCode>
                <c:ptCount val="10"/>
                <c:pt idx="0">
                  <c:v>21</c:v>
                </c:pt>
                <c:pt idx="1">
                  <c:v>2</c:v>
                </c:pt>
                <c:pt idx="2">
                  <c:v>37</c:v>
                </c:pt>
                <c:pt idx="3">
                  <c:v>1</c:v>
                </c:pt>
                <c:pt idx="4">
                  <c:v>30</c:v>
                </c:pt>
                <c:pt idx="6">
                  <c:v>24</c:v>
                </c:pt>
                <c:pt idx="8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DA40-437C-9A18-69F276FF13A2}"/>
            </c:ext>
          </c:extLst>
        </c:ser>
        <c:ser>
          <c:idx val="1"/>
          <c:order val="1"/>
          <c:tx>
            <c:strRef>
              <c:f>MA!$AN$81</c:f>
              <c:strCache>
                <c:ptCount val="1"/>
                <c:pt idx="0">
                  <c:v>Midsole/Outsole to upper bond gap</c:v>
                </c:pt>
              </c:strCache>
            </c:strRef>
          </c:tx>
          <c:spPr>
            <a:solidFill>
              <a:srgbClr val="F7964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MA!$AJ$82:$AL$91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JORDAN 1 LOW SE (GS)</c:v>
                  </c:pt>
                  <c:pt idx="2">
                    <c:v>AIR JORDAN 1 LOW SE (MS/WS)</c:v>
                  </c:pt>
                  <c:pt idx="4">
                    <c:v>JORDAN SPIZIKE LOW (GS)</c:v>
                  </c:pt>
                  <c:pt idx="6">
                    <c:v>NIKE AIR WINFLO 12 (MS/WS)</c:v>
                  </c:pt>
                  <c:pt idx="8">
                    <c:v>NIKE SB FORCE 58</c:v>
                  </c:pt>
                </c:lvl>
              </c:multiLvlStrCache>
            </c:multiLvlStrRef>
          </c:cat>
          <c:val>
            <c:numRef>
              <c:f>MA!$AN$82:$AN$91</c:f>
              <c:numCache>
                <c:formatCode>General</c:formatCode>
                <c:ptCount val="10"/>
                <c:pt idx="0">
                  <c:v>20</c:v>
                </c:pt>
                <c:pt idx="2">
                  <c:v>37</c:v>
                </c:pt>
                <c:pt idx="4">
                  <c:v>41</c:v>
                </c:pt>
                <c:pt idx="6">
                  <c:v>30</c:v>
                </c:pt>
                <c:pt idx="8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A40-437C-9A18-69F276FF13A2}"/>
            </c:ext>
          </c:extLst>
        </c:ser>
        <c:ser>
          <c:idx val="2"/>
          <c:order val="2"/>
          <c:tx>
            <c:strRef>
              <c:f>MA!$AO$81</c:f>
              <c:strCache>
                <c:ptCount val="1"/>
                <c:pt idx="0">
                  <c:v>Over cement</c:v>
                </c:pt>
              </c:strCache>
            </c:strRef>
          </c:tx>
          <c:spPr>
            <a:solidFill>
              <a:srgbClr val="4F6228"/>
            </a:solidFill>
            <a:ln>
              <a:noFill/>
            </a:ln>
            <a:effectLst/>
          </c:spPr>
          <c:invertIfNegative val="0"/>
          <c:dLbls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419-44B4-9DCF-077A16B3921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MA!$AJ$82:$AL$91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JORDAN 1 LOW SE (GS)</c:v>
                  </c:pt>
                  <c:pt idx="2">
                    <c:v>AIR JORDAN 1 LOW SE (MS/WS)</c:v>
                  </c:pt>
                  <c:pt idx="4">
                    <c:v>JORDAN SPIZIKE LOW (GS)</c:v>
                  </c:pt>
                  <c:pt idx="6">
                    <c:v>NIKE AIR WINFLO 12 (MS/WS)</c:v>
                  </c:pt>
                  <c:pt idx="8">
                    <c:v>NIKE SB FORCE 58</c:v>
                  </c:pt>
                </c:lvl>
              </c:multiLvlStrCache>
            </c:multiLvlStrRef>
          </c:cat>
          <c:val>
            <c:numRef>
              <c:f>MA!$AO$82:$AO$91</c:f>
              <c:numCache>
                <c:formatCode>General</c:formatCode>
                <c:ptCount val="10"/>
                <c:pt idx="0">
                  <c:v>24</c:v>
                </c:pt>
                <c:pt idx="1">
                  <c:v>2</c:v>
                </c:pt>
                <c:pt idx="2">
                  <c:v>34</c:v>
                </c:pt>
                <c:pt idx="6">
                  <c:v>19</c:v>
                </c:pt>
                <c:pt idx="8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40-437C-9A18-69F276FF13A2}"/>
            </c:ext>
          </c:extLst>
        </c:ser>
        <c:ser>
          <c:idx val="3"/>
          <c:order val="3"/>
          <c:tx>
            <c:strRef>
              <c:f>MA!$AP$81</c:f>
              <c:strCache>
                <c:ptCount val="1"/>
                <c:pt idx="0">
                  <c:v>Thread end</c:v>
                </c:pt>
              </c:strCache>
            </c:strRef>
          </c:tx>
          <c:spPr>
            <a:solidFill>
              <a:srgbClr val="4F7FB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MA!$AJ$82:$AL$91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JORDAN 1 LOW SE (GS)</c:v>
                  </c:pt>
                  <c:pt idx="2">
                    <c:v>AIR JORDAN 1 LOW SE (MS/WS)</c:v>
                  </c:pt>
                  <c:pt idx="4">
                    <c:v>JORDAN SPIZIKE LOW (GS)</c:v>
                  </c:pt>
                  <c:pt idx="6">
                    <c:v>NIKE AIR WINFLO 12 (MS/WS)</c:v>
                  </c:pt>
                  <c:pt idx="8">
                    <c:v>NIKE SB FORCE 58</c:v>
                  </c:pt>
                </c:lvl>
              </c:multiLvlStrCache>
            </c:multiLvlStrRef>
          </c:cat>
          <c:val>
            <c:numRef>
              <c:f>MA!$AP$82:$AP$91</c:f>
              <c:numCache>
                <c:formatCode>General</c:formatCode>
                <c:ptCount val="10"/>
                <c:pt idx="5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DA40-437C-9A18-69F276FF13A2}"/>
            </c:ext>
          </c:extLst>
        </c:ser>
        <c:ser>
          <c:idx val="4"/>
          <c:order val="4"/>
          <c:tx>
            <c:strRef>
              <c:f>MA!$AQ$81</c:f>
              <c:strCache>
                <c:ptCount val="1"/>
                <c:pt idx="0">
                  <c:v>Rocking</c:v>
                </c:pt>
              </c:strCache>
            </c:strRef>
          </c:tx>
          <c:spPr>
            <a:solidFill>
              <a:srgbClr val="EAD7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MA!$AJ$82:$AL$91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JORDAN 1 LOW SE (GS)</c:v>
                  </c:pt>
                  <c:pt idx="2">
                    <c:v>AIR JORDAN 1 LOW SE (MS/WS)</c:v>
                  </c:pt>
                  <c:pt idx="4">
                    <c:v>JORDAN SPIZIKE LOW (GS)</c:v>
                  </c:pt>
                  <c:pt idx="6">
                    <c:v>NIKE AIR WINFLO 12 (MS/WS)</c:v>
                  </c:pt>
                  <c:pt idx="8">
                    <c:v>NIKE SB FORCE 58</c:v>
                  </c:pt>
                </c:lvl>
              </c:multiLvlStrCache>
            </c:multiLvlStrRef>
          </c:cat>
          <c:val>
            <c:numRef>
              <c:f>MA!$AQ$82:$AQ$91</c:f>
              <c:numCache>
                <c:formatCode>General</c:formatCode>
                <c:ptCount val="10"/>
                <c:pt idx="5">
                  <c:v>3</c:v>
                </c:pt>
                <c:pt idx="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DA40-437C-9A18-69F276FF13A2}"/>
            </c:ext>
          </c:extLst>
        </c:ser>
        <c:ser>
          <c:idx val="5"/>
          <c:order val="5"/>
          <c:tx>
            <c:strRef>
              <c:f>MA!$AR$81</c:f>
              <c:strCache>
                <c:ptCount val="1"/>
                <c:pt idx="0">
                  <c:v>Sole attachment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MA!$AJ$82:$AL$91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JORDAN 1 LOW SE (GS)</c:v>
                  </c:pt>
                  <c:pt idx="2">
                    <c:v>AIR JORDAN 1 LOW SE (MS/WS)</c:v>
                  </c:pt>
                  <c:pt idx="4">
                    <c:v>JORDAN SPIZIKE LOW (GS)</c:v>
                  </c:pt>
                  <c:pt idx="6">
                    <c:v>NIKE AIR WINFLO 12 (MS/WS)</c:v>
                  </c:pt>
                  <c:pt idx="8">
                    <c:v>NIKE SB FORCE 58</c:v>
                  </c:pt>
                </c:lvl>
              </c:multiLvlStrCache>
            </c:multiLvlStrRef>
          </c:cat>
          <c:val>
            <c:numRef>
              <c:f>MA!$AR$82:$AR$91</c:f>
              <c:numCache>
                <c:formatCode>General</c:formatCode>
                <c:ptCount val="10"/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DA40-437C-9A18-69F276FF13A2}"/>
            </c:ext>
          </c:extLst>
        </c:ser>
        <c:ser>
          <c:idx val="6"/>
          <c:order val="6"/>
          <c:tx>
            <c:strRef>
              <c:f>MA!$AS$81</c:f>
              <c:strCache>
                <c:ptCount val="1"/>
                <c:pt idx="0">
                  <c:v>Wrinkle upper</c:v>
                </c:pt>
              </c:strCache>
            </c:strRef>
          </c:tx>
          <c:spPr>
            <a:solidFill>
              <a:srgbClr val="B9FE8B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MA!$AJ$82:$AL$91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JORDAN 1 LOW SE (GS)</c:v>
                  </c:pt>
                  <c:pt idx="2">
                    <c:v>AIR JORDAN 1 LOW SE (MS/WS)</c:v>
                  </c:pt>
                  <c:pt idx="4">
                    <c:v>JORDAN SPIZIKE LOW (GS)</c:v>
                  </c:pt>
                  <c:pt idx="6">
                    <c:v>NIKE AIR WINFLO 12 (MS/WS)</c:v>
                  </c:pt>
                  <c:pt idx="8">
                    <c:v>NIKE SB FORCE 58</c:v>
                  </c:pt>
                </c:lvl>
              </c:multiLvlStrCache>
            </c:multiLvlStrRef>
          </c:cat>
          <c:val>
            <c:numRef>
              <c:f>MA!$AS$82:$AS$91</c:f>
              <c:numCache>
                <c:formatCode>General</c:formatCode>
                <c:ptCount val="10"/>
                <c:pt idx="4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40-437C-9A18-69F276FF13A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overlap val="100"/>
        <c:axId val="420531423"/>
        <c:axId val="291423313"/>
        <c:extLst>
          <c:ext xmlns:c15="http://schemas.microsoft.com/office/drawing/2012/chart" uri="{02D57815-91ED-43cb-92C2-25804820EDAC}">
            <c15:filteredBarSeries>
              <c15:ser>
                <c:idx val="7"/>
                <c:order val="7"/>
                <c:tx>
                  <c:strRef>
                    <c:extLst>
                      <c:ext uri="{02D57815-91ED-43cb-92C2-25804820EDAC}">
                        <c15:formulaRef>
                          <c15:sqref>MA!$AT$81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rgbClr val="FAC090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vi-VN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>
                      <c:ext uri="{02D57815-91ED-43cb-92C2-25804820EDAC}">
                        <c15:formulaRef>
                          <c15:sqref>MA!$AJ$82:$AL$91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HFPA</c:v>
                        </c:pt>
                        <c:pt idx="1">
                          <c:v>Re-ins</c:v>
                        </c:pt>
                        <c:pt idx="2">
                          <c:v>HFPA</c:v>
                        </c:pt>
                        <c:pt idx="3">
                          <c:v>Re-ins</c:v>
                        </c:pt>
                        <c:pt idx="4">
                          <c:v>HFPA</c:v>
                        </c:pt>
                        <c:pt idx="5">
                          <c:v>Re-ins</c:v>
                        </c:pt>
                        <c:pt idx="6">
                          <c:v>HFPA</c:v>
                        </c:pt>
                        <c:pt idx="7">
                          <c:v>Re-ins</c:v>
                        </c:pt>
                        <c:pt idx="8">
                          <c:v>HFPA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AIR JORDAN 1 LOW SE (GS)</c:v>
                        </c:pt>
                        <c:pt idx="2">
                          <c:v>AIR JORDAN 1 LOW SE (MS/WS)</c:v>
                        </c:pt>
                        <c:pt idx="4">
                          <c:v>JORDAN SPIZIKE LOW (GS)</c:v>
                        </c:pt>
                        <c:pt idx="6">
                          <c:v>NIKE AIR WINFLO 12 (MS/WS)</c:v>
                        </c:pt>
                        <c:pt idx="8">
                          <c:v>NIKE SB FORCE 58</c:v>
                        </c:pt>
                      </c:lvl>
                    </c:multiLvlStrCache>
                  </c:multiLvlStrRef>
                </c:cat>
                <c:val>
                  <c:numRef>
                    <c:extLst>
                      <c:ext uri="{02D57815-91ED-43cb-92C2-25804820EDAC}">
                        <c15:formulaRef>
                          <c15:sqref>MA!$AT$82:$AT$91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C-DA40-437C-9A18-69F276FF13A2}"/>
                  </c:ext>
                </c:extLst>
              </c15:ser>
            </c15:filteredBarSeries>
            <c15:filteredBarSeries>
              <c15:ser>
                <c:idx val="8"/>
                <c:order val="8"/>
                <c:tx>
                  <c:strRef>
                    <c:extLst>
                      <c:ext xmlns:c15="http://schemas.microsoft.com/office/drawing/2012/chart" uri="{02D57815-91ED-43cb-92C2-25804820EDAC}">
                        <c15:formulaRef>
                          <c15:sqref>MA!$AU$81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rgbClr val="336A4E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vi-VN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>
                      <c:ext xmlns:c15="http://schemas.microsoft.com/office/drawing/2012/chart" uri="{02D57815-91ED-43cb-92C2-25804820EDAC}">
                        <c15:formulaRef>
                          <c15:sqref>MA!$AJ$82:$AL$91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HFPA</c:v>
                        </c:pt>
                        <c:pt idx="1">
                          <c:v>Re-ins</c:v>
                        </c:pt>
                        <c:pt idx="2">
                          <c:v>HFPA</c:v>
                        </c:pt>
                        <c:pt idx="3">
                          <c:v>Re-ins</c:v>
                        </c:pt>
                        <c:pt idx="4">
                          <c:v>HFPA</c:v>
                        </c:pt>
                        <c:pt idx="5">
                          <c:v>Re-ins</c:v>
                        </c:pt>
                        <c:pt idx="6">
                          <c:v>HFPA</c:v>
                        </c:pt>
                        <c:pt idx="7">
                          <c:v>Re-ins</c:v>
                        </c:pt>
                        <c:pt idx="8">
                          <c:v>HFPA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AIR JORDAN 1 LOW SE (GS)</c:v>
                        </c:pt>
                        <c:pt idx="2">
                          <c:v>AIR JORDAN 1 LOW SE (MS/WS)</c:v>
                        </c:pt>
                        <c:pt idx="4">
                          <c:v>JORDAN SPIZIKE LOW (GS)</c:v>
                        </c:pt>
                        <c:pt idx="6">
                          <c:v>NIKE AIR WINFLO 12 (MS/WS)</c:v>
                        </c:pt>
                        <c:pt idx="8">
                          <c:v>NIKE SB FORCE 58</c:v>
                        </c:pt>
                      </c:lvl>
                    </c:multiLvlStrCache>
                  </c:multiLvlStrRef>
                </c:cat>
                <c:val>
                  <c:numRef>
                    <c:extLst>
                      <c:ext xmlns:c15="http://schemas.microsoft.com/office/drawing/2012/chart" uri="{02D57815-91ED-43cb-92C2-25804820EDAC}">
                        <c15:formulaRef>
                          <c15:sqref>MA!$AU$82:$AU$91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0-FCB0-4B24-B637-673E5705F57A}"/>
                  </c:ext>
                </c:extLst>
              </c15:ser>
            </c15:filteredBarSeries>
          </c:ext>
        </c:extLst>
      </c:barChart>
      <c:catAx>
        <c:axId val="42053142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3000">
                  <a:srgbClr val="BEC0CB"/>
                </a:gs>
                <a:gs pos="39000">
                  <a:srgbClr val="85869A"/>
                </a:gs>
                <a:gs pos="100000">
                  <a:srgbClr val="141338"/>
                </a:gs>
              </a:gsLst>
              <a:lin ang="5400000" scaled="1"/>
            </a:gra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vi-VN"/>
          </a:p>
        </c:txPr>
        <c:crossAx val="291423313"/>
        <c:crosses val="autoZero"/>
        <c:auto val="1"/>
        <c:lblAlgn val="ctr"/>
        <c:lblOffset val="100"/>
        <c:noMultiLvlLbl val="0"/>
      </c:catAx>
      <c:valAx>
        <c:axId val="29142331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vi-VN"/>
          </a:p>
        </c:txPr>
        <c:crossAx val="4205314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e63fed7b-fe7f-4d98-bb8e-7f1a7be96b3a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en-US" sz="700"/>
      </a:pPr>
      <a:endParaRPr lang="vi-VN"/>
    </a:p>
  </c:txPr>
  <c:externalData r:id="rId3">
    <c:autoUpdate val="1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2882631725676098E-2"/>
          <c:y val="5.3463505346350498E-2"/>
          <c:w val="0.65348480624477301"/>
          <c:h val="0.53632260402596121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QC!$AF$126</c:f>
              <c:strCache>
                <c:ptCount val="1"/>
                <c:pt idx="0">
                  <c:v>Airbag quality/stain</c:v>
                </c:pt>
              </c:strCache>
            </c:strRef>
          </c:tx>
          <c:spPr>
            <a:solidFill>
              <a:srgbClr val="59E4B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QC!$AC$127:$AE$136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FORCE 1 (GS)</c:v>
                  </c:pt>
                  <c:pt idx="2">
                    <c:v>AIR WINFLO 11 GTX (MS/WS)</c:v>
                  </c:pt>
                  <c:pt idx="4">
                    <c:v>NIKE AIR MAX EXCEE (MS/WS)</c:v>
                  </c:pt>
                  <c:pt idx="6">
                    <c:v>NIKE AIR MAX SC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QC!$AF$127:$AF$136</c:f>
              <c:numCache>
                <c:formatCode>General</c:formatCode>
                <c:ptCount val="10"/>
                <c:pt idx="6">
                  <c:v>1709</c:v>
                </c:pt>
                <c:pt idx="7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0FE-4F32-91E6-38F6120E35BC}"/>
            </c:ext>
          </c:extLst>
        </c:ser>
        <c:ser>
          <c:idx val="1"/>
          <c:order val="1"/>
          <c:tx>
            <c:strRef>
              <c:f>QC!$AG$126</c:f>
              <c:strCache>
                <c:ptCount val="1"/>
                <c:pt idx="0">
                  <c:v>Cleanness</c:v>
                </c:pt>
              </c:strCache>
              <c:extLst xmlns:c15="http://schemas.microsoft.com/office/drawing/2012/chart"/>
            </c:strRef>
          </c:tx>
          <c:spPr>
            <a:solidFill>
              <a:srgbClr val="10253F"/>
            </a:solidFill>
            <a:ln>
              <a:noFill/>
            </a:ln>
            <a:effectLst/>
          </c:spPr>
          <c:invertIfNegative val="0"/>
          <c:dLbls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en-US" sz="7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5E25-4416-A6D4-60A129B8045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QC!$AC$127:$AE$136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FORCE 1 (GS)</c:v>
                  </c:pt>
                  <c:pt idx="2">
                    <c:v>AIR WINFLO 11 GTX (MS/WS)</c:v>
                  </c:pt>
                  <c:pt idx="4">
                    <c:v>NIKE AIR MAX EXCEE (MS/WS)</c:v>
                  </c:pt>
                  <c:pt idx="6">
                    <c:v>NIKE AIR MAX SC (MS/WS)</c:v>
                  </c:pt>
                  <c:pt idx="8">
                    <c:v>NIKE INITIATOR (MS/WS)</c:v>
                  </c:pt>
                </c:lvl>
              </c:multiLvlStrCache>
              <c:extLst xmlns:c15="http://schemas.microsoft.com/office/drawing/2012/chart"/>
            </c:multiLvlStrRef>
          </c:cat>
          <c:val>
            <c:numRef>
              <c:f>QC!$AG$127:$AG$136</c:f>
              <c:numCache>
                <c:formatCode>General</c:formatCode>
                <c:ptCount val="10"/>
                <c:pt idx="0">
                  <c:v>1334</c:v>
                </c:pt>
                <c:pt idx="1">
                  <c:v>10</c:v>
                </c:pt>
                <c:pt idx="2">
                  <c:v>1048</c:v>
                </c:pt>
                <c:pt idx="4">
                  <c:v>7089</c:v>
                </c:pt>
                <c:pt idx="5">
                  <c:v>19</c:v>
                </c:pt>
                <c:pt idx="6">
                  <c:v>2963</c:v>
                </c:pt>
                <c:pt idx="7">
                  <c:v>6</c:v>
                </c:pt>
                <c:pt idx="8">
                  <c:v>5790</c:v>
                </c:pt>
                <c:pt idx="9">
                  <c:v>3</c:v>
                </c:pt>
              </c:numCache>
              <c:extLst xmlns:c15="http://schemas.microsoft.com/office/drawing/2012/chart"/>
            </c:numRef>
          </c:val>
          <c:extLst>
            <c:ext xmlns:c16="http://schemas.microsoft.com/office/drawing/2014/chart" uri="{C3380CC4-5D6E-409C-BE32-E72D297353CC}">
              <c16:uniqueId val="{0000000B-60FE-4F32-91E6-38F6120E35BC}"/>
            </c:ext>
          </c:extLst>
        </c:ser>
        <c:ser>
          <c:idx val="2"/>
          <c:order val="2"/>
          <c:tx>
            <c:strRef>
              <c:f>QC!$AH$126</c:f>
              <c:strCache>
                <c:ptCount val="1"/>
                <c:pt idx="0">
                  <c:v>Midsole/Outsole to upper bond gap</c:v>
                </c:pt>
              </c:strCache>
            </c:strRef>
          </c:tx>
          <c:spPr>
            <a:solidFill>
              <a:srgbClr val="F7964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QC!$AC$127:$AE$136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FORCE 1 (GS)</c:v>
                  </c:pt>
                  <c:pt idx="2">
                    <c:v>AIR WINFLO 11 GTX (MS/WS)</c:v>
                  </c:pt>
                  <c:pt idx="4">
                    <c:v>NIKE AIR MAX EXCEE (MS/WS)</c:v>
                  </c:pt>
                  <c:pt idx="6">
                    <c:v>NIKE AIR MAX SC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QC!$AH$127:$AH$136</c:f>
              <c:numCache>
                <c:formatCode>General</c:formatCode>
                <c:ptCount val="10"/>
                <c:pt idx="0">
                  <c:v>2139</c:v>
                </c:pt>
                <c:pt idx="1">
                  <c:v>5</c:v>
                </c:pt>
                <c:pt idx="2">
                  <c:v>1299</c:v>
                </c:pt>
                <c:pt idx="3">
                  <c:v>9</c:v>
                </c:pt>
                <c:pt idx="4">
                  <c:v>5708</c:v>
                </c:pt>
                <c:pt idx="6">
                  <c:v>2088</c:v>
                </c:pt>
                <c:pt idx="7">
                  <c:v>4</c:v>
                </c:pt>
                <c:pt idx="8">
                  <c:v>5152</c:v>
                </c:pt>
                <c:pt idx="9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0FE-4F32-91E6-38F6120E35BC}"/>
            </c:ext>
          </c:extLst>
        </c:ser>
        <c:ser>
          <c:idx val="3"/>
          <c:order val="3"/>
          <c:tx>
            <c:strRef>
              <c:f>QC!$AI$126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rgbClr val="DCDCDC"/>
            </a:solidFill>
            <a:ln>
              <a:noFill/>
            </a:ln>
            <a:effectLst/>
          </c:spPr>
          <c:invertIfNegative val="0"/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60FE-4F32-91E6-38F6120E35B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QC!$AC$127:$AE$136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FORCE 1 (GS)</c:v>
                  </c:pt>
                  <c:pt idx="2">
                    <c:v>AIR WINFLO 11 GTX (MS/WS)</c:v>
                  </c:pt>
                  <c:pt idx="4">
                    <c:v>NIKE AIR MAX EXCEE (MS/WS)</c:v>
                  </c:pt>
                  <c:pt idx="6">
                    <c:v>NIKE AIR MAX SC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QC!$AI$127:$AI$136</c:f>
              <c:numCache>
                <c:formatCode>General</c:formatCode>
                <c:ptCount val="10"/>
                <c:pt idx="1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0FE-4F32-91E6-38F6120E35BC}"/>
            </c:ext>
          </c:extLst>
        </c:ser>
        <c:ser>
          <c:idx val="4"/>
          <c:order val="4"/>
          <c:tx>
            <c:strRef>
              <c:f>QC!$AJ$126</c:f>
              <c:strCache>
                <c:ptCount val="1"/>
                <c:pt idx="0">
                  <c:v>Over cement</c:v>
                </c:pt>
              </c:strCache>
            </c:strRef>
          </c:tx>
          <c:spPr>
            <a:solidFill>
              <a:srgbClr val="4F622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QC!$AC$127:$AE$136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FORCE 1 (GS)</c:v>
                  </c:pt>
                  <c:pt idx="2">
                    <c:v>AIR WINFLO 11 GTX (MS/WS)</c:v>
                  </c:pt>
                  <c:pt idx="4">
                    <c:v>NIKE AIR MAX EXCEE (MS/WS)</c:v>
                  </c:pt>
                  <c:pt idx="6">
                    <c:v>NIKE AIR MAX SC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QC!$AJ$127:$AJ$136</c:f>
              <c:numCache>
                <c:formatCode>General</c:formatCode>
                <c:ptCount val="10"/>
                <c:pt idx="0">
                  <c:v>2196</c:v>
                </c:pt>
                <c:pt idx="2">
                  <c:v>912</c:v>
                </c:pt>
                <c:pt idx="4">
                  <c:v>6731</c:v>
                </c:pt>
                <c:pt idx="5">
                  <c:v>11</c:v>
                </c:pt>
                <c:pt idx="8">
                  <c:v>4611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0FE-4F32-91E6-38F6120E35BC}"/>
            </c:ext>
          </c:extLst>
        </c:ser>
        <c:ser>
          <c:idx val="5"/>
          <c:order val="5"/>
          <c:tx>
            <c:strRef>
              <c:f>QC!$AK$126</c:f>
              <c:strCache>
                <c:ptCount val="1"/>
                <c:pt idx="0">
                  <c:v>Thread end</c:v>
                </c:pt>
              </c:strCache>
            </c:strRef>
          </c:tx>
          <c:spPr>
            <a:solidFill>
              <a:srgbClr val="4F7FB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QC!$AC$127:$AE$136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FORCE 1 (GS)</c:v>
                  </c:pt>
                  <c:pt idx="2">
                    <c:v>AIR WINFLO 11 GTX (MS/WS)</c:v>
                  </c:pt>
                  <c:pt idx="4">
                    <c:v>NIKE AIR MAX EXCEE (MS/WS)</c:v>
                  </c:pt>
                  <c:pt idx="6">
                    <c:v>NIKE AIR MAX SC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QC!$AK$127:$AK$136</c:f>
              <c:numCache>
                <c:formatCode>General</c:formatCode>
                <c:ptCount val="10"/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0FE-4F32-91E6-38F6120E35BC}"/>
            </c:ext>
          </c:extLst>
        </c:ser>
        <c:ser>
          <c:idx val="6"/>
          <c:order val="6"/>
          <c:tx>
            <c:strRef>
              <c:f>QC!$AL$126</c:f>
              <c:strCache>
                <c:ptCount val="1"/>
                <c:pt idx="0">
                  <c:v>Eyestay off center</c:v>
                </c:pt>
              </c:strCache>
            </c:strRef>
          </c:tx>
          <c:spPr>
            <a:solidFill>
              <a:srgbClr val="31859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QC!$AC$127:$AE$136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FORCE 1 (GS)</c:v>
                  </c:pt>
                  <c:pt idx="2">
                    <c:v>AIR WINFLO 11 GTX (MS/WS)</c:v>
                  </c:pt>
                  <c:pt idx="4">
                    <c:v>NIKE AIR MAX EXCEE (MS/WS)</c:v>
                  </c:pt>
                  <c:pt idx="6">
                    <c:v>NIKE AIR MAX SC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QC!$AL$127:$AL$136</c:f>
              <c:numCache>
                <c:formatCode>General</c:formatCode>
                <c:ptCount val="10"/>
                <c:pt idx="5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0FE-4F32-91E6-38F6120E35BC}"/>
            </c:ext>
          </c:extLst>
        </c:ser>
        <c:ser>
          <c:idx val="7"/>
          <c:order val="7"/>
          <c:tx>
            <c:strRef>
              <c:f>QC!$AM$126</c:f>
              <c:strCache>
                <c:ptCount val="1"/>
                <c:pt idx="0">
                  <c:v>Miss match labeling on shoe or Outer carton and Inner box</c:v>
                </c:pt>
              </c:strCache>
              <c:extLst xmlns:c15="http://schemas.microsoft.com/office/drawing/2012/chart"/>
            </c:strRef>
          </c:tx>
          <c:spPr>
            <a:solidFill>
              <a:srgbClr val="500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QC!$AC$127:$AE$136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FORCE 1 (GS)</c:v>
                  </c:pt>
                  <c:pt idx="2">
                    <c:v>AIR WINFLO 11 GTX (MS/WS)</c:v>
                  </c:pt>
                  <c:pt idx="4">
                    <c:v>NIKE AIR MAX EXCEE (MS/WS)</c:v>
                  </c:pt>
                  <c:pt idx="6">
                    <c:v>NIKE AIR MAX SC (MS/WS)</c:v>
                  </c:pt>
                  <c:pt idx="8">
                    <c:v>NIKE INITIATOR (MS/WS)</c:v>
                  </c:pt>
                </c:lvl>
              </c:multiLvlStrCache>
              <c:extLst xmlns:c15="http://schemas.microsoft.com/office/drawing/2012/chart"/>
            </c:multiLvlStrRef>
          </c:cat>
          <c:val>
            <c:numRef>
              <c:f>QC!$AM$127:$AM$136</c:f>
              <c:numCache>
                <c:formatCode>General</c:formatCode>
                <c:ptCount val="10"/>
                <c:pt idx="9">
                  <c:v>1</c:v>
                </c:pt>
              </c:numCache>
              <c:extLst xmlns:c15="http://schemas.microsoft.com/office/drawing/2012/chart"/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C-60FE-4F32-91E6-38F6120E35BC}"/>
            </c:ext>
          </c:extLst>
        </c:ser>
        <c:ser>
          <c:idx val="8"/>
          <c:order val="8"/>
          <c:tx>
            <c:strRef>
              <c:f>QC!$AN$126</c:f>
              <c:strCache>
                <c:ptCount val="1"/>
                <c:pt idx="0">
                  <c:v>Collar shape</c:v>
                </c:pt>
              </c:strCache>
              <c:extLst xmlns:c15="http://schemas.microsoft.com/office/drawing/2012/chart"/>
            </c:strRef>
          </c:tx>
          <c:spPr>
            <a:solidFill>
              <a:srgbClr val="FE9BF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QC!$AC$127:$AE$136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FORCE 1 (GS)</c:v>
                  </c:pt>
                  <c:pt idx="2">
                    <c:v>AIR WINFLO 11 GTX (MS/WS)</c:v>
                  </c:pt>
                  <c:pt idx="4">
                    <c:v>NIKE AIR MAX EXCEE (MS/WS)</c:v>
                  </c:pt>
                  <c:pt idx="6">
                    <c:v>NIKE AIR MAX SC (MS/WS)</c:v>
                  </c:pt>
                  <c:pt idx="8">
                    <c:v>NIKE INITIATOR (MS/WS)</c:v>
                  </c:pt>
                </c:lvl>
              </c:multiLvlStrCache>
              <c:extLst xmlns:c15="http://schemas.microsoft.com/office/drawing/2012/chart"/>
            </c:multiLvlStrRef>
          </c:cat>
          <c:val>
            <c:numRef>
              <c:f>QC!$AN$127:$AN$136</c:f>
              <c:numCache>
                <c:formatCode>General</c:formatCode>
                <c:ptCount val="10"/>
                <c:pt idx="3">
                  <c:v>3</c:v>
                </c:pt>
              </c:numCache>
              <c:extLst xmlns:c15="http://schemas.microsoft.com/office/drawing/2012/chart"/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7-60FE-4F32-91E6-38F6120E35B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25"/>
        <c:overlap val="100"/>
        <c:axId val="443928685"/>
        <c:axId val="776699434"/>
        <c:extLst>
          <c:ext xmlns:c15="http://schemas.microsoft.com/office/drawing/2012/chart" uri="{02D57815-91ED-43cb-92C2-25804820EDAC}">
            <c15:filteredBarSeries>
              <c15:ser>
                <c:idx val="9"/>
                <c:order val="9"/>
                <c:tx>
                  <c:strRef>
                    <c:extLst>
                      <c:ext uri="{02D57815-91ED-43cb-92C2-25804820EDAC}">
                        <c15:formulaRef>
                          <c15:sqref>QC!$AO$126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rgbClr val="2A48A8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vi-VN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>
                      <c:ext uri="{02D57815-91ED-43cb-92C2-25804820EDAC}">
                        <c15:formulaRef>
                          <c15:sqref>QC!$AC$127:$AE$136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AIR FORCE 1 (GS)</c:v>
                        </c:pt>
                        <c:pt idx="2">
                          <c:v>AIR WINFLO 11 GTX (MS/WS)</c:v>
                        </c:pt>
                        <c:pt idx="4">
                          <c:v>NIKE AIR MAX EXCEE (MS/WS)</c:v>
                        </c:pt>
                        <c:pt idx="6">
                          <c:v>NIKE AIR MAX SC (MS/WS)</c:v>
                        </c:pt>
                        <c:pt idx="8">
                          <c:v>NIKE INITIATOR (MS/WS)</c:v>
                        </c:pt>
                      </c:lvl>
                    </c:multiLvlStrCache>
                  </c:multiLvlStrRef>
                </c:cat>
                <c:val>
                  <c:numRef>
                    <c:extLst>
                      <c:ext uri="{02D57815-91ED-43cb-92C2-25804820EDAC}">
                        <c15:formulaRef>
                          <c15:sqref>QC!$AO$127:$AO$136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8-60FE-4F32-91E6-38F6120E35BC}"/>
                  </c:ext>
                </c:extLst>
              </c15:ser>
            </c15:filteredBarSeries>
            <c15:filteredBarSeries>
              <c15:ser>
                <c:idx val="10"/>
                <c:order val="1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QC!$AP$126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vi-VN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QC!$AC$127:$AE$136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AIR FORCE 1 (GS)</c:v>
                        </c:pt>
                        <c:pt idx="2">
                          <c:v>AIR WINFLO 11 GTX (MS/WS)</c:v>
                        </c:pt>
                        <c:pt idx="4">
                          <c:v>NIKE AIR MAX EXCEE (MS/WS)</c:v>
                        </c:pt>
                        <c:pt idx="6">
                          <c:v>NIKE AIR MAX SC (MS/WS)</c:v>
                        </c:pt>
                        <c:pt idx="8">
                          <c:v>NIKE INITIATOR (MS/WS)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QC!$AP$127:$AP$136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60FE-4F32-91E6-38F6120E35BC}"/>
                  </c:ext>
                </c:extLst>
              </c15:ser>
            </c15:filteredBarSeries>
            <c15:filteredBarSeries>
              <c15:ser>
                <c:idx val="11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QC!$AQ$126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5">
                      <a:lumMod val="80000"/>
                    </a:schemeClr>
                  </a:solidFill>
                  <a:ln>
                    <a:solidFill>
                      <a:schemeClr val="bg1"/>
                    </a:solidFill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vi-VN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QC!$AC$127:$AE$136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AIR FORCE 1 (GS)</c:v>
                        </c:pt>
                        <c:pt idx="2">
                          <c:v>AIR WINFLO 11 GTX (MS/WS)</c:v>
                        </c:pt>
                        <c:pt idx="4">
                          <c:v>NIKE AIR MAX EXCEE (MS/WS)</c:v>
                        </c:pt>
                        <c:pt idx="6">
                          <c:v>NIKE AIR MAX SC (MS/WS)</c:v>
                        </c:pt>
                        <c:pt idx="8">
                          <c:v>NIKE INITIATOR (MS/WS)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QC!$AQ$127:$AQ$136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D-60FE-4F32-91E6-38F6120E35BC}"/>
                  </c:ext>
                </c:extLst>
              </c15:ser>
            </c15:filteredBarSeries>
            <c15:filteredBarSeries>
              <c15:ser>
                <c:idx val="12"/>
                <c:order val="1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QC!$AR$126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6">
                      <a:lumMod val="60000"/>
                      <a:lumOff val="4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vi-VN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QC!$AC$127:$AE$136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AIR FORCE 1 (GS)</c:v>
                        </c:pt>
                        <c:pt idx="2">
                          <c:v>AIR WINFLO 11 GTX (MS/WS)</c:v>
                        </c:pt>
                        <c:pt idx="4">
                          <c:v>NIKE AIR MAX EXCEE (MS/WS)</c:v>
                        </c:pt>
                        <c:pt idx="6">
                          <c:v>NIKE AIR MAX SC (MS/WS)</c:v>
                        </c:pt>
                        <c:pt idx="8">
                          <c:v>NIKE INITIATOR (MS/WS)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QC!$AR$127:$AR$136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60FE-4F32-91E6-38F6120E35BC}"/>
                  </c:ext>
                </c:extLst>
              </c15:ser>
            </c15:filteredBarSeries>
          </c:ext>
        </c:extLst>
      </c:barChart>
      <c:catAx>
        <c:axId val="443928685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3000">
                  <a:srgbClr val="BEC0CB"/>
                </a:gs>
                <a:gs pos="39000">
                  <a:srgbClr val="85869A"/>
                </a:gs>
                <a:gs pos="100000">
                  <a:srgbClr val="141338"/>
                </a:gs>
              </a:gsLst>
              <a:lin ang="5400000" scaled="1"/>
            </a:gra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vi-VN"/>
          </a:p>
        </c:txPr>
        <c:crossAx val="776699434"/>
        <c:crosses val="autoZero"/>
        <c:auto val="1"/>
        <c:lblAlgn val="ctr"/>
        <c:lblOffset val="100"/>
        <c:noMultiLvlLbl val="0"/>
      </c:catAx>
      <c:valAx>
        <c:axId val="77669943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vi-VN"/>
          </a:p>
        </c:txPr>
        <c:crossAx val="44392868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706b2cab-71dd-4393-b290-b57dbe6401ae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en-US" sz="700"/>
      </a:pPr>
      <a:endParaRPr lang="vi-VN"/>
    </a:p>
  </c:txPr>
  <c:externalData r:id="rId3">
    <c:autoUpdate val="1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2882631725676098E-2"/>
          <c:y val="5.0727834142037902E-2"/>
          <c:w val="0.65069696124895504"/>
          <c:h val="0.50711509539472543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MA!$AM$129</c:f>
              <c:strCache>
                <c:ptCount val="1"/>
                <c:pt idx="0">
                  <c:v>Bottom Cosmetic</c:v>
                </c:pt>
              </c:strCache>
            </c:strRef>
          </c:tx>
          <c:spPr>
            <a:solidFill>
              <a:srgbClr val="D99694"/>
            </a:solidFill>
            <a:ln>
              <a:noFill/>
            </a:ln>
            <a:effectLst/>
          </c:spPr>
          <c:invertIfNegative val="0"/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4951-4597-9B78-09E9B7C70A2E}"/>
              </c:ext>
            </c:extLst>
          </c:dPt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6F4-4B06-95D7-5A4BA284AD1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MA!$AJ$130:$AL$139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FORCE 1 (GS)</c:v>
                  </c:pt>
                  <c:pt idx="2">
                    <c:v>AIR WINFLO 11 GTX (MS/WS)</c:v>
                  </c:pt>
                  <c:pt idx="4">
                    <c:v>NIKE AIR MAX EXCEE (MS/WS)</c:v>
                  </c:pt>
                  <c:pt idx="6">
                    <c:v>NIKE AIR MAX SC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MA!$AM$130:$AM$139</c:f>
              <c:numCache>
                <c:formatCode>General</c:formatCode>
                <c:ptCount val="10"/>
                <c:pt idx="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951-4597-9B78-09E9B7C70A2E}"/>
            </c:ext>
          </c:extLst>
        </c:ser>
        <c:ser>
          <c:idx val="1"/>
          <c:order val="1"/>
          <c:tx>
            <c:strRef>
              <c:f>MA!$AN$129</c:f>
              <c:strCache>
                <c:ptCount val="1"/>
                <c:pt idx="0">
                  <c:v>Cleanness</c:v>
                </c:pt>
              </c:strCache>
            </c:strRef>
          </c:tx>
          <c:spPr>
            <a:solidFill>
              <a:srgbClr val="10253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MA!$AJ$130:$AL$139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FORCE 1 (GS)</c:v>
                  </c:pt>
                  <c:pt idx="2">
                    <c:v>AIR WINFLO 11 GTX (MS/WS)</c:v>
                  </c:pt>
                  <c:pt idx="4">
                    <c:v>NIKE AIR MAX EXCEE (MS/WS)</c:v>
                  </c:pt>
                  <c:pt idx="6">
                    <c:v>NIKE AIR MAX SC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MA!$AN$130:$AN$139</c:f>
              <c:numCache>
                <c:formatCode>General</c:formatCode>
                <c:ptCount val="10"/>
                <c:pt idx="0">
                  <c:v>7</c:v>
                </c:pt>
                <c:pt idx="1">
                  <c:v>2</c:v>
                </c:pt>
                <c:pt idx="3">
                  <c:v>1</c:v>
                </c:pt>
                <c:pt idx="4">
                  <c:v>5</c:v>
                </c:pt>
                <c:pt idx="5">
                  <c:v>3</c:v>
                </c:pt>
                <c:pt idx="6">
                  <c:v>8</c:v>
                </c:pt>
                <c:pt idx="7">
                  <c:v>2</c:v>
                </c:pt>
                <c:pt idx="8">
                  <c:v>3</c:v>
                </c:pt>
                <c:pt idx="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4951-4597-9B78-09E9B7C70A2E}"/>
            </c:ext>
          </c:extLst>
        </c:ser>
        <c:ser>
          <c:idx val="2"/>
          <c:order val="2"/>
          <c:tx>
            <c:strRef>
              <c:f>MA!$AO$129</c:f>
              <c:strCache>
                <c:ptCount val="1"/>
                <c:pt idx="0">
                  <c:v>Midsole/Outsole to upper bond gap</c:v>
                </c:pt>
              </c:strCache>
            </c:strRef>
          </c:tx>
          <c:spPr>
            <a:solidFill>
              <a:srgbClr val="F79646"/>
            </a:solidFill>
            <a:ln>
              <a:noFill/>
            </a:ln>
            <a:effectLst/>
          </c:spPr>
          <c:invertIfNegative val="0"/>
          <c:dLbls>
            <c:dLbl>
              <c:idx val="3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A6F4-4B06-95D7-5A4BA284AD18}"/>
                </c:ext>
              </c:extLst>
            </c:dLbl>
            <c:dLbl>
              <c:idx val="5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6F4-4B06-95D7-5A4BA284AD18}"/>
                </c:ext>
              </c:extLst>
            </c:dLbl>
            <c:dLbl>
              <c:idx val="9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A6F4-4B06-95D7-5A4BA284AD1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MA!$AJ$130:$AL$139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FORCE 1 (GS)</c:v>
                  </c:pt>
                  <c:pt idx="2">
                    <c:v>AIR WINFLO 11 GTX (MS/WS)</c:v>
                  </c:pt>
                  <c:pt idx="4">
                    <c:v>NIKE AIR MAX EXCEE (MS/WS)</c:v>
                  </c:pt>
                  <c:pt idx="6">
                    <c:v>NIKE AIR MAX SC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MA!$AO$130:$AO$139</c:f>
              <c:numCache>
                <c:formatCode>General</c:formatCode>
                <c:ptCount val="10"/>
                <c:pt idx="0">
                  <c:v>5</c:v>
                </c:pt>
                <c:pt idx="2">
                  <c:v>10</c:v>
                </c:pt>
                <c:pt idx="6">
                  <c:v>3</c:v>
                </c:pt>
                <c:pt idx="8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951-4597-9B78-09E9B7C70A2E}"/>
            </c:ext>
          </c:extLst>
        </c:ser>
        <c:ser>
          <c:idx val="3"/>
          <c:order val="3"/>
          <c:tx>
            <c:strRef>
              <c:f>MA!$AP$129</c:f>
              <c:strCache>
                <c:ptCount val="1"/>
                <c:pt idx="0">
                  <c:v>Over cement</c:v>
                </c:pt>
              </c:strCache>
            </c:strRef>
          </c:tx>
          <c:spPr>
            <a:solidFill>
              <a:srgbClr val="4F622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MA!$AJ$130:$AL$139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FORCE 1 (GS)</c:v>
                  </c:pt>
                  <c:pt idx="2">
                    <c:v>AIR WINFLO 11 GTX (MS/WS)</c:v>
                  </c:pt>
                  <c:pt idx="4">
                    <c:v>NIKE AIR MAX EXCEE (MS/WS)</c:v>
                  </c:pt>
                  <c:pt idx="6">
                    <c:v>NIKE AIR MAX SC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MA!$AP$130:$AP$139</c:f>
              <c:numCache>
                <c:formatCode>General</c:formatCode>
                <c:ptCount val="10"/>
                <c:pt idx="2">
                  <c:v>4</c:v>
                </c:pt>
                <c:pt idx="4">
                  <c:v>6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951-4597-9B78-09E9B7C70A2E}"/>
            </c:ext>
          </c:extLst>
        </c:ser>
        <c:ser>
          <c:idx val="4"/>
          <c:order val="4"/>
          <c:tx>
            <c:strRef>
              <c:f>MA!$AQ$129</c:f>
              <c:strCache>
                <c:ptCount val="1"/>
                <c:pt idx="0">
                  <c:v>Thread end</c:v>
                </c:pt>
              </c:strCache>
            </c:strRef>
          </c:tx>
          <c:spPr>
            <a:solidFill>
              <a:srgbClr val="4F7FB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MA!$AJ$130:$AL$139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FORCE 1 (GS)</c:v>
                  </c:pt>
                  <c:pt idx="2">
                    <c:v>AIR WINFLO 11 GTX (MS/WS)</c:v>
                  </c:pt>
                  <c:pt idx="4">
                    <c:v>NIKE AIR MAX EXCEE (MS/WS)</c:v>
                  </c:pt>
                  <c:pt idx="6">
                    <c:v>NIKE AIR MAX SC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MA!$AQ$130:$AQ$139</c:f>
              <c:numCache>
                <c:formatCode>General</c:formatCode>
                <c:ptCount val="10"/>
                <c:pt idx="1">
                  <c:v>1</c:v>
                </c:pt>
                <c:pt idx="7">
                  <c:v>2</c:v>
                </c:pt>
                <c:pt idx="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4951-4597-9B78-09E9B7C70A2E}"/>
            </c:ext>
          </c:extLst>
        </c:ser>
        <c:ser>
          <c:idx val="5"/>
          <c:order val="5"/>
          <c:tx>
            <c:strRef>
              <c:f>MA!$AR$129</c:f>
              <c:strCache>
                <c:ptCount val="1"/>
                <c:pt idx="0">
                  <c:v>Airbag quality/stain</c:v>
                </c:pt>
              </c:strCache>
            </c:strRef>
          </c:tx>
          <c:spPr>
            <a:solidFill>
              <a:srgbClr val="59E4B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MA!$AJ$130:$AL$139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FORCE 1 (GS)</c:v>
                  </c:pt>
                  <c:pt idx="2">
                    <c:v>AIR WINFLO 11 GTX (MS/WS)</c:v>
                  </c:pt>
                  <c:pt idx="4">
                    <c:v>NIKE AIR MAX EXCEE (MS/WS)</c:v>
                  </c:pt>
                  <c:pt idx="6">
                    <c:v>NIKE AIR MAX SC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MA!$AR$130:$AR$139</c:f>
              <c:numCache>
                <c:formatCode>General</c:formatCode>
                <c:ptCount val="10"/>
                <c:pt idx="4">
                  <c:v>3</c:v>
                </c:pt>
                <c:pt idx="6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4951-4597-9B78-09E9B7C70A2E}"/>
            </c:ext>
          </c:extLst>
        </c:ser>
        <c:ser>
          <c:idx val="6"/>
          <c:order val="6"/>
          <c:tx>
            <c:strRef>
              <c:f>MA!$AS$129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rgbClr val="DCDCD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MA!$AJ$130:$AL$139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FORCE 1 (GS)</c:v>
                  </c:pt>
                  <c:pt idx="2">
                    <c:v>AIR WINFLO 11 GTX (MS/WS)</c:v>
                  </c:pt>
                  <c:pt idx="4">
                    <c:v>NIKE AIR MAX EXCEE (MS/WS)</c:v>
                  </c:pt>
                  <c:pt idx="6">
                    <c:v>NIKE AIR MAX SC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MA!$AS$130:$AS$139</c:f>
              <c:numCache>
                <c:formatCode>General</c:formatCode>
                <c:ptCount val="10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4951-4597-9B78-09E9B7C70A2E}"/>
            </c:ext>
          </c:extLst>
        </c:ser>
        <c:ser>
          <c:idx val="7"/>
          <c:order val="7"/>
          <c:tx>
            <c:strRef>
              <c:f>MA!$AT$129</c:f>
              <c:strCache>
                <c:ptCount val="1"/>
                <c:pt idx="0">
                  <c:v>Miss match labeling on shoe or Outer carton and Inner box</c:v>
                </c:pt>
              </c:strCache>
            </c:strRef>
          </c:tx>
          <c:spPr>
            <a:solidFill>
              <a:srgbClr val="50005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MA!$AJ$130:$AL$139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FORCE 1 (GS)</c:v>
                  </c:pt>
                  <c:pt idx="2">
                    <c:v>AIR WINFLO 11 GTX (MS/WS)</c:v>
                  </c:pt>
                  <c:pt idx="4">
                    <c:v>NIKE AIR MAX EXCEE (MS/WS)</c:v>
                  </c:pt>
                  <c:pt idx="6">
                    <c:v>NIKE AIR MAX SC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MA!$AT$130:$AT$139</c:f>
              <c:numCache>
                <c:formatCode>General</c:formatCode>
                <c:ptCount val="10"/>
                <c:pt idx="8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4951-4597-9B78-09E9B7C70A2E}"/>
            </c:ext>
          </c:extLst>
        </c:ser>
        <c:ser>
          <c:idx val="8"/>
          <c:order val="8"/>
          <c:tx>
            <c:strRef>
              <c:f>MA!$AU$129</c:f>
              <c:strCache>
                <c:ptCount val="1"/>
                <c:pt idx="0">
                  <c:v>Collar shape</c:v>
                </c:pt>
              </c:strCache>
              <c:extLst xmlns:c15="http://schemas.microsoft.com/office/drawing/2012/chart"/>
            </c:strRef>
          </c:tx>
          <c:spPr>
            <a:solidFill>
              <a:srgbClr val="FE9BF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MA!$AJ$130:$AL$139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FORCE 1 (GS)</c:v>
                  </c:pt>
                  <c:pt idx="2">
                    <c:v>AIR WINFLO 11 GTX (MS/WS)</c:v>
                  </c:pt>
                  <c:pt idx="4">
                    <c:v>NIKE AIR MAX EXCEE (MS/WS)</c:v>
                  </c:pt>
                  <c:pt idx="6">
                    <c:v>NIKE AIR MAX SC (MS/WS)</c:v>
                  </c:pt>
                  <c:pt idx="8">
                    <c:v>NIKE INITIATOR (MS/WS)</c:v>
                  </c:pt>
                </c:lvl>
              </c:multiLvlStrCache>
              <c:extLst xmlns:c15="http://schemas.microsoft.com/office/drawing/2012/chart"/>
            </c:multiLvlStrRef>
          </c:cat>
          <c:val>
            <c:numRef>
              <c:f>MA!$AU$130:$AU$139</c:f>
              <c:numCache>
                <c:formatCode>General</c:formatCode>
                <c:ptCount val="10"/>
                <c:pt idx="2">
                  <c:v>5</c:v>
                </c:pt>
              </c:numCache>
              <c:extLst xmlns:c15="http://schemas.microsoft.com/office/drawing/2012/chart"/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11-4951-4597-9B78-09E9B7C70A2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overlap val="100"/>
        <c:axId val="443928685"/>
        <c:axId val="776699434"/>
        <c:extLst>
          <c:ext xmlns:c15="http://schemas.microsoft.com/office/drawing/2012/chart" uri="{02D57815-91ED-43cb-92C2-25804820EDAC}">
            <c15:filteredBarSeries>
              <c15:ser>
                <c:idx val="9"/>
                <c:order val="9"/>
                <c:tx>
                  <c:strRef>
                    <c:extLst>
                      <c:ext uri="{02D57815-91ED-43cb-92C2-25804820EDAC}">
                        <c15:formulaRef>
                          <c15:sqref>MA!$AV$129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rgbClr val="2A48A8"/>
                  </a:solidFill>
                  <a:ln>
                    <a:noFill/>
                  </a:ln>
                  <a:effectLst/>
                </c:spPr>
                <c:invertIfNegative val="0"/>
                <c:dPt>
                  <c:idx val="8"/>
                  <c:invertIfNegative val="0"/>
                  <c:bubble3D val="0"/>
                  <c:extLst>
                    <c:ext xmlns:c16="http://schemas.microsoft.com/office/drawing/2014/chart" uri="{C3380CC4-5D6E-409C-BE32-E72D297353CC}">
                      <c16:uniqueId val="{00000004-4951-4597-9B78-09E9B7C70A2E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vi-VN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>
                      <c:ext uri="{02D57815-91ED-43cb-92C2-25804820EDAC}">
                        <c15:formulaRef>
                          <c15:sqref>MA!$AJ$130:$AL$139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HFPA</c:v>
                        </c:pt>
                        <c:pt idx="1">
                          <c:v>Re-ins</c:v>
                        </c:pt>
                        <c:pt idx="2">
                          <c:v>HFPA</c:v>
                        </c:pt>
                        <c:pt idx="3">
                          <c:v>Re-ins</c:v>
                        </c:pt>
                        <c:pt idx="4">
                          <c:v>HFPA</c:v>
                        </c:pt>
                        <c:pt idx="5">
                          <c:v>Re-ins</c:v>
                        </c:pt>
                        <c:pt idx="6">
                          <c:v>HFPA</c:v>
                        </c:pt>
                        <c:pt idx="7">
                          <c:v>Re-ins</c:v>
                        </c:pt>
                        <c:pt idx="8">
                          <c:v>HFPA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AIR FORCE 1 (GS)</c:v>
                        </c:pt>
                        <c:pt idx="2">
                          <c:v>AIR WINFLO 11 GTX (MS/WS)</c:v>
                        </c:pt>
                        <c:pt idx="4">
                          <c:v>NIKE AIR MAX EXCEE (MS/WS)</c:v>
                        </c:pt>
                        <c:pt idx="6">
                          <c:v>NIKE AIR MAX SC (MS/WS)</c:v>
                        </c:pt>
                        <c:pt idx="8">
                          <c:v>NIKE INITIATOR (MS/WS)</c:v>
                        </c:pt>
                      </c:lvl>
                    </c:multiLvlStrCache>
                  </c:multiLvlStrRef>
                </c:cat>
                <c:val>
                  <c:numRef>
                    <c:extLst>
                      <c:ext uri="{02D57815-91ED-43cb-92C2-25804820EDAC}">
                        <c15:formulaRef>
                          <c15:sqref>MA!$AV$130:$AV$139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5-4951-4597-9B78-09E9B7C70A2E}"/>
                  </c:ext>
                </c:extLst>
              </c15:ser>
            </c15:filteredBarSeries>
          </c:ext>
        </c:extLst>
      </c:barChart>
      <c:catAx>
        <c:axId val="443928685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3000">
                  <a:srgbClr val="BEC0CB"/>
                </a:gs>
                <a:gs pos="39000">
                  <a:srgbClr val="85869A"/>
                </a:gs>
                <a:gs pos="100000">
                  <a:srgbClr val="141338"/>
                </a:gs>
              </a:gsLst>
              <a:lin ang="5400000" scaled="1"/>
            </a:gra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vi-VN"/>
          </a:p>
        </c:txPr>
        <c:crossAx val="776699434"/>
        <c:crosses val="autoZero"/>
        <c:auto val="1"/>
        <c:lblAlgn val="ctr"/>
        <c:lblOffset val="100"/>
        <c:noMultiLvlLbl val="0"/>
      </c:catAx>
      <c:valAx>
        <c:axId val="77669943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vi-VN"/>
          </a:p>
        </c:txPr>
        <c:crossAx val="44392868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706b2cab-71dd-4393-b290-b57dbe6401ae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en-US" sz="700"/>
      </a:pPr>
      <a:endParaRPr lang="vi-VN"/>
    </a:p>
  </c:txPr>
  <c:externalData r:id="rId3">
    <c:autoUpdate val="1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3437278525868197E-2"/>
          <c:y val="5.32161036557149E-2"/>
          <c:w val="0.66514528703047504"/>
          <c:h val="0.50191787824274781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QC!$AF$142</c:f>
              <c:strCache>
                <c:ptCount val="1"/>
                <c:pt idx="0">
                  <c:v>Cleanness</c:v>
                </c:pt>
              </c:strCache>
              <c:extLst xmlns:c15="http://schemas.microsoft.com/office/drawing/2012/chart"/>
            </c:strRef>
          </c:tx>
          <c:spPr>
            <a:solidFill>
              <a:srgbClr val="10253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QC!$AC$143:$AE$152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NIKE AIR MAX SC (MS/WS)</c:v>
                  </c:pt>
                  <c:pt idx="2">
                    <c:v>NIKE COURT BOROUGH MID (GS)</c:v>
                  </c:pt>
                  <c:pt idx="4">
                    <c:v>NIKE COURT VISION LOW (MS/WS)</c:v>
                  </c:pt>
                  <c:pt idx="6">
                    <c:v>NIKE EBERNON LOW (MS/WS)</c:v>
                  </c:pt>
                  <c:pt idx="8">
                    <c:v>NIKE INITIATOR (MS/WS)</c:v>
                  </c:pt>
                </c:lvl>
              </c:multiLvlStrCache>
              <c:extLst xmlns:c15="http://schemas.microsoft.com/office/drawing/2012/chart"/>
            </c:multiLvlStrRef>
          </c:cat>
          <c:val>
            <c:numRef>
              <c:f>QC!$AF$143:$AF$152</c:f>
              <c:numCache>
                <c:formatCode>General</c:formatCode>
                <c:ptCount val="10"/>
                <c:pt idx="0">
                  <c:v>1291</c:v>
                </c:pt>
                <c:pt idx="2">
                  <c:v>449</c:v>
                </c:pt>
                <c:pt idx="4">
                  <c:v>695</c:v>
                </c:pt>
                <c:pt idx="6">
                  <c:v>3097</c:v>
                </c:pt>
                <c:pt idx="7">
                  <c:v>173</c:v>
                </c:pt>
              </c:numCache>
              <c:extLst xmlns:c15="http://schemas.microsoft.com/office/drawing/2012/chart"/>
            </c:numRef>
          </c:val>
          <c:extLst>
            <c:ext xmlns:c16="http://schemas.microsoft.com/office/drawing/2014/chart" uri="{C3380CC4-5D6E-409C-BE32-E72D297353CC}">
              <c16:uniqueId val="{00000004-A89A-41AF-8838-57383542088E}"/>
            </c:ext>
          </c:extLst>
        </c:ser>
        <c:ser>
          <c:idx val="1"/>
          <c:order val="1"/>
          <c:tx>
            <c:strRef>
              <c:f>QC!$AG$142</c:f>
              <c:strCache>
                <c:ptCount val="1"/>
                <c:pt idx="0">
                  <c:v>Midsole/Outsole to upper bond gap</c:v>
                </c:pt>
              </c:strCache>
              <c:extLst xmlns:c15="http://schemas.microsoft.com/office/drawing/2012/chart"/>
            </c:strRef>
          </c:tx>
          <c:spPr>
            <a:solidFill>
              <a:srgbClr val="F7964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QC!$AC$143:$AE$152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NIKE AIR MAX SC (MS/WS)</c:v>
                  </c:pt>
                  <c:pt idx="2">
                    <c:v>NIKE COURT BOROUGH MID (GS)</c:v>
                  </c:pt>
                  <c:pt idx="4">
                    <c:v>NIKE COURT VISION LOW (MS/WS)</c:v>
                  </c:pt>
                  <c:pt idx="6">
                    <c:v>NIKE EBERNON LOW (MS/WS)</c:v>
                  </c:pt>
                  <c:pt idx="8">
                    <c:v>NIKE INITIATOR (MS/WS)</c:v>
                  </c:pt>
                </c:lvl>
              </c:multiLvlStrCache>
              <c:extLst xmlns:c15="http://schemas.microsoft.com/office/drawing/2012/chart"/>
            </c:multiLvlStrRef>
          </c:cat>
          <c:val>
            <c:numRef>
              <c:f>QC!$AG$143:$AG$152</c:f>
              <c:numCache>
                <c:formatCode>General</c:formatCode>
                <c:ptCount val="10"/>
                <c:pt idx="2">
                  <c:v>505</c:v>
                </c:pt>
                <c:pt idx="3">
                  <c:v>25</c:v>
                </c:pt>
                <c:pt idx="4">
                  <c:v>673</c:v>
                </c:pt>
                <c:pt idx="5">
                  <c:v>40</c:v>
                </c:pt>
                <c:pt idx="6">
                  <c:v>3157</c:v>
                </c:pt>
                <c:pt idx="7">
                  <c:v>236</c:v>
                </c:pt>
                <c:pt idx="8">
                  <c:v>3275</c:v>
                </c:pt>
                <c:pt idx="9">
                  <c:v>73</c:v>
                </c:pt>
              </c:numCache>
              <c:extLst xmlns:c15="http://schemas.microsoft.com/office/drawing/2012/chart"/>
            </c:numRef>
          </c:val>
          <c:extLst>
            <c:ext xmlns:c16="http://schemas.microsoft.com/office/drawing/2014/chart" uri="{C3380CC4-5D6E-409C-BE32-E72D297353CC}">
              <c16:uniqueId val="{00000005-A89A-41AF-8838-57383542088E}"/>
            </c:ext>
          </c:extLst>
        </c:ser>
        <c:ser>
          <c:idx val="2"/>
          <c:order val="2"/>
          <c:tx>
            <c:strRef>
              <c:f>QC!$AH$142</c:f>
              <c:strCache>
                <c:ptCount val="1"/>
                <c:pt idx="0">
                  <c:v>Over cement</c:v>
                </c:pt>
              </c:strCache>
            </c:strRef>
          </c:tx>
          <c:spPr>
            <a:solidFill>
              <a:srgbClr val="4F622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QC!$AC$143:$AE$152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NIKE AIR MAX SC (MS/WS)</c:v>
                  </c:pt>
                  <c:pt idx="2">
                    <c:v>NIKE COURT BOROUGH MID (GS)</c:v>
                  </c:pt>
                  <c:pt idx="4">
                    <c:v>NIKE COURT VISION LOW (MS/WS)</c:v>
                  </c:pt>
                  <c:pt idx="6">
                    <c:v>NIKE EBERNON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QC!$AH$143:$AH$152</c:f>
              <c:numCache>
                <c:formatCode>General</c:formatCode>
                <c:ptCount val="10"/>
                <c:pt idx="0">
                  <c:v>1519</c:v>
                </c:pt>
                <c:pt idx="1">
                  <c:v>40</c:v>
                </c:pt>
                <c:pt idx="2">
                  <c:v>402</c:v>
                </c:pt>
                <c:pt idx="3">
                  <c:v>18</c:v>
                </c:pt>
                <c:pt idx="5">
                  <c:v>30</c:v>
                </c:pt>
                <c:pt idx="6">
                  <c:v>2952</c:v>
                </c:pt>
                <c:pt idx="7">
                  <c:v>182</c:v>
                </c:pt>
                <c:pt idx="8">
                  <c:v>3413</c:v>
                </c:pt>
                <c:pt idx="9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9A-41AF-8838-57383542088E}"/>
            </c:ext>
          </c:extLst>
        </c:ser>
        <c:ser>
          <c:idx val="3"/>
          <c:order val="3"/>
          <c:tx>
            <c:strRef>
              <c:f>QC!$AI$142</c:f>
              <c:strCache>
                <c:ptCount val="1"/>
                <c:pt idx="0">
                  <c:v>Thread end</c:v>
                </c:pt>
              </c:strCache>
              <c:extLst xmlns:c15="http://schemas.microsoft.com/office/drawing/2012/chart"/>
            </c:strRef>
          </c:tx>
          <c:spPr>
            <a:solidFill>
              <a:srgbClr val="4F7FB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QC!$AC$143:$AE$152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NIKE AIR MAX SC (MS/WS)</c:v>
                  </c:pt>
                  <c:pt idx="2">
                    <c:v>NIKE COURT BOROUGH MID (GS)</c:v>
                  </c:pt>
                  <c:pt idx="4">
                    <c:v>NIKE COURT VISION LOW (MS/WS)</c:v>
                  </c:pt>
                  <c:pt idx="6">
                    <c:v>NIKE EBERNON LOW (MS/WS)</c:v>
                  </c:pt>
                  <c:pt idx="8">
                    <c:v>NIKE INITIATOR (MS/WS)</c:v>
                  </c:pt>
                </c:lvl>
              </c:multiLvlStrCache>
              <c:extLst xmlns:c15="http://schemas.microsoft.com/office/drawing/2012/chart"/>
            </c:multiLvlStrRef>
          </c:cat>
          <c:val>
            <c:numRef>
              <c:f>QC!$AI$143:$AI$152</c:f>
              <c:numCache>
                <c:formatCode>General</c:formatCode>
                <c:ptCount val="10"/>
                <c:pt idx="0">
                  <c:v>1315</c:v>
                </c:pt>
                <c:pt idx="1">
                  <c:v>31</c:v>
                </c:pt>
                <c:pt idx="3">
                  <c:v>16</c:v>
                </c:pt>
                <c:pt idx="8">
                  <c:v>2955</c:v>
                </c:pt>
                <c:pt idx="9">
                  <c:v>24</c:v>
                </c:pt>
              </c:numCache>
              <c:extLst xmlns:c15="http://schemas.microsoft.com/office/drawing/2012/chart"/>
            </c:numRef>
          </c:val>
          <c:extLst>
            <c:ext xmlns:c16="http://schemas.microsoft.com/office/drawing/2014/chart" uri="{C3380CC4-5D6E-409C-BE32-E72D297353CC}">
              <c16:uniqueId val="{00000006-A89A-41AF-8838-57383542088E}"/>
            </c:ext>
          </c:extLst>
        </c:ser>
        <c:ser>
          <c:idx val="4"/>
          <c:order val="4"/>
          <c:tx>
            <c:strRef>
              <c:f>QC!$AJ$142</c:f>
              <c:strCache>
                <c:ptCount val="1"/>
                <c:pt idx="0">
                  <c:v>Bond gap at bottom</c:v>
                </c:pt>
              </c:strCache>
            </c:strRef>
          </c:tx>
          <c:spPr>
            <a:solidFill>
              <a:srgbClr val="FB5F6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2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QC!$AC$143:$AE$152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NIKE AIR MAX SC (MS/WS)</c:v>
                  </c:pt>
                  <c:pt idx="2">
                    <c:v>NIKE COURT BOROUGH MID (GS)</c:v>
                  </c:pt>
                  <c:pt idx="4">
                    <c:v>NIKE COURT VISION LOW (MS/WS)</c:v>
                  </c:pt>
                  <c:pt idx="6">
                    <c:v>NIKE EBERNON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QC!$AJ$143:$AJ$152</c:f>
              <c:numCache>
                <c:formatCode>General</c:formatCode>
                <c:ptCount val="10"/>
                <c:pt idx="1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89A-41AF-8838-57383542088E}"/>
            </c:ext>
          </c:extLst>
        </c:ser>
        <c:ser>
          <c:idx val="5"/>
          <c:order val="5"/>
          <c:tx>
            <c:strRef>
              <c:f>QC!$AK$142</c:f>
              <c:strCache>
                <c:ptCount val="1"/>
                <c:pt idx="0">
                  <c:v>Outsole thread stitching</c:v>
                </c:pt>
              </c:strCache>
              <c:extLst xmlns:c15="http://schemas.microsoft.com/office/drawing/2012/chart"/>
            </c:strRef>
          </c:tx>
          <c:spPr>
            <a:solidFill>
              <a:srgbClr val="BFFFD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QC!$AC$143:$AE$152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NIKE AIR MAX SC (MS/WS)</c:v>
                  </c:pt>
                  <c:pt idx="2">
                    <c:v>NIKE COURT BOROUGH MID (GS)</c:v>
                  </c:pt>
                  <c:pt idx="4">
                    <c:v>NIKE COURT VISION LOW (MS/WS)</c:v>
                  </c:pt>
                  <c:pt idx="6">
                    <c:v>NIKE EBERNON LOW (MS/WS)</c:v>
                  </c:pt>
                  <c:pt idx="8">
                    <c:v>NIKE INITIATOR (MS/WS)</c:v>
                  </c:pt>
                </c:lvl>
              </c:multiLvlStrCache>
              <c:extLst xmlns:c15="http://schemas.microsoft.com/office/drawing/2012/chart"/>
            </c:multiLvlStrRef>
          </c:cat>
          <c:val>
            <c:numRef>
              <c:f>QC!$AK$143:$AK$152</c:f>
              <c:numCache>
                <c:formatCode>General</c:formatCode>
                <c:ptCount val="10"/>
                <c:pt idx="4">
                  <c:v>775</c:v>
                </c:pt>
              </c:numCache>
              <c:extLst xmlns:c15="http://schemas.microsoft.com/office/drawing/2012/chart"/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7-A89A-41AF-8838-57383542088E}"/>
            </c:ext>
          </c:extLst>
        </c:ser>
        <c:ser>
          <c:idx val="6"/>
          <c:order val="6"/>
          <c:tx>
            <c:strRef>
              <c:f>QC!$AL$142</c:f>
              <c:strCache>
                <c:ptCount val="1"/>
                <c:pt idx="0">
                  <c:v>Collar shape</c:v>
                </c:pt>
              </c:strCache>
              <c:extLst xmlns:c15="http://schemas.microsoft.com/office/drawing/2012/chart"/>
            </c:strRef>
          </c:tx>
          <c:spPr>
            <a:solidFill>
              <a:srgbClr val="FE9BF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QC!$AC$143:$AE$152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NIKE AIR MAX SC (MS/WS)</c:v>
                  </c:pt>
                  <c:pt idx="2">
                    <c:v>NIKE COURT BOROUGH MID (GS)</c:v>
                  </c:pt>
                  <c:pt idx="4">
                    <c:v>NIKE COURT VISION LOW (MS/WS)</c:v>
                  </c:pt>
                  <c:pt idx="6">
                    <c:v>NIKE EBERNON LOW (MS/WS)</c:v>
                  </c:pt>
                  <c:pt idx="8">
                    <c:v>NIKE INITIATOR (MS/WS)</c:v>
                  </c:pt>
                </c:lvl>
              </c:multiLvlStrCache>
              <c:extLst xmlns:c15="http://schemas.microsoft.com/office/drawing/2012/chart"/>
            </c:multiLvlStrRef>
          </c:cat>
          <c:val>
            <c:numRef>
              <c:f>QC!$AL$143:$AL$152</c:f>
              <c:numCache>
                <c:formatCode>General</c:formatCode>
                <c:ptCount val="10"/>
                <c:pt idx="5">
                  <c:v>14</c:v>
                </c:pt>
              </c:numCache>
              <c:extLst xmlns:c15="http://schemas.microsoft.com/office/drawing/2012/chart"/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2-A89A-41AF-8838-57383542088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overlap val="100"/>
        <c:axId val="949243597"/>
        <c:axId val="422819262"/>
        <c:extLst>
          <c:ext xmlns:c15="http://schemas.microsoft.com/office/drawing/2012/chart" uri="{02D57815-91ED-43cb-92C2-25804820EDAC}">
            <c15:filteredBarSeries>
              <c15:ser>
                <c:idx val="7"/>
                <c:order val="7"/>
                <c:tx>
                  <c:strRef>
                    <c:extLst>
                      <c:ext uri="{02D57815-91ED-43cb-92C2-25804820EDAC}">
                        <c15:formulaRef>
                          <c15:sqref>QC!$AM$142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3">
                      <a:lumMod val="5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vi-VN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>
                      <c:ext uri="{02D57815-91ED-43cb-92C2-25804820EDAC}">
                        <c15:formulaRef>
                          <c15:sqref>QC!$AC$143:$AE$152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NIKE AIR MAX SC (MS/WS)</c:v>
                        </c:pt>
                        <c:pt idx="2">
                          <c:v>NIKE COURT BOROUGH MID (GS)</c:v>
                        </c:pt>
                        <c:pt idx="4">
                          <c:v>NIKE COURT VISION LOW (MS/WS)</c:v>
                        </c:pt>
                        <c:pt idx="6">
                          <c:v>NIKE EBERNON LOW (MS/WS)</c:v>
                        </c:pt>
                        <c:pt idx="8">
                          <c:v>NIKE INITIATOR (MS/WS)</c:v>
                        </c:pt>
                      </c:lvl>
                    </c:multiLvlStrCache>
                  </c:multiLvlStrRef>
                </c:cat>
                <c:val>
                  <c:numRef>
                    <c:extLst>
                      <c:ext uri="{02D57815-91ED-43cb-92C2-25804820EDAC}">
                        <c15:formulaRef>
                          <c15:sqref>QC!$AM$143:$AM$152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3-A89A-41AF-8838-57383542088E}"/>
                  </c:ext>
                </c:extLst>
              </c15:ser>
            </c15:filteredBarSeries>
            <c15:filteredBar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QC!$AN$142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5">
                      <a:lumMod val="80000"/>
                      <a:lumOff val="20000"/>
                    </a:schemeClr>
                  </a:solidFill>
                  <a:ln>
                    <a:solidFill>
                      <a:schemeClr val="bg1"/>
                    </a:solidFill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vi-VN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QC!$AC$143:$AE$152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NIKE AIR MAX SC (MS/WS)</c:v>
                        </c:pt>
                        <c:pt idx="2">
                          <c:v>NIKE COURT BOROUGH MID (GS)</c:v>
                        </c:pt>
                        <c:pt idx="4">
                          <c:v>NIKE COURT VISION LOW (MS/WS)</c:v>
                        </c:pt>
                        <c:pt idx="6">
                          <c:v>NIKE EBERNON LOW (MS/WS)</c:v>
                        </c:pt>
                        <c:pt idx="8">
                          <c:v>NIKE INITIATOR (MS/WS)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QC!$AN$143:$AN$152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A89A-41AF-8838-57383542088E}"/>
                  </c:ext>
                </c:extLst>
              </c15:ser>
            </c15:filteredBarSeries>
            <c15:filteredBarSeries>
              <c15:ser>
                <c:idx val="9"/>
                <c:order val="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QC!$AO$142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1">
                      <a:lumMod val="80000"/>
                    </a:schemeClr>
                  </a:solidFill>
                  <a:ln>
                    <a:solidFill>
                      <a:schemeClr val="bg1"/>
                    </a:solidFill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vi-VN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QC!$AC$143:$AE$152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NIKE AIR MAX SC (MS/WS)</c:v>
                        </c:pt>
                        <c:pt idx="2">
                          <c:v>NIKE COURT BOROUGH MID (GS)</c:v>
                        </c:pt>
                        <c:pt idx="4">
                          <c:v>NIKE COURT VISION LOW (MS/WS)</c:v>
                        </c:pt>
                        <c:pt idx="6">
                          <c:v>NIKE EBERNON LOW (MS/WS)</c:v>
                        </c:pt>
                        <c:pt idx="8">
                          <c:v>NIKE INITIATOR (MS/WS)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QC!$AO$143:$AO$152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9-A89A-41AF-8838-57383542088E}"/>
                  </c:ext>
                </c:extLst>
              </c15:ser>
            </c15:filteredBarSeries>
            <c15:filteredBarSeries>
              <c15:ser>
                <c:idx val="10"/>
                <c:order val="1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QC!$AP$142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3">
                      <a:lumMod val="80000"/>
                    </a:schemeClr>
                  </a:solidFill>
                  <a:ln>
                    <a:solidFill>
                      <a:schemeClr val="bg1"/>
                    </a:solidFill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vi-VN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0"/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QC!$AC$143:$AE$152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NIKE AIR MAX SC (MS/WS)</c:v>
                        </c:pt>
                        <c:pt idx="2">
                          <c:v>NIKE COURT BOROUGH MID (GS)</c:v>
                        </c:pt>
                        <c:pt idx="4">
                          <c:v>NIKE COURT VISION LOW (MS/WS)</c:v>
                        </c:pt>
                        <c:pt idx="6">
                          <c:v>NIKE EBERNON LOW (MS/WS)</c:v>
                        </c:pt>
                        <c:pt idx="8">
                          <c:v>NIKE INITIATOR (MS/WS)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QC!$AP$143:$AP$152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A89A-41AF-8838-57383542088E}"/>
                  </c:ext>
                </c:extLst>
              </c15:ser>
            </c15:filteredBarSeries>
            <c15:filteredBarSeries>
              <c15:ser>
                <c:idx val="11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QC!$AQ$142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5">
                      <a:lumMod val="80000"/>
                    </a:schemeClr>
                  </a:solidFill>
                  <a:ln>
                    <a:solidFill>
                      <a:schemeClr val="bg1"/>
                    </a:solidFill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vi-VN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0"/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QC!$AC$143:$AE$152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NIKE AIR MAX SC (MS/WS)</c:v>
                        </c:pt>
                        <c:pt idx="2">
                          <c:v>NIKE COURT BOROUGH MID (GS)</c:v>
                        </c:pt>
                        <c:pt idx="4">
                          <c:v>NIKE COURT VISION LOW (MS/WS)</c:v>
                        </c:pt>
                        <c:pt idx="6">
                          <c:v>NIKE EBERNON LOW (MS/WS)</c:v>
                        </c:pt>
                        <c:pt idx="8">
                          <c:v>NIKE INITIATOR (MS/WS)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QC!$AQ$143:$AQ$152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B-A89A-41AF-8838-57383542088E}"/>
                  </c:ext>
                </c:extLst>
              </c15:ser>
            </c15:filteredBarSeries>
          </c:ext>
        </c:extLst>
      </c:barChart>
      <c:catAx>
        <c:axId val="949243597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3000">
                  <a:srgbClr val="BEC0CB"/>
                </a:gs>
                <a:gs pos="39000">
                  <a:srgbClr val="85869A"/>
                </a:gs>
                <a:gs pos="100000">
                  <a:srgbClr val="141338"/>
                </a:gs>
              </a:gsLst>
              <a:lin ang="5400000" scaled="1"/>
            </a:gra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vi-VN"/>
          </a:p>
        </c:txPr>
        <c:crossAx val="422819262"/>
        <c:crosses val="autoZero"/>
        <c:auto val="1"/>
        <c:lblAlgn val="ctr"/>
        <c:lblOffset val="100"/>
        <c:noMultiLvlLbl val="0"/>
      </c:catAx>
      <c:valAx>
        <c:axId val="42281926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7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vi-VN"/>
          </a:p>
        </c:txPr>
        <c:crossAx val="949243597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016dc3a8-bdfb-4966-91be-d100d71b2bcb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en-US" sz="700">
          <a:solidFill>
            <a:schemeClr val="tx1"/>
          </a:solidFill>
        </a:defRPr>
      </a:pPr>
      <a:endParaRPr lang="vi-VN"/>
    </a:p>
  </c:txPr>
  <c:externalData r:id="rId3">
    <c:autoUpdate val="1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3888809079155299E-2"/>
          <c:y val="5.0482879719051799E-2"/>
          <c:w val="0.66931475362735204"/>
          <c:h val="0.52705439914830665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MA!$AM$145</c:f>
              <c:strCache>
                <c:ptCount val="1"/>
                <c:pt idx="0">
                  <c:v>Cleanness</c:v>
                </c:pt>
              </c:strCache>
            </c:strRef>
          </c:tx>
          <c:spPr>
            <a:solidFill>
              <a:srgbClr val="10253F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MA!$AJ$146:$AL$155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NIKE AIR MAX SC (MS/WS)</c:v>
                  </c:pt>
                  <c:pt idx="2">
                    <c:v>NIKE COURT BOROUGH MID (GS)</c:v>
                  </c:pt>
                  <c:pt idx="4">
                    <c:v>NIKE COURT VISION LOW (MS/WS)</c:v>
                  </c:pt>
                  <c:pt idx="6">
                    <c:v>NIKE EBERNON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MA!$AM$146:$AM$155</c:f>
              <c:numCache>
                <c:formatCode>General</c:formatCode>
                <c:ptCount val="10"/>
                <c:pt idx="1">
                  <c:v>5</c:v>
                </c:pt>
                <c:pt idx="3">
                  <c:v>1</c:v>
                </c:pt>
                <c:pt idx="4">
                  <c:v>4</c:v>
                </c:pt>
                <c:pt idx="5">
                  <c:v>1</c:v>
                </c:pt>
                <c:pt idx="6">
                  <c:v>47</c:v>
                </c:pt>
                <c:pt idx="8">
                  <c:v>12</c:v>
                </c:pt>
                <c:pt idx="9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61F-49F7-8957-22617B644647}"/>
            </c:ext>
          </c:extLst>
        </c:ser>
        <c:ser>
          <c:idx val="1"/>
          <c:order val="1"/>
          <c:tx>
            <c:strRef>
              <c:f>MA!$AN$145</c:f>
              <c:strCache>
                <c:ptCount val="1"/>
                <c:pt idx="0">
                  <c:v>Midsole/Outsole to upper bond gap</c:v>
                </c:pt>
              </c:strCache>
            </c:strRef>
          </c:tx>
          <c:spPr>
            <a:solidFill>
              <a:srgbClr val="F79646"/>
            </a:solidFill>
            <a:ln>
              <a:noFill/>
            </a:ln>
            <a:effectLst/>
          </c:spPr>
          <c:invertIfNegative val="0"/>
          <c:dLbls>
            <c:dLbl>
              <c:idx val="1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BB9-4DD3-931C-EC69ABCA546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MA!$AJ$146:$AL$155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NIKE AIR MAX SC (MS/WS)</c:v>
                  </c:pt>
                  <c:pt idx="2">
                    <c:v>NIKE COURT BOROUGH MID (GS)</c:v>
                  </c:pt>
                  <c:pt idx="4">
                    <c:v>NIKE COURT VISION LOW (MS/WS)</c:v>
                  </c:pt>
                  <c:pt idx="6">
                    <c:v>NIKE EBERNON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MA!$AN$146:$AN$155</c:f>
              <c:numCache>
                <c:formatCode>General</c:formatCode>
                <c:ptCount val="10"/>
                <c:pt idx="2">
                  <c:v>8</c:v>
                </c:pt>
                <c:pt idx="4">
                  <c:v>7</c:v>
                </c:pt>
                <c:pt idx="6">
                  <c:v>58</c:v>
                </c:pt>
                <c:pt idx="8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461F-49F7-8957-22617B644647}"/>
            </c:ext>
          </c:extLst>
        </c:ser>
        <c:ser>
          <c:idx val="2"/>
          <c:order val="2"/>
          <c:tx>
            <c:strRef>
              <c:f>MA!$AO$145</c:f>
              <c:strCache>
                <c:ptCount val="1"/>
                <c:pt idx="0">
                  <c:v>Over cement</c:v>
                </c:pt>
              </c:strCache>
            </c:strRef>
          </c:tx>
          <c:spPr>
            <a:solidFill>
              <a:srgbClr val="4F622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MA!$AJ$146:$AL$155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NIKE AIR MAX SC (MS/WS)</c:v>
                  </c:pt>
                  <c:pt idx="2">
                    <c:v>NIKE COURT BOROUGH MID (GS)</c:v>
                  </c:pt>
                  <c:pt idx="4">
                    <c:v>NIKE COURT VISION LOW (MS/WS)</c:v>
                  </c:pt>
                  <c:pt idx="6">
                    <c:v>NIKE EBERNON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MA!$AO$146:$AO$155</c:f>
              <c:numCache>
                <c:formatCode>General</c:formatCode>
                <c:ptCount val="10"/>
                <c:pt idx="0">
                  <c:v>13</c:v>
                </c:pt>
                <c:pt idx="1">
                  <c:v>1</c:v>
                </c:pt>
                <c:pt idx="2">
                  <c:v>4</c:v>
                </c:pt>
                <c:pt idx="4">
                  <c:v>6</c:v>
                </c:pt>
                <c:pt idx="5">
                  <c:v>1</c:v>
                </c:pt>
                <c:pt idx="6">
                  <c:v>40</c:v>
                </c:pt>
                <c:pt idx="8">
                  <c:v>17</c:v>
                </c:pt>
                <c:pt idx="9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1F-49F7-8957-22617B644647}"/>
            </c:ext>
          </c:extLst>
        </c:ser>
        <c:ser>
          <c:idx val="3"/>
          <c:order val="3"/>
          <c:tx>
            <c:strRef>
              <c:f>MA!$AP$145</c:f>
              <c:strCache>
                <c:ptCount val="1"/>
                <c:pt idx="0">
                  <c:v>Thread end</c:v>
                </c:pt>
              </c:strCache>
            </c:strRef>
          </c:tx>
          <c:spPr>
            <a:solidFill>
              <a:srgbClr val="4F7FB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MA!$AJ$146:$AL$155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NIKE AIR MAX SC (MS/WS)</c:v>
                  </c:pt>
                  <c:pt idx="2">
                    <c:v>NIKE COURT BOROUGH MID (GS)</c:v>
                  </c:pt>
                  <c:pt idx="4">
                    <c:v>NIKE COURT VISION LOW (MS/WS)</c:v>
                  </c:pt>
                  <c:pt idx="6">
                    <c:v>NIKE EBERNON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MA!$AP$146:$AP$155</c:f>
              <c:numCache>
                <c:formatCode>General</c:formatCode>
                <c:ptCount val="10"/>
                <c:pt idx="0">
                  <c:v>15</c:v>
                </c:pt>
                <c:pt idx="1">
                  <c:v>2</c:v>
                </c:pt>
                <c:pt idx="2">
                  <c:v>3</c:v>
                </c:pt>
                <c:pt idx="9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1F-49F7-8957-22617B644647}"/>
            </c:ext>
          </c:extLst>
        </c:ser>
        <c:ser>
          <c:idx val="4"/>
          <c:order val="4"/>
          <c:tx>
            <c:strRef>
              <c:f>MA!$AQ$145</c:f>
              <c:strCache>
                <c:ptCount val="1"/>
                <c:pt idx="0">
                  <c:v>Rocking</c:v>
                </c:pt>
              </c:strCache>
            </c:strRef>
          </c:tx>
          <c:spPr>
            <a:solidFill>
              <a:srgbClr val="EAD7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MA!$AJ$146:$AL$155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NIKE AIR MAX SC (MS/WS)</c:v>
                  </c:pt>
                  <c:pt idx="2">
                    <c:v>NIKE COURT BOROUGH MID (GS)</c:v>
                  </c:pt>
                  <c:pt idx="4">
                    <c:v>NIKE COURT VISION LOW (MS/WS)</c:v>
                  </c:pt>
                  <c:pt idx="6">
                    <c:v>NIKE EBERNON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MA!$AQ$146:$AQ$155</c:f>
              <c:numCache>
                <c:formatCode>General</c:formatCode>
                <c:ptCount val="10"/>
                <c:pt idx="7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1F-49F7-8957-22617B644647}"/>
            </c:ext>
          </c:extLst>
        </c:ser>
        <c:ser>
          <c:idx val="5"/>
          <c:order val="5"/>
          <c:tx>
            <c:strRef>
              <c:f>MA!$AR$145</c:f>
              <c:strCache>
                <c:ptCount val="1"/>
                <c:pt idx="0">
                  <c:v>Sole attachment</c:v>
                </c:pt>
              </c:strCache>
              <c:extLst xmlns:c15="http://schemas.microsoft.com/office/drawing/2012/chart"/>
            </c:strRef>
          </c:tx>
          <c:spPr>
            <a:solidFill>
              <a:srgbClr val="7030A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multiLvlStrRef>
              <c:f>MA!$AJ$146:$AL$155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NIKE AIR MAX SC (MS/WS)</c:v>
                  </c:pt>
                  <c:pt idx="2">
                    <c:v>NIKE COURT BOROUGH MID (GS)</c:v>
                  </c:pt>
                  <c:pt idx="4">
                    <c:v>NIKE COURT VISION LOW (MS/WS)</c:v>
                  </c:pt>
                  <c:pt idx="6">
                    <c:v>NIKE EBERNON LOW (MS/WS)</c:v>
                  </c:pt>
                  <c:pt idx="8">
                    <c:v>NIKE INITIATOR (MS/WS)</c:v>
                  </c:pt>
                </c:lvl>
              </c:multiLvlStrCache>
              <c:extLst xmlns:c15="http://schemas.microsoft.com/office/drawing/2012/chart"/>
            </c:multiLvlStrRef>
          </c:cat>
          <c:val>
            <c:numRef>
              <c:f>MA!$AR$146:$AR$155</c:f>
              <c:numCache>
                <c:formatCode>General</c:formatCode>
                <c:ptCount val="10"/>
                <c:pt idx="5">
                  <c:v>2</c:v>
                </c:pt>
              </c:numCache>
              <c:extLst xmlns:c15="http://schemas.microsoft.com/office/drawing/2012/chart"/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A-461F-49F7-8957-22617B644647}"/>
            </c:ext>
          </c:extLst>
        </c:ser>
        <c:ser>
          <c:idx val="6"/>
          <c:order val="6"/>
          <c:tx>
            <c:strRef>
              <c:f>MA!$AS$145</c:f>
              <c:strCache>
                <c:ptCount val="1"/>
                <c:pt idx="0">
                  <c:v>Heel/Tip height inconsistent</c:v>
                </c:pt>
              </c:strCache>
              <c:extLst xmlns:c15="http://schemas.microsoft.com/office/drawing/2012/chart"/>
            </c:strRef>
          </c:tx>
          <c:spPr>
            <a:solidFill>
              <a:srgbClr val="336A4E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MA!$AJ$146:$AL$155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NIKE AIR MAX SC (MS/WS)</c:v>
                  </c:pt>
                  <c:pt idx="2">
                    <c:v>NIKE COURT BOROUGH MID (GS)</c:v>
                  </c:pt>
                  <c:pt idx="4">
                    <c:v>NIKE COURT VISION LOW (MS/WS)</c:v>
                  </c:pt>
                  <c:pt idx="6">
                    <c:v>NIKE EBERNON LOW (MS/WS)</c:v>
                  </c:pt>
                  <c:pt idx="8">
                    <c:v>NIKE INITIATOR (MS/WS)</c:v>
                  </c:pt>
                </c:lvl>
              </c:multiLvlStrCache>
              <c:extLst xmlns:c15="http://schemas.microsoft.com/office/drawing/2012/chart"/>
            </c:multiLvlStrRef>
          </c:cat>
          <c:val>
            <c:numRef>
              <c:f>MA!$AS$146:$AS$155</c:f>
              <c:numCache>
                <c:formatCode>General</c:formatCode>
                <c:ptCount val="10"/>
                <c:pt idx="7">
                  <c:v>6</c:v>
                </c:pt>
              </c:numCache>
              <c:extLst xmlns:c15="http://schemas.microsoft.com/office/drawing/2012/chart"/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5-4BB9-4DD3-931C-EC69ABCA5469}"/>
            </c:ext>
          </c:extLst>
        </c:ser>
        <c:ser>
          <c:idx val="7"/>
          <c:order val="7"/>
          <c:tx>
            <c:strRef>
              <c:f>MA!$AT$145</c:f>
              <c:strCache>
                <c:ptCount val="1"/>
                <c:pt idx="0">
                  <c:v>Bond gap at bottom</c:v>
                </c:pt>
              </c:strCache>
              <c:extLst xmlns:c15="http://schemas.microsoft.com/office/drawing/2012/chart"/>
            </c:strRef>
          </c:tx>
          <c:spPr>
            <a:solidFill>
              <a:srgbClr val="FB5F63"/>
            </a:solidFill>
            <a:ln>
              <a:noFill/>
            </a:ln>
            <a:effectLst/>
          </c:spPr>
          <c:invertIfNegative val="0"/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lang="en-US" sz="7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vi-VN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5567-4A91-876F-4C98EA74C48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MA!$AJ$146:$AL$155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NIKE AIR MAX SC (MS/WS)</c:v>
                  </c:pt>
                  <c:pt idx="2">
                    <c:v>NIKE COURT BOROUGH MID (GS)</c:v>
                  </c:pt>
                  <c:pt idx="4">
                    <c:v>NIKE COURT VISION LOW (MS/WS)</c:v>
                  </c:pt>
                  <c:pt idx="6">
                    <c:v>NIKE EBERNON LOW (MS/WS)</c:v>
                  </c:pt>
                  <c:pt idx="8">
                    <c:v>NIKE INITIATOR (MS/WS)</c:v>
                  </c:pt>
                </c:lvl>
              </c:multiLvlStrCache>
              <c:extLst xmlns:c15="http://schemas.microsoft.com/office/drawing/2012/chart"/>
            </c:multiLvlStrRef>
          </c:cat>
          <c:val>
            <c:numRef>
              <c:f>MA!$AT$146:$AT$155</c:f>
              <c:numCache>
                <c:formatCode>General</c:formatCode>
                <c:ptCount val="10"/>
                <c:pt idx="0">
                  <c:v>11</c:v>
                </c:pt>
              </c:numCache>
              <c:extLst xmlns:c15="http://schemas.microsoft.com/office/drawing/2012/chart"/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6-4BB9-4DD3-931C-EC69ABCA5469}"/>
            </c:ext>
          </c:extLst>
        </c:ser>
        <c:ser>
          <c:idx val="8"/>
          <c:order val="8"/>
          <c:tx>
            <c:strRef>
              <c:f>MA!$AU$145</c:f>
              <c:strCache>
                <c:ptCount val="1"/>
                <c:pt idx="0">
                  <c:v>Stitching margin/SPI</c:v>
                </c:pt>
              </c:strCache>
              <c:extLst xmlns:c15="http://schemas.microsoft.com/office/drawing/2012/chart"/>
            </c:strRef>
          </c:tx>
          <c:spPr>
            <a:solidFill>
              <a:srgbClr val="C6E0B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MA!$AJ$146:$AL$155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NIKE AIR MAX SC (MS/WS)</c:v>
                  </c:pt>
                  <c:pt idx="2">
                    <c:v>NIKE COURT BOROUGH MID (GS)</c:v>
                  </c:pt>
                  <c:pt idx="4">
                    <c:v>NIKE COURT VISION LOW (MS/WS)</c:v>
                  </c:pt>
                  <c:pt idx="6">
                    <c:v>NIKE EBERNON LOW (MS/WS)</c:v>
                  </c:pt>
                  <c:pt idx="8">
                    <c:v>NIKE INITIATOR (MS/WS)</c:v>
                  </c:pt>
                </c:lvl>
              </c:multiLvlStrCache>
              <c:extLst xmlns:c15="http://schemas.microsoft.com/office/drawing/2012/chart"/>
            </c:multiLvlStrRef>
          </c:cat>
          <c:val>
            <c:numRef>
              <c:f>MA!$AU$146:$AU$155</c:f>
              <c:numCache>
                <c:formatCode>General</c:formatCode>
                <c:ptCount val="10"/>
                <c:pt idx="7">
                  <c:v>3</c:v>
                </c:pt>
              </c:numCache>
              <c:extLst xmlns:c15="http://schemas.microsoft.com/office/drawing/2012/chart"/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7-4BB9-4DD3-931C-EC69ABCA546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overlap val="100"/>
        <c:axId val="949243597"/>
        <c:axId val="422819262"/>
        <c:extLst/>
      </c:barChart>
      <c:catAx>
        <c:axId val="949243597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3000">
                  <a:srgbClr val="BEC0CB"/>
                </a:gs>
                <a:gs pos="39000">
                  <a:srgbClr val="85869A"/>
                </a:gs>
                <a:gs pos="100000">
                  <a:srgbClr val="141338"/>
                </a:gs>
              </a:gsLst>
              <a:lin ang="5400000" scaled="1"/>
            </a:gra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vi-VN"/>
          </a:p>
        </c:txPr>
        <c:crossAx val="422819262"/>
        <c:crosses val="autoZero"/>
        <c:auto val="1"/>
        <c:lblAlgn val="ctr"/>
        <c:lblOffset val="100"/>
        <c:noMultiLvlLbl val="0"/>
      </c:catAx>
      <c:valAx>
        <c:axId val="42281926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7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vi-VN"/>
          </a:p>
        </c:txPr>
        <c:crossAx val="94924359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016dc3a8-bdfb-4966-91be-d100d71b2bcb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en-US" sz="700">
          <a:solidFill>
            <a:schemeClr val="tx1"/>
          </a:solidFill>
        </a:defRPr>
      </a:pPr>
      <a:endParaRPr lang="vi-VN"/>
    </a:p>
  </c:txPr>
  <c:externalData r:id="rId3">
    <c:autoUpdate val="1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3060051853409003E-2"/>
          <c:y val="5.4595086442220199E-2"/>
          <c:w val="0.66079461845701104"/>
          <c:h val="0.57679708826205645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QC!$AF$158</c:f>
              <c:strCache>
                <c:ptCount val="1"/>
                <c:pt idx="0">
                  <c:v>Cleanness</c:v>
                </c:pt>
              </c:strCache>
              <c:extLst xmlns:c15="http://schemas.microsoft.com/office/drawing/2012/chart"/>
            </c:strRef>
          </c:tx>
          <c:spPr>
            <a:solidFill>
              <a:srgbClr val="10253F"/>
            </a:solidFill>
            <a:ln>
              <a:noFill/>
            </a:ln>
            <a:effectLst/>
          </c:spPr>
          <c:invertIfNegative val="0"/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7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7022-4AC2-918F-76AF198BAA10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7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0-4843-4F98-9055-0465BCCCEE5B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9F6E738D-4913-4B1F-B6FC-59CE2BF6054F}" type="VALUE">
                      <a:rPr lang="en-US">
                        <a:solidFill>
                          <a:srgbClr val="FF0000"/>
                        </a:solidFill>
                      </a:rPr>
                      <a:pPr/>
                      <a:t>[VALUE]</a:t>
                    </a:fld>
                    <a:endParaRPr lang="vi-VN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293A-4A21-8577-7003DE46503F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fld id="{5C7D517B-9B24-4A27-B5AE-16B7D7478A96}" type="VALUE">
                      <a:rPr lang="en-US">
                        <a:solidFill>
                          <a:srgbClr val="FF0000"/>
                        </a:solidFill>
                      </a:rPr>
                      <a:pPr/>
                      <a:t>[VALUE]</a:t>
                    </a:fld>
                    <a:endParaRPr lang="vi-VN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293A-4A21-8577-7003DE46503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QC!$AC$159:$AE$168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JORDAN 1 LOW (MS/WS)</c:v>
                  </c:pt>
                  <c:pt idx="2">
                    <c:v>AIR JORDAN 1 MID SE (GS)</c:v>
                  </c:pt>
                  <c:pt idx="4">
                    <c:v>JORDAN 1 MID SE (PS/TD)</c:v>
                  </c:pt>
                  <c:pt idx="6">
                    <c:v>NIKE COURT VISION LOW (MS/WS)</c:v>
                  </c:pt>
                  <c:pt idx="8">
                    <c:v>NIKE INITIATOR (MS/WS)</c:v>
                  </c:pt>
                </c:lvl>
              </c:multiLvlStrCache>
              <c:extLst xmlns:c15="http://schemas.microsoft.com/office/drawing/2012/chart"/>
            </c:multiLvlStrRef>
          </c:cat>
          <c:val>
            <c:numRef>
              <c:f>QC!$AF$159:$AF$168</c:f>
              <c:numCache>
                <c:formatCode>General</c:formatCode>
                <c:ptCount val="10"/>
                <c:pt idx="0">
                  <c:v>1497</c:v>
                </c:pt>
                <c:pt idx="1">
                  <c:v>55</c:v>
                </c:pt>
                <c:pt idx="2">
                  <c:v>2414</c:v>
                </c:pt>
                <c:pt idx="3">
                  <c:v>72</c:v>
                </c:pt>
                <c:pt idx="4">
                  <c:v>2809</c:v>
                </c:pt>
                <c:pt idx="5">
                  <c:v>86</c:v>
                </c:pt>
                <c:pt idx="6">
                  <c:v>2349</c:v>
                </c:pt>
                <c:pt idx="7">
                  <c:v>76</c:v>
                </c:pt>
                <c:pt idx="8">
                  <c:v>1540</c:v>
                </c:pt>
                <c:pt idx="9">
                  <c:v>21</c:v>
                </c:pt>
              </c:numCache>
              <c:extLst xmlns:c15="http://schemas.microsoft.com/office/drawing/2012/chart"/>
            </c:numRef>
          </c:val>
          <c:extLst>
            <c:ext xmlns:c16="http://schemas.microsoft.com/office/drawing/2014/chart" uri="{C3380CC4-5D6E-409C-BE32-E72D297353CC}">
              <c16:uniqueId val="{00000005-BC39-4B37-BA72-5D66D4FF39A4}"/>
            </c:ext>
          </c:extLst>
        </c:ser>
        <c:ser>
          <c:idx val="1"/>
          <c:order val="1"/>
          <c:tx>
            <c:strRef>
              <c:f>QC!$AG$158</c:f>
              <c:strCache>
                <c:ptCount val="1"/>
                <c:pt idx="0">
                  <c:v>Midsole/Outsole to upper bond gap</c:v>
                </c:pt>
              </c:strCache>
              <c:extLst xmlns:c15="http://schemas.microsoft.com/office/drawing/2012/chart"/>
            </c:strRef>
          </c:tx>
          <c:spPr>
            <a:solidFill>
              <a:srgbClr val="F7964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QC!$AC$159:$AE$168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JORDAN 1 LOW (MS/WS)</c:v>
                  </c:pt>
                  <c:pt idx="2">
                    <c:v>AIR JORDAN 1 MID SE (GS)</c:v>
                  </c:pt>
                  <c:pt idx="4">
                    <c:v>JORDAN 1 MID SE (PS/TD)</c:v>
                  </c:pt>
                  <c:pt idx="6">
                    <c:v>NIKE COURT VISION LOW (MS/WS)</c:v>
                  </c:pt>
                  <c:pt idx="8">
                    <c:v>NIKE INITIATOR (MS/WS)</c:v>
                  </c:pt>
                </c:lvl>
              </c:multiLvlStrCache>
              <c:extLst xmlns:c15="http://schemas.microsoft.com/office/drawing/2012/chart"/>
            </c:multiLvlStrRef>
          </c:cat>
          <c:val>
            <c:numRef>
              <c:f>QC!$AG$159:$AG$168</c:f>
              <c:numCache>
                <c:formatCode>General</c:formatCode>
                <c:ptCount val="10"/>
                <c:pt idx="0">
                  <c:v>2060</c:v>
                </c:pt>
                <c:pt idx="1">
                  <c:v>104</c:v>
                </c:pt>
                <c:pt idx="2">
                  <c:v>2279</c:v>
                </c:pt>
                <c:pt idx="4">
                  <c:v>2918</c:v>
                </c:pt>
                <c:pt idx="5">
                  <c:v>103</c:v>
                </c:pt>
                <c:pt idx="8">
                  <c:v>1718</c:v>
                </c:pt>
              </c:numCache>
              <c:extLst xmlns:c15="http://schemas.microsoft.com/office/drawing/2012/chart"/>
            </c:numRef>
          </c:val>
          <c:extLst>
            <c:ext xmlns:c16="http://schemas.microsoft.com/office/drawing/2014/chart" uri="{C3380CC4-5D6E-409C-BE32-E72D297353CC}">
              <c16:uniqueId val="{00000006-BC39-4B37-BA72-5D66D4FF39A4}"/>
            </c:ext>
          </c:extLst>
        </c:ser>
        <c:ser>
          <c:idx val="2"/>
          <c:order val="2"/>
          <c:tx>
            <c:strRef>
              <c:f>QC!$AH$158</c:f>
              <c:strCache>
                <c:ptCount val="1"/>
                <c:pt idx="0">
                  <c:v>Over cement</c:v>
                </c:pt>
              </c:strCache>
            </c:strRef>
          </c:tx>
          <c:spPr>
            <a:solidFill>
              <a:srgbClr val="4F622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QC!$AC$159:$AE$168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JORDAN 1 LOW (MS/WS)</c:v>
                  </c:pt>
                  <c:pt idx="2">
                    <c:v>AIR JORDAN 1 MID SE (GS)</c:v>
                  </c:pt>
                  <c:pt idx="4">
                    <c:v>JORDAN 1 MID SE (PS/TD)</c:v>
                  </c:pt>
                  <c:pt idx="6">
                    <c:v>NIKE COURT VISION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QC!$AH$159:$AH$168</c:f>
              <c:numCache>
                <c:formatCode>General</c:formatCode>
                <c:ptCount val="10"/>
                <c:pt idx="0">
                  <c:v>1962</c:v>
                </c:pt>
                <c:pt idx="1">
                  <c:v>115</c:v>
                </c:pt>
                <c:pt idx="2">
                  <c:v>2417</c:v>
                </c:pt>
                <c:pt idx="3">
                  <c:v>38</c:v>
                </c:pt>
                <c:pt idx="4">
                  <c:v>2727</c:v>
                </c:pt>
                <c:pt idx="5">
                  <c:v>103</c:v>
                </c:pt>
                <c:pt idx="6">
                  <c:v>2480</c:v>
                </c:pt>
                <c:pt idx="7">
                  <c:v>61</c:v>
                </c:pt>
                <c:pt idx="8">
                  <c:v>1481</c:v>
                </c:pt>
                <c:pt idx="9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39-4B37-BA72-5D66D4FF39A4}"/>
            </c:ext>
          </c:extLst>
        </c:ser>
        <c:ser>
          <c:idx val="3"/>
          <c:order val="3"/>
          <c:tx>
            <c:strRef>
              <c:f>QC!$AI$158</c:f>
              <c:strCache>
                <c:ptCount val="1"/>
                <c:pt idx="0">
                  <c:v>Thread end</c:v>
                </c:pt>
              </c:strCache>
              <c:extLst xmlns:c15="http://schemas.microsoft.com/office/drawing/2012/chart"/>
            </c:strRef>
          </c:tx>
          <c:spPr>
            <a:solidFill>
              <a:srgbClr val="4F7FBD"/>
            </a:solidFill>
            <a:ln>
              <a:noFill/>
            </a:ln>
            <a:effectLst/>
          </c:spPr>
          <c:invertIfNegative val="0"/>
          <c:dLbls>
            <c:dLbl>
              <c:idx val="7"/>
              <c:tx>
                <c:rich>
                  <a:bodyPr/>
                  <a:lstStyle/>
                  <a:p>
                    <a:fld id="{B0ABA621-CEB0-4C99-8C47-FEB34DEB3F4A}" type="VALUE">
                      <a:rPr lang="en-US">
                        <a:solidFill>
                          <a:srgbClr val="FF0000"/>
                        </a:solidFill>
                      </a:rPr>
                      <a:pPr/>
                      <a:t>[VALUE]</a:t>
                    </a:fld>
                    <a:endParaRPr lang="vi-VN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BEA1-421C-83C7-88BB4B816D0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QC!$AC$159:$AE$168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JORDAN 1 LOW (MS/WS)</c:v>
                  </c:pt>
                  <c:pt idx="2">
                    <c:v>AIR JORDAN 1 MID SE (GS)</c:v>
                  </c:pt>
                  <c:pt idx="4">
                    <c:v>JORDAN 1 MID SE (PS/TD)</c:v>
                  </c:pt>
                  <c:pt idx="6">
                    <c:v>NIKE COURT VISION LOW (MS/WS)</c:v>
                  </c:pt>
                  <c:pt idx="8">
                    <c:v>NIKE INITIATOR (MS/WS)</c:v>
                  </c:pt>
                </c:lvl>
              </c:multiLvlStrCache>
              <c:extLst xmlns:c15="http://schemas.microsoft.com/office/drawing/2012/chart"/>
            </c:multiLvlStrRef>
          </c:cat>
          <c:val>
            <c:numRef>
              <c:f>QC!$AI$159:$AI$168</c:f>
              <c:numCache>
                <c:formatCode>General</c:formatCode>
                <c:ptCount val="10"/>
                <c:pt idx="3">
                  <c:v>33</c:v>
                </c:pt>
                <c:pt idx="6">
                  <c:v>2040</c:v>
                </c:pt>
              </c:numCache>
              <c:extLst xmlns:c15="http://schemas.microsoft.com/office/drawing/2012/chart"/>
            </c:numRef>
          </c:val>
          <c:extLst>
            <c:ext xmlns:c16="http://schemas.microsoft.com/office/drawing/2014/chart" uri="{C3380CC4-5D6E-409C-BE32-E72D297353CC}">
              <c16:uniqueId val="{00000007-BC39-4B37-BA72-5D66D4FF39A4}"/>
            </c:ext>
          </c:extLst>
        </c:ser>
        <c:ser>
          <c:idx val="4"/>
          <c:order val="4"/>
          <c:tx>
            <c:strRef>
              <c:f>QC!$AJ$158</c:f>
              <c:strCache>
                <c:ptCount val="1"/>
                <c:pt idx="0">
                  <c:v>Outsole thread stitching</c:v>
                </c:pt>
              </c:strCache>
              <c:extLst xmlns:c15="http://schemas.microsoft.com/office/drawing/2012/chart"/>
            </c:strRef>
          </c:tx>
          <c:spPr>
            <a:solidFill>
              <a:srgbClr val="BFFFDC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QC!$AC$159:$AE$168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JORDAN 1 LOW (MS/WS)</c:v>
                  </c:pt>
                  <c:pt idx="2">
                    <c:v>AIR JORDAN 1 MID SE (GS)</c:v>
                  </c:pt>
                  <c:pt idx="4">
                    <c:v>JORDAN 1 MID SE (PS/TD)</c:v>
                  </c:pt>
                  <c:pt idx="6">
                    <c:v>NIKE COURT VISION LOW (MS/WS)</c:v>
                  </c:pt>
                  <c:pt idx="8">
                    <c:v>NIKE INITIATOR (MS/WS)</c:v>
                  </c:pt>
                </c:lvl>
              </c:multiLvlStrCache>
              <c:extLst xmlns:c15="http://schemas.microsoft.com/office/drawing/2012/chart"/>
            </c:multiLvlStrRef>
          </c:cat>
          <c:val>
            <c:numRef>
              <c:f>QC!$AJ$159:$AJ$168</c:f>
              <c:numCache>
                <c:formatCode>General</c:formatCode>
                <c:ptCount val="10"/>
                <c:pt idx="7">
                  <c:v>22</c:v>
                </c:pt>
              </c:numCache>
              <c:extLst xmlns:c15="http://schemas.microsoft.com/office/drawing/2012/chart"/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1-BC39-4B37-BA72-5D66D4FF39A4}"/>
            </c:ext>
          </c:extLst>
        </c:ser>
        <c:ser>
          <c:idx val="5"/>
          <c:order val="5"/>
          <c:tx>
            <c:strRef>
              <c:f>QC!$AK$158</c:f>
              <c:strCache>
                <c:ptCount val="1"/>
                <c:pt idx="0">
                  <c:v>Stitching margin/SPI</c:v>
                </c:pt>
              </c:strCache>
              <c:extLst xmlns:c15="http://schemas.microsoft.com/office/drawing/2012/chart"/>
            </c:strRef>
          </c:tx>
          <c:spPr>
            <a:solidFill>
              <a:srgbClr val="C6E0B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QC!$AC$159:$AE$168</c:f>
              <c:multiLvlStrCache>
                <c:ptCount val="10"/>
                <c:lvl>
                  <c:pt idx="0">
                    <c:v>FTT</c:v>
                  </c:pt>
                  <c:pt idx="1">
                    <c:v>Re-ins</c:v>
                  </c:pt>
                  <c:pt idx="2">
                    <c:v>FTT</c:v>
                  </c:pt>
                  <c:pt idx="3">
                    <c:v>Re-ins</c:v>
                  </c:pt>
                  <c:pt idx="4">
                    <c:v>FTT</c:v>
                  </c:pt>
                  <c:pt idx="5">
                    <c:v>Re-ins</c:v>
                  </c:pt>
                  <c:pt idx="6">
                    <c:v>FTT</c:v>
                  </c:pt>
                  <c:pt idx="7">
                    <c:v>Re-ins</c:v>
                  </c:pt>
                  <c:pt idx="8">
                    <c:v>FTT</c:v>
                  </c:pt>
                  <c:pt idx="9">
                    <c:v>Re-ins</c:v>
                  </c:pt>
                </c:lvl>
                <c:lvl>
                  <c:pt idx="0">
                    <c:v>AIR JORDAN 1 LOW (MS/WS)</c:v>
                  </c:pt>
                  <c:pt idx="2">
                    <c:v>AIR JORDAN 1 MID SE (GS)</c:v>
                  </c:pt>
                  <c:pt idx="4">
                    <c:v>JORDAN 1 MID SE (PS/TD)</c:v>
                  </c:pt>
                  <c:pt idx="6">
                    <c:v>NIKE COURT VISION LOW (MS/WS)</c:v>
                  </c:pt>
                  <c:pt idx="8">
                    <c:v>NIKE INITIATOR (MS/WS)</c:v>
                  </c:pt>
                </c:lvl>
              </c:multiLvlStrCache>
              <c:extLst xmlns:c15="http://schemas.microsoft.com/office/drawing/2012/chart"/>
            </c:multiLvlStrRef>
          </c:cat>
          <c:val>
            <c:numRef>
              <c:f>QC!$AK$159:$AK$168</c:f>
              <c:numCache>
                <c:formatCode>General</c:formatCode>
                <c:ptCount val="10"/>
                <c:pt idx="9">
                  <c:v>23</c:v>
                </c:pt>
              </c:numCache>
              <c:extLst xmlns:c15="http://schemas.microsoft.com/office/drawing/2012/chart"/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8-BC39-4B37-BA72-5D66D4FF39A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overlap val="100"/>
        <c:axId val="412262404"/>
        <c:axId val="232326616"/>
        <c:extLst>
          <c:ext xmlns:c15="http://schemas.microsoft.com/office/drawing/2012/chart" uri="{02D57815-91ED-43cb-92C2-25804820EDAC}">
            <c15:filteredBarSeries>
              <c15:ser>
                <c:idx val="6"/>
                <c:order val="6"/>
                <c:tx>
                  <c:strRef>
                    <c:extLst>
                      <c:ext uri="{02D57815-91ED-43cb-92C2-25804820EDAC}">
                        <c15:formulaRef>
                          <c15:sqref>QC!$AL$158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1">
                      <a:lumMod val="80000"/>
                      <a:lumOff val="20000"/>
                    </a:schemeClr>
                  </a:solidFill>
                  <a:ln>
                    <a:solidFill>
                      <a:schemeClr val="bg1"/>
                    </a:solidFill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vi-VN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>
                      <c:ext uri="{02D57815-91ED-43cb-92C2-25804820EDAC}">
                        <c15:formulaRef>
                          <c15:sqref>QC!$AC$159:$AE$168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AIR JORDAN 1 LOW (MS/WS)</c:v>
                        </c:pt>
                        <c:pt idx="2">
                          <c:v>AIR JORDAN 1 MID SE (GS)</c:v>
                        </c:pt>
                        <c:pt idx="4">
                          <c:v>JORDAN 1 MID SE (PS/TD)</c:v>
                        </c:pt>
                        <c:pt idx="6">
                          <c:v>NIKE COURT VISION LOW (MS/WS)</c:v>
                        </c:pt>
                        <c:pt idx="8">
                          <c:v>NIKE INITIATOR (MS/WS)</c:v>
                        </c:pt>
                      </c:lvl>
                    </c:multiLvlStrCache>
                  </c:multiLvlStrRef>
                </c:cat>
                <c:val>
                  <c:numRef>
                    <c:extLst>
                      <c:ext uri="{02D57815-91ED-43cb-92C2-25804820EDAC}">
                        <c15:formulaRef>
                          <c15:sqref>QC!$AL$159:$AL$168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9-BC39-4B37-BA72-5D66D4FF39A4}"/>
                  </c:ext>
                </c:extLst>
              </c15:ser>
            </c15:filteredBarSeries>
            <c15:filteredBar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QC!$AM$158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3">
                      <a:lumMod val="5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vi-VN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QC!$AC$159:$AE$168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AIR JORDAN 1 LOW (MS/WS)</c:v>
                        </c:pt>
                        <c:pt idx="2">
                          <c:v>AIR JORDAN 1 MID SE (GS)</c:v>
                        </c:pt>
                        <c:pt idx="4">
                          <c:v>JORDAN 1 MID SE (PS/TD)</c:v>
                        </c:pt>
                        <c:pt idx="6">
                          <c:v>NIKE COURT VISION LOW (MS/WS)</c:v>
                        </c:pt>
                        <c:pt idx="8">
                          <c:v>NIKE INITIATOR (MS/WS)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QC!$AM$159:$AM$168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BC39-4B37-BA72-5D66D4FF39A4}"/>
                  </c:ext>
                </c:extLst>
              </c15:ser>
            </c15:filteredBarSeries>
            <c15:filteredBar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QC!$AN$158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5">
                      <a:lumMod val="80000"/>
                      <a:lumOff val="20000"/>
                    </a:schemeClr>
                  </a:solidFill>
                  <a:ln>
                    <a:solidFill>
                      <a:schemeClr val="bg1"/>
                    </a:solidFill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vi-VN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QC!$AC$159:$AE$168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AIR JORDAN 1 LOW (MS/WS)</c:v>
                        </c:pt>
                        <c:pt idx="2">
                          <c:v>AIR JORDAN 1 MID SE (GS)</c:v>
                        </c:pt>
                        <c:pt idx="4">
                          <c:v>JORDAN 1 MID SE (PS/TD)</c:v>
                        </c:pt>
                        <c:pt idx="6">
                          <c:v>NIKE COURT VISION LOW (MS/WS)</c:v>
                        </c:pt>
                        <c:pt idx="8">
                          <c:v>NIKE INITIATOR (MS/WS)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QC!$AN$159:$AN$168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A-BC39-4B37-BA72-5D66D4FF39A4}"/>
                  </c:ext>
                </c:extLst>
              </c15:ser>
            </c15:filteredBarSeries>
            <c15:filteredBarSeries>
              <c15:ser>
                <c:idx val="9"/>
                <c:order val="9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QC!$AO$158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vi-VN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QC!$AC$159:$AE$168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AIR JORDAN 1 LOW (MS/WS)</c:v>
                        </c:pt>
                        <c:pt idx="2">
                          <c:v>AIR JORDAN 1 MID SE (GS)</c:v>
                        </c:pt>
                        <c:pt idx="4">
                          <c:v>JORDAN 1 MID SE (PS/TD)</c:v>
                        </c:pt>
                        <c:pt idx="6">
                          <c:v>NIKE COURT VISION LOW (MS/WS)</c:v>
                        </c:pt>
                        <c:pt idx="8">
                          <c:v>NIKE INITIATOR (MS/WS)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QC!$AO$159:$AO$168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BC39-4B37-BA72-5D66D4FF39A4}"/>
                  </c:ext>
                </c:extLst>
              </c15:ser>
            </c15:filteredBarSeries>
            <c15:filteredBarSeries>
              <c15:ser>
                <c:idx val="10"/>
                <c:order val="10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QC!$AP$158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4">
                      <a:lumMod val="50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vi-VN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0"/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QC!$AC$159:$AE$168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AIR JORDAN 1 LOW (MS/WS)</c:v>
                        </c:pt>
                        <c:pt idx="2">
                          <c:v>AIR JORDAN 1 MID SE (GS)</c:v>
                        </c:pt>
                        <c:pt idx="4">
                          <c:v>JORDAN 1 MID SE (PS/TD)</c:v>
                        </c:pt>
                        <c:pt idx="6">
                          <c:v>NIKE COURT VISION LOW (MS/WS)</c:v>
                        </c:pt>
                        <c:pt idx="8">
                          <c:v>NIKE INITIATOR (MS/WS)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QC!$AP$159:$AP$168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BC39-4B37-BA72-5D66D4FF39A4}"/>
                  </c:ext>
                </c:extLst>
              </c15:ser>
            </c15:filteredBarSeries>
            <c15:filteredBarSeries>
              <c15:ser>
                <c:idx val="11"/>
                <c:order val="1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QC!$AQ$158</c15:sqref>
                        </c15:formulaRef>
                      </c:ext>
                    </c:extLst>
                    <c:strCache>
                      <c:ptCount val="1"/>
                    </c:strCache>
                  </c:strRef>
                </c:tx>
                <c:spPr>
                  <a:solidFill>
                    <a:schemeClr val="accent4"/>
                  </a:solidFill>
                  <a:ln>
                    <a:solidFill>
                      <a:schemeClr val="bg1"/>
                    </a:solidFill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0" vertOverflow="ellipsis" vert="horz" wrap="square" lIns="38100" tIns="19050" rIns="38100" bIns="19050" anchor="ctr" anchorCtr="1"/>
                    <a:lstStyle/>
                    <a:p>
                      <a:pPr>
                        <a:defRPr lang="en-US" sz="700" b="0" i="0" u="none" strike="noStrike" kern="1200" baseline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vi-VN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0"/>
                    </c:ext>
                  </c:extLst>
                </c:dLbls>
                <c:cat>
                  <c:multiLvl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QC!$AC$159:$AE$168</c15:sqref>
                        </c15:formulaRef>
                      </c:ext>
                    </c:extLst>
                    <c:multiLvlStrCache>
                      <c:ptCount val="10"/>
                      <c:lvl>
                        <c:pt idx="0">
                          <c:v>FTT</c:v>
                        </c:pt>
                        <c:pt idx="1">
                          <c:v>Re-ins</c:v>
                        </c:pt>
                        <c:pt idx="2">
                          <c:v>FTT</c:v>
                        </c:pt>
                        <c:pt idx="3">
                          <c:v>Re-ins</c:v>
                        </c:pt>
                        <c:pt idx="4">
                          <c:v>FTT</c:v>
                        </c:pt>
                        <c:pt idx="5">
                          <c:v>Re-ins</c:v>
                        </c:pt>
                        <c:pt idx="6">
                          <c:v>FTT</c:v>
                        </c:pt>
                        <c:pt idx="7">
                          <c:v>Re-ins</c:v>
                        </c:pt>
                        <c:pt idx="8">
                          <c:v>FTT</c:v>
                        </c:pt>
                        <c:pt idx="9">
                          <c:v>Re-ins</c:v>
                        </c:pt>
                      </c:lvl>
                      <c:lvl>
                        <c:pt idx="0">
                          <c:v>AIR JORDAN 1 LOW (MS/WS)</c:v>
                        </c:pt>
                        <c:pt idx="2">
                          <c:v>AIR JORDAN 1 MID SE (GS)</c:v>
                        </c:pt>
                        <c:pt idx="4">
                          <c:v>JORDAN 1 MID SE (PS/TD)</c:v>
                        </c:pt>
                        <c:pt idx="6">
                          <c:v>NIKE COURT VISION LOW (MS/WS)</c:v>
                        </c:pt>
                        <c:pt idx="8">
                          <c:v>NIKE INITIATOR (MS/WS)</c:v>
                        </c:pt>
                      </c:lvl>
                    </c:multiLvlStrCache>
                  </c:multiLvl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QC!$AQ$159:$AQ$168</c15:sqref>
                        </c15:formulaRef>
                      </c:ext>
                    </c:extLst>
                    <c:numCache>
                      <c:formatCode>General</c:formatCode>
                      <c:ptCount val="10"/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B-BC39-4B37-BA72-5D66D4FF39A4}"/>
                  </c:ext>
                </c:extLst>
              </c15:ser>
            </c15:filteredBarSeries>
          </c:ext>
        </c:extLst>
      </c:barChart>
      <c:catAx>
        <c:axId val="41226240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3000">
                  <a:srgbClr val="BEC0CB"/>
                </a:gs>
                <a:gs pos="39000">
                  <a:srgbClr val="85869A"/>
                </a:gs>
                <a:gs pos="100000">
                  <a:srgbClr val="141338"/>
                </a:gs>
              </a:gsLst>
              <a:lin ang="5400000" scaled="1"/>
            </a:gra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vi-VN"/>
          </a:p>
        </c:txPr>
        <c:crossAx val="232326616"/>
        <c:crosses val="autoZero"/>
        <c:auto val="1"/>
        <c:lblAlgn val="ctr"/>
        <c:lblOffset val="100"/>
        <c:noMultiLvlLbl val="0"/>
      </c:catAx>
      <c:valAx>
        <c:axId val="2323266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7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vi-VN"/>
          </a:p>
        </c:txPr>
        <c:crossAx val="4122624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8f728a24-1889-458e-b47a-785daae38e2d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en-US" sz="700">
          <a:solidFill>
            <a:schemeClr val="tx1"/>
          </a:solidFill>
        </a:defRPr>
      </a:pPr>
      <a:endParaRPr lang="vi-VN"/>
    </a:p>
  </c:txPr>
  <c:externalData r:id="rId3">
    <c:autoUpdate val="1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39180445722502E-2"/>
          <c:y val="5.2922227335480902E-2"/>
          <c:w val="0.677943925233645"/>
          <c:h val="0.59071786528294634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MA!$AM$161</c:f>
              <c:strCache>
                <c:ptCount val="1"/>
                <c:pt idx="0">
                  <c:v>Cleanness</c:v>
                </c:pt>
              </c:strCache>
            </c:strRef>
          </c:tx>
          <c:spPr>
            <a:solidFill>
              <a:srgbClr val="10253F"/>
            </a:solidFill>
            <a:ln>
              <a:noFill/>
            </a:ln>
            <a:effectLst/>
          </c:spPr>
          <c:invertIfNegative val="0"/>
          <c:dLbls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7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9FF0-4C87-9E0B-B223AA76C2B6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7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BA0A-454B-8C00-8A9C65C456F0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fld id="{DAE7CCD6-B20C-42B9-AD4D-37BB23DEF2A5}" type="VALUE">
                      <a:rPr lang="en-US">
                        <a:solidFill>
                          <a:srgbClr val="FF0000"/>
                        </a:solidFill>
                      </a:rPr>
                      <a:pPr/>
                      <a:t>[VALUE]</a:t>
                    </a:fld>
                    <a:endParaRPr lang="vi-VN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C-7D7E-48D5-BE16-DB6704B236E0}"/>
                </c:ext>
              </c:extLst>
            </c:dLbl>
            <c:dLbl>
              <c:idx val="9"/>
              <c:tx>
                <c:rich>
                  <a:bodyPr rot="0" spcFirstLastPara="0" vertOverflow="ellipsis" vert="horz" wrap="square" lIns="38100" tIns="19050" rIns="38100" bIns="19050" anchor="ctr" anchorCtr="1"/>
                  <a:lstStyle/>
                  <a:p>
                    <a:pPr>
                      <a:defRPr lang="en-US" sz="700" b="0" i="0" u="none" strike="noStrike" kern="1200" baseline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98390D03-0D94-4E47-B14C-B65EEE1B45A0}" type="VALUE">
                      <a:rPr lang="en-US">
                        <a:solidFill>
                          <a:srgbClr val="FF0000"/>
                        </a:solidFill>
                      </a:rPr>
                      <a:pPr>
                        <a:defRPr>
                          <a:solidFill>
                            <a:srgbClr val="FF0000"/>
                          </a:solidFill>
                        </a:defRPr>
                      </a:pPr>
                      <a:t>[VALUE]</a:t>
                    </a:fld>
                    <a:endParaRPr lang="vi-VN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700" b="0" i="0" u="none" strike="noStrike" kern="1200" baseline="0">
                      <a:solidFill>
                        <a:srgbClr val="FF0000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vi-V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B-7D7E-48D5-BE16-DB6704B236E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MA!$AJ$162:$AL$171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JORDAN 1 LOW (MS/WS)</c:v>
                  </c:pt>
                  <c:pt idx="2">
                    <c:v>AIR JORDAN 1 MID SE (GS)</c:v>
                  </c:pt>
                  <c:pt idx="4">
                    <c:v>JORDAN 1 MID SE (PS/TD)</c:v>
                  </c:pt>
                  <c:pt idx="6">
                    <c:v>NIKE COURT VISION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MA!$AM$162:$AM$171</c:f>
              <c:numCache>
                <c:formatCode>General</c:formatCode>
                <c:ptCount val="10"/>
                <c:pt idx="1">
                  <c:v>26</c:v>
                </c:pt>
                <c:pt idx="3">
                  <c:v>9</c:v>
                </c:pt>
                <c:pt idx="4">
                  <c:v>35</c:v>
                </c:pt>
                <c:pt idx="5">
                  <c:v>24</c:v>
                </c:pt>
                <c:pt idx="7">
                  <c:v>12</c:v>
                </c:pt>
                <c:pt idx="9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765-444A-A407-354848BC695D}"/>
            </c:ext>
          </c:extLst>
        </c:ser>
        <c:ser>
          <c:idx val="1"/>
          <c:order val="1"/>
          <c:tx>
            <c:strRef>
              <c:f>MA!$AN$161</c:f>
              <c:strCache>
                <c:ptCount val="1"/>
                <c:pt idx="0">
                  <c:v>Midsole/Outsole to upper bond gap</c:v>
                </c:pt>
              </c:strCache>
            </c:strRef>
          </c:tx>
          <c:spPr>
            <a:solidFill>
              <a:srgbClr val="F7964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MA!$AJ$162:$AL$171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JORDAN 1 LOW (MS/WS)</c:v>
                  </c:pt>
                  <c:pt idx="2">
                    <c:v>AIR JORDAN 1 MID SE (GS)</c:v>
                  </c:pt>
                  <c:pt idx="4">
                    <c:v>JORDAN 1 MID SE (PS/TD)</c:v>
                  </c:pt>
                  <c:pt idx="6">
                    <c:v>NIKE COURT VISION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MA!$AN$162:$AN$171</c:f>
              <c:numCache>
                <c:formatCode>General</c:formatCode>
                <c:ptCount val="10"/>
                <c:pt idx="0">
                  <c:v>53</c:v>
                </c:pt>
                <c:pt idx="2">
                  <c:v>65</c:v>
                </c:pt>
                <c:pt idx="4">
                  <c:v>92</c:v>
                </c:pt>
                <c:pt idx="6">
                  <c:v>43</c:v>
                </c:pt>
                <c:pt idx="8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765-444A-A407-354848BC695D}"/>
            </c:ext>
          </c:extLst>
        </c:ser>
        <c:ser>
          <c:idx val="2"/>
          <c:order val="2"/>
          <c:tx>
            <c:strRef>
              <c:f>MA!$AO$161</c:f>
              <c:strCache>
                <c:ptCount val="1"/>
                <c:pt idx="0">
                  <c:v>Over buffing</c:v>
                </c:pt>
              </c:strCache>
            </c:strRef>
          </c:tx>
          <c:spPr>
            <a:solidFill>
              <a:srgbClr val="95373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MA!$AJ$162:$AL$171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JORDAN 1 LOW (MS/WS)</c:v>
                  </c:pt>
                  <c:pt idx="2">
                    <c:v>AIR JORDAN 1 MID SE (GS)</c:v>
                  </c:pt>
                  <c:pt idx="4">
                    <c:v>JORDAN 1 MID SE (PS/TD)</c:v>
                  </c:pt>
                  <c:pt idx="6">
                    <c:v>NIKE COURT VISION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MA!$AO$162:$AO$171</c:f>
              <c:numCache>
                <c:formatCode>General</c:formatCode>
                <c:ptCount val="10"/>
                <c:pt idx="8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65-444A-A407-354848BC695D}"/>
            </c:ext>
          </c:extLst>
        </c:ser>
        <c:ser>
          <c:idx val="3"/>
          <c:order val="3"/>
          <c:tx>
            <c:strRef>
              <c:f>MA!$AP$161</c:f>
              <c:strCache>
                <c:ptCount val="1"/>
                <c:pt idx="0">
                  <c:v>Over cement</c:v>
                </c:pt>
              </c:strCache>
            </c:strRef>
          </c:tx>
          <c:spPr>
            <a:solidFill>
              <a:srgbClr val="4F622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MA!$AJ$162:$AL$171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JORDAN 1 LOW (MS/WS)</c:v>
                  </c:pt>
                  <c:pt idx="2">
                    <c:v>AIR JORDAN 1 MID SE (GS)</c:v>
                  </c:pt>
                  <c:pt idx="4">
                    <c:v>JORDAN 1 MID SE (PS/TD)</c:v>
                  </c:pt>
                  <c:pt idx="6">
                    <c:v>NIKE COURT VISION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MA!$AP$162:$AP$171</c:f>
              <c:numCache>
                <c:formatCode>General</c:formatCode>
                <c:ptCount val="10"/>
                <c:pt idx="0">
                  <c:v>46</c:v>
                </c:pt>
                <c:pt idx="1">
                  <c:v>21</c:v>
                </c:pt>
                <c:pt idx="2">
                  <c:v>58</c:v>
                </c:pt>
                <c:pt idx="4">
                  <c:v>54</c:v>
                </c:pt>
                <c:pt idx="5">
                  <c:v>13</c:v>
                </c:pt>
                <c:pt idx="6">
                  <c:v>29</c:v>
                </c:pt>
                <c:pt idx="8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D765-444A-A407-354848BC695D}"/>
            </c:ext>
          </c:extLst>
        </c:ser>
        <c:ser>
          <c:idx val="4"/>
          <c:order val="4"/>
          <c:tx>
            <c:strRef>
              <c:f>MA!$AQ$161</c:f>
              <c:strCache>
                <c:ptCount val="1"/>
                <c:pt idx="0">
                  <c:v>Thread end</c:v>
                </c:pt>
              </c:strCache>
            </c:strRef>
          </c:tx>
          <c:spPr>
            <a:solidFill>
              <a:srgbClr val="4F7FBD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MA!$AJ$162:$AL$171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JORDAN 1 LOW (MS/WS)</c:v>
                  </c:pt>
                  <c:pt idx="2">
                    <c:v>AIR JORDAN 1 MID SE (GS)</c:v>
                  </c:pt>
                  <c:pt idx="4">
                    <c:v>JORDAN 1 MID SE (PS/TD)</c:v>
                  </c:pt>
                  <c:pt idx="6">
                    <c:v>NIKE COURT VISION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MA!$AQ$162:$AQ$171</c:f>
              <c:numCache>
                <c:formatCode>General</c:formatCode>
                <c:ptCount val="10"/>
                <c:pt idx="1">
                  <c:v>13</c:v>
                </c:pt>
                <c:pt idx="3">
                  <c:v>10</c:v>
                </c:pt>
                <c:pt idx="5">
                  <c:v>14</c:v>
                </c:pt>
                <c:pt idx="6">
                  <c:v>17</c:v>
                </c:pt>
                <c:pt idx="9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765-444A-A407-354848BC695D}"/>
            </c:ext>
          </c:extLst>
        </c:ser>
        <c:ser>
          <c:idx val="5"/>
          <c:order val="5"/>
          <c:tx>
            <c:strRef>
              <c:f>MA!$AR$161</c:f>
              <c:strCache>
                <c:ptCount val="1"/>
                <c:pt idx="0">
                  <c:v>Rocking</c:v>
                </c:pt>
              </c:strCache>
            </c:strRef>
          </c:tx>
          <c:spPr>
            <a:solidFill>
              <a:srgbClr val="EAD7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MA!$AJ$162:$AL$171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JORDAN 1 LOW (MS/WS)</c:v>
                  </c:pt>
                  <c:pt idx="2">
                    <c:v>AIR JORDAN 1 MID SE (GS)</c:v>
                  </c:pt>
                  <c:pt idx="4">
                    <c:v>JORDAN 1 MID SE (PS/TD)</c:v>
                  </c:pt>
                  <c:pt idx="6">
                    <c:v>NIKE COURT VISION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MA!$AR$162:$AR$171</c:f>
              <c:numCache>
                <c:formatCode>General</c:formatCode>
                <c:ptCount val="10"/>
                <c:pt idx="0">
                  <c:v>24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9-D765-444A-A407-354848BC695D}"/>
            </c:ext>
          </c:extLst>
        </c:ser>
        <c:ser>
          <c:idx val="6"/>
          <c:order val="6"/>
          <c:tx>
            <c:strRef>
              <c:f>MA!$AS$161</c:f>
              <c:strCache>
                <c:ptCount val="1"/>
                <c:pt idx="0">
                  <c:v>Stitching margin/SPI</c:v>
                </c:pt>
              </c:strCache>
            </c:strRef>
          </c:tx>
          <c:spPr>
            <a:solidFill>
              <a:srgbClr val="C6E0B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MA!$AJ$162:$AL$171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JORDAN 1 LOW (MS/WS)</c:v>
                  </c:pt>
                  <c:pt idx="2">
                    <c:v>AIR JORDAN 1 MID SE (GS)</c:v>
                  </c:pt>
                  <c:pt idx="4">
                    <c:v>JORDAN 1 MID SE (PS/TD)</c:v>
                  </c:pt>
                  <c:pt idx="6">
                    <c:v>NIKE COURT VISION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MA!$AS$162:$AS$171</c:f>
              <c:numCache>
                <c:formatCode>General</c:formatCode>
                <c:ptCount val="10"/>
                <c:pt idx="7">
                  <c:v>7</c:v>
                </c:pt>
              </c:numCache>
            </c:numRef>
          </c:val>
          <c:extLst xmlns:c15="http://schemas.microsoft.com/office/drawing/2012/chart">
            <c:ext xmlns:c16="http://schemas.microsoft.com/office/drawing/2014/chart" uri="{C3380CC4-5D6E-409C-BE32-E72D297353CC}">
              <c16:uniqueId val="{00000006-7D7E-48D5-BE16-DB6704B236E0}"/>
            </c:ext>
          </c:extLst>
        </c:ser>
        <c:ser>
          <c:idx val="7"/>
          <c:order val="7"/>
          <c:tx>
            <c:strRef>
              <c:f>MA!$AT$161</c:f>
              <c:strCache>
                <c:ptCount val="1"/>
                <c:pt idx="0">
                  <c:v>Toe off center</c:v>
                </c:pt>
              </c:strCache>
            </c:strRef>
          </c:tx>
          <c:spPr>
            <a:solidFill>
              <a:srgbClr val="40315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MA!$AJ$162:$AL$171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JORDAN 1 LOW (MS/WS)</c:v>
                  </c:pt>
                  <c:pt idx="2">
                    <c:v>AIR JORDAN 1 MID SE (GS)</c:v>
                  </c:pt>
                  <c:pt idx="4">
                    <c:v>JORDAN 1 MID SE (PS/TD)</c:v>
                  </c:pt>
                  <c:pt idx="6">
                    <c:v>NIKE COURT VISION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MA!$AT$162:$AT$171</c:f>
              <c:numCache>
                <c:formatCode>General</c:formatCode>
                <c:ptCount val="10"/>
                <c:pt idx="2">
                  <c:v>30</c:v>
                </c:pt>
                <c:pt idx="3">
                  <c:v>11</c:v>
                </c:pt>
                <c:pt idx="7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A0A-454B-8C00-8A9C65C456F0}"/>
            </c:ext>
          </c:extLst>
        </c:ser>
        <c:ser>
          <c:idx val="8"/>
          <c:order val="8"/>
          <c:tx>
            <c:strRef>
              <c:f>MA!$AU$161</c:f>
              <c:strCache>
                <c:ptCount val="1"/>
                <c:pt idx="0">
                  <c:v>Hairy edge</c:v>
                </c:pt>
              </c:strCache>
            </c:strRef>
          </c:tx>
          <c:spPr>
            <a:solidFill>
              <a:srgbClr val="C4BD97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en-US" sz="7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vi-V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multiLvlStrRef>
              <c:f>MA!$AJ$162:$AL$171</c:f>
              <c:multiLvlStrCache>
                <c:ptCount val="10"/>
                <c:lvl>
                  <c:pt idx="0">
                    <c:v>HFPA</c:v>
                  </c:pt>
                  <c:pt idx="1">
                    <c:v>Re-ins</c:v>
                  </c:pt>
                  <c:pt idx="2">
                    <c:v>HFPA</c:v>
                  </c:pt>
                  <c:pt idx="3">
                    <c:v>Re-ins</c:v>
                  </c:pt>
                  <c:pt idx="4">
                    <c:v>HFPA</c:v>
                  </c:pt>
                  <c:pt idx="5">
                    <c:v>Re-ins</c:v>
                  </c:pt>
                  <c:pt idx="6">
                    <c:v>HFPA</c:v>
                  </c:pt>
                  <c:pt idx="7">
                    <c:v>Re-ins</c:v>
                  </c:pt>
                  <c:pt idx="8">
                    <c:v>HFPA</c:v>
                  </c:pt>
                  <c:pt idx="9">
                    <c:v>Re-ins</c:v>
                  </c:pt>
                </c:lvl>
                <c:lvl>
                  <c:pt idx="0">
                    <c:v>AIR JORDAN 1 LOW (MS/WS)</c:v>
                  </c:pt>
                  <c:pt idx="2">
                    <c:v>AIR JORDAN 1 MID SE (GS)</c:v>
                  </c:pt>
                  <c:pt idx="4">
                    <c:v>JORDAN 1 MID SE (PS/TD)</c:v>
                  </c:pt>
                  <c:pt idx="6">
                    <c:v>NIKE COURT VISION LOW (MS/WS)</c:v>
                  </c:pt>
                  <c:pt idx="8">
                    <c:v>NIKE INITIATOR (MS/WS)</c:v>
                  </c:pt>
                </c:lvl>
              </c:multiLvlStrCache>
            </c:multiLvlStrRef>
          </c:cat>
          <c:val>
            <c:numRef>
              <c:f>MA!$AU$162:$AU$171</c:f>
              <c:numCache>
                <c:formatCode>General</c:formatCode>
                <c:ptCount val="10"/>
                <c:pt idx="9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F0-4C87-9E0B-B223AA76C2B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overlap val="100"/>
        <c:axId val="412262404"/>
        <c:axId val="232326616"/>
        <c:extLst/>
      </c:barChart>
      <c:catAx>
        <c:axId val="41226240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3000">
                  <a:srgbClr val="BEC0CB"/>
                </a:gs>
                <a:gs pos="39000">
                  <a:srgbClr val="85869A"/>
                </a:gs>
                <a:gs pos="100000">
                  <a:srgbClr val="141338"/>
                </a:gs>
              </a:gsLst>
              <a:lin ang="5400000" scaled="1"/>
            </a:gra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800" b="1" i="0" u="none" strike="noStrike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vi-VN"/>
          </a:p>
        </c:txPr>
        <c:crossAx val="232326616"/>
        <c:crosses val="autoZero"/>
        <c:auto val="1"/>
        <c:lblAlgn val="ctr"/>
        <c:lblOffset val="100"/>
        <c:noMultiLvlLbl val="0"/>
      </c:catAx>
      <c:valAx>
        <c:axId val="2323266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7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vi-VN"/>
          </a:p>
        </c:txPr>
        <c:crossAx val="4122624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8f728a24-1889-458e-b47a-785daae38e2d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en-US" sz="700">
          <a:solidFill>
            <a:schemeClr val="tx1"/>
          </a:solidFill>
        </a:defRPr>
      </a:pPr>
      <a:endParaRPr lang="vi-VN"/>
    </a:p>
  </c:txPr>
  <c:externalData r:id="rId3">
    <c:autoUpdate val="1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1">
  <a:schemeClr val="accent1"/>
  <a:schemeClr val="accent3"/>
  <a:schemeClr val="accent5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2">
  <cs:axisTitle>
    <cs:lnRef idx="0"/>
    <cs:fillRef idx="0"/>
    <cs:effectRef idx="0"/>
    <cs:fontRef idx="minor">
      <a:schemeClr val="tx1"/>
    </cs:fontRef>
    <cs:defRPr sz="1000" b="1" kern="1200"/>
  </cs:axisTitle>
  <cs:category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categoryAxis>
  <cs:chartArea mods="allowNoFillOverride allowNoLineOverride">
    <cs:lnRef idx="1">
      <a:schemeClr val="tx1">
        <a:tint val="75000"/>
      </a:schemeClr>
    </cs:lnRef>
    <cs:fillRef idx="1">
      <a:schemeClr val="bg1"/>
    </cs:fillRef>
    <cs:effectRef idx="0"/>
    <cs:fontRef idx="minor">
      <a:schemeClr val="tx1"/>
    </cs:fontRef>
    <cs:spPr>
      <a:ln>
        <a:round/>
      </a:ln>
    </cs:spPr>
    <cs:defRPr sz="1000" kern="1200"/>
  </cs:chartArea>
  <cs:dataLabel>
    <cs:lnRef idx="0"/>
    <cs:fillRef idx="0"/>
    <cs:effectRef idx="0"/>
    <cs:fontRef idx="minor">
      <a:schemeClr val="tx1"/>
    </cs:fontRef>
    <cs:defRPr sz="1000" kern="1200"/>
  </cs:dataLabel>
  <cs:dataLabelCallout>
    <cs:lnRef idx="0"/>
    <cs:fillRef idx="0"/>
    <cs:effectRef idx="0"/>
    <cs:fontRef idx="minor">
      <a:schemeClr val="dk1"/>
    </cs:fontRef>
    <cs:spPr>
      <a:solidFill>
        <a:schemeClr val="lt1"/>
      </a:solidFill>
      <a:ln>
        <a:solidFill>
          <a:schemeClr val="dk1">
            <a:lumMod val="65000"/>
            <a:lumOff val="35000"/>
          </a:schemeClr>
        </a:solidFill>
      </a:ln>
    </cs:spPr>
    <cs:defRPr sz="1000" kern="1200"/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1">
      <cs:styleClr val="auto"/>
    </cs:lnRef>
    <cs:lineWidthScale>3</cs:lineWidthScale>
    <cs:fillRef idx="0"/>
    <cs:effectRef idx="0"/>
    <cs:fontRef idx="minor">
      <a:schemeClr val="tx1"/>
    </cs:fontRef>
    <cs:spPr>
      <a:ln cap="rnd">
        <a:round/>
      </a:ln>
    </cs:spPr>
  </cs:dataPointLine>
  <cs:dataPointMarker>
    <cs:lnRef idx="1">
      <cs:styleClr val="auto"/>
    </cs:lnRef>
    <cs:fillRef idx="1">
      <cs:styleClr val="auto"/>
    </cs:fillRef>
    <cs:effectRef idx="0"/>
    <cs:fontRef idx="minor">
      <a:schemeClr val="tx1"/>
    </cs:fontRef>
    <cs:spPr>
      <a:ln>
        <a:round/>
      </a:ln>
    </cs:spPr>
  </cs:dataPointMarker>
  <cs:dataPointMarkerLayout/>
  <cs:dataPointWireframe>
    <cs:lnRef idx="1">
      <cs:styleClr val="auto"/>
    </cs:lnRef>
    <cs:fillRef idx="0"/>
    <cs:effectRef idx="0"/>
    <cs:fontRef idx="minor">
      <a:schemeClr val="tx1"/>
    </cs:fontRef>
    <cs:spPr>
      <a:ln>
        <a:round/>
      </a:ln>
    </cs:spPr>
  </cs:dataPointWireframe>
  <cs:dataTable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dataTable>
  <cs:downBar>
    <cs:lnRef idx="1">
      <a:schemeClr val="tx1"/>
    </cs:lnRef>
    <cs:fillRef idx="1">
      <a:schemeClr val="dk1">
        <a:tint val="95000"/>
      </a:schemeClr>
    </cs:fillRef>
    <cs:effectRef idx="0"/>
    <cs:fontRef idx="minor">
      <a:schemeClr val="tx1"/>
    </cs:fontRef>
    <cs:spPr>
      <a:ln>
        <a:round/>
      </a:ln>
    </cs:spPr>
  </cs:downBar>
  <cs:drop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dropLine>
  <cs:errorBar>
    <cs:lnRef idx="1">
      <a:schemeClr val="tx1"/>
    </cs:lnRef>
    <cs:fillRef idx="1">
      <a:schemeClr val="tx1"/>
    </cs:fillRef>
    <cs:effectRef idx="0"/>
    <cs:fontRef idx="minor">
      <a:schemeClr val="tx1"/>
    </cs:fontRef>
    <cs:spPr>
      <a:ln>
        <a:round/>
      </a:ln>
    </cs:spPr>
  </cs:errorBar>
  <cs:flo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floor>
  <cs:gridlineMajor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</cs:gridlineMajor>
  <cs:gridlineMinor>
    <cs:lnRef idx="1">
      <a:schemeClr val="tx1">
        <a:tint val="50000"/>
      </a:schemeClr>
    </cs:lnRef>
    <cs:fillRef idx="0"/>
    <cs:effectRef idx="0"/>
    <cs:fontRef idx="minor">
      <a:schemeClr val="tx1"/>
    </cs:fontRef>
    <cs:spPr>
      <a:ln>
        <a:round/>
      </a:ln>
    </cs:spPr>
  </cs:gridlineMinor>
  <cs:hiLo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hiLoLine>
  <cs:leader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leaderLine>
  <cs:legend>
    <cs:lnRef idx="0"/>
    <cs:fillRef idx="0"/>
    <cs:effectRef idx="0"/>
    <cs:fontRef idx="minor">
      <a:schemeClr val="tx1"/>
    </cs:fontRef>
    <cs:defRPr sz="1000" kern="1200"/>
  </cs:legend>
  <cs:plotArea mods="allowNoFillOverride allowNoLineOverride">
    <cs:lnRef idx="0"/>
    <cs:fillRef idx="1">
      <a:schemeClr val="bg1"/>
    </cs:fillRef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seriesAxis>
  <cs:seriesLine>
    <cs:lnRef idx="1">
      <a:schemeClr val="tx1"/>
    </cs:lnRef>
    <cs:fillRef idx="0"/>
    <cs:effectRef idx="0"/>
    <cs:fontRef idx="minor">
      <a:schemeClr val="tx1"/>
    </cs:fontRef>
    <cs:spPr>
      <a:ln>
        <a:round/>
      </a:ln>
    </cs:spPr>
  </cs:seriesLine>
  <cs:title>
    <cs:lnRef idx="0"/>
    <cs:fillRef idx="0"/>
    <cs:effectRef idx="0"/>
    <cs:fontRef idx="minor">
      <a:schemeClr val="tx1"/>
    </cs:fontRef>
    <cs:defRPr sz="1800" b="1" kern="1200"/>
  </cs:title>
  <cs:trendline>
    <cs:lnRef idx="1">
      <a:schemeClr val="tx1"/>
    </cs:lnRef>
    <cs:fillRef idx="0"/>
    <cs:effectRef idx="0"/>
    <cs:fontRef idx="minor">
      <a:schemeClr val="tx1"/>
    </cs:fontRef>
    <cs:spPr>
      <a:ln cap="rnd">
        <a:round/>
      </a:ln>
    </cs:spPr>
  </cs:trendline>
  <cs:trendlineLabel>
    <cs:lnRef idx="0"/>
    <cs:fillRef idx="0"/>
    <cs:effectRef idx="0"/>
    <cs:fontRef idx="minor">
      <a:schemeClr val="tx1"/>
    </cs:fontRef>
    <cs:defRPr sz="1000" kern="1200"/>
  </cs:trendlineLabel>
  <cs:upBar>
    <cs:lnRef idx="1">
      <a:schemeClr val="tx1"/>
    </cs:lnRef>
    <cs:fillRef idx="1">
      <a:schemeClr val="dk1">
        <a:tint val="5000"/>
      </a:schemeClr>
    </cs:fillRef>
    <cs:effectRef idx="0"/>
    <cs:fontRef idx="minor">
      <a:schemeClr val="tx1"/>
    </cs:fontRef>
    <cs:spPr>
      <a:ln>
        <a:round/>
      </a:ln>
    </cs:spPr>
  </cs:upBar>
  <cs:valueAxis>
    <cs:lnRef idx="1">
      <a:schemeClr val="tx1">
        <a:tint val="75000"/>
      </a:schemeClr>
    </cs:lnRef>
    <cs:fillRef idx="0"/>
    <cs:effectRef idx="0"/>
    <cs:fontRef idx="minor">
      <a:schemeClr val="tx1"/>
    </cs:fontRef>
    <cs:spPr>
      <a:ln>
        <a:round/>
      </a:ln>
    </cs:spPr>
    <cs:defRPr sz="1000" kern="1200"/>
  </cs:valueAxis>
  <cs:wall>
    <cs:lnRef idx="0"/>
    <cs:fillRef idx="0"/>
    <cs:effectRef idx="0"/>
    <cs:fontRef idx="minor">
      <a:schemeClr val="tx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100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0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0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100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100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100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100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100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420283"/>
            <a:ext cx="518160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590800"/>
            <a:ext cx="42672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04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24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33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1542" y="2937933"/>
            <a:ext cx="5181600" cy="908050"/>
          </a:xfrm>
        </p:spPr>
        <p:txBody>
          <a:bodyPr anchor="t"/>
          <a:lstStyle>
            <a:lvl1pPr algn="l">
              <a:defRPr sz="266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1542" y="1937809"/>
            <a:ext cx="5181600" cy="1000125"/>
          </a:xfrm>
        </p:spPr>
        <p:txBody>
          <a:bodyPr anchor="b"/>
          <a:lstStyle>
            <a:lvl1pPr marL="0" indent="0">
              <a:buNone/>
              <a:defRPr sz="1335">
                <a:solidFill>
                  <a:schemeClr val="tx1">
                    <a:tint val="75000"/>
                  </a:schemeClr>
                </a:solidFill>
              </a:defRPr>
            </a:lvl1pPr>
            <a:lvl2pPr marL="304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2pPr>
            <a:lvl3pPr marL="609600" indent="0">
              <a:buNone/>
              <a:defRPr sz="1065">
                <a:solidFill>
                  <a:schemeClr val="tx1">
                    <a:tint val="75000"/>
                  </a:schemeClr>
                </a:solidFill>
              </a:defRPr>
            </a:lvl3pPr>
            <a:lvl4pPr marL="914400" indent="0">
              <a:buNone/>
              <a:defRPr sz="935">
                <a:solidFill>
                  <a:schemeClr val="tx1">
                    <a:tint val="75000"/>
                  </a:schemeClr>
                </a:solidFill>
              </a:defRPr>
            </a:lvl4pPr>
            <a:lvl5pPr marL="1219200" indent="0">
              <a:buNone/>
              <a:defRPr sz="935">
                <a:solidFill>
                  <a:schemeClr val="tx1">
                    <a:tint val="75000"/>
                  </a:schemeClr>
                </a:solidFill>
              </a:defRPr>
            </a:lvl5pPr>
            <a:lvl6pPr marL="1524000" indent="0">
              <a:buNone/>
              <a:defRPr sz="935">
                <a:solidFill>
                  <a:schemeClr val="tx1">
                    <a:tint val="75000"/>
                  </a:schemeClr>
                </a:solidFill>
              </a:defRPr>
            </a:lvl6pPr>
            <a:lvl7pPr marL="1828800" indent="0">
              <a:buNone/>
              <a:defRPr sz="935">
                <a:solidFill>
                  <a:schemeClr val="tx1">
                    <a:tint val="75000"/>
                  </a:schemeClr>
                </a:solidFill>
              </a:defRPr>
            </a:lvl7pPr>
            <a:lvl8pPr marL="2133600" indent="0">
              <a:buNone/>
              <a:defRPr sz="935">
                <a:solidFill>
                  <a:schemeClr val="tx1">
                    <a:tint val="75000"/>
                  </a:schemeClr>
                </a:solidFill>
              </a:defRPr>
            </a:lvl8pPr>
            <a:lvl9pPr marL="2438400" indent="0">
              <a:buNone/>
              <a:defRPr sz="9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066800"/>
            <a:ext cx="2692400" cy="3017309"/>
          </a:xfrm>
        </p:spPr>
        <p:txBody>
          <a:bodyPr/>
          <a:lstStyle>
            <a:lvl1pPr>
              <a:defRPr sz="1865"/>
            </a:lvl1pPr>
            <a:lvl2pPr>
              <a:defRPr sz="1600"/>
            </a:lvl2pPr>
            <a:lvl3pPr>
              <a:defRPr sz="1335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98800" y="1066800"/>
            <a:ext cx="2692400" cy="3017309"/>
          </a:xfrm>
        </p:spPr>
        <p:txBody>
          <a:bodyPr/>
          <a:lstStyle>
            <a:lvl1pPr>
              <a:defRPr sz="1865"/>
            </a:lvl1pPr>
            <a:lvl2pPr>
              <a:defRPr sz="1600"/>
            </a:lvl2pPr>
            <a:lvl3pPr>
              <a:defRPr sz="1335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23409"/>
            <a:ext cx="2693459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00" indent="0">
              <a:buNone/>
              <a:defRPr sz="1335" b="1"/>
            </a:lvl2pPr>
            <a:lvl3pPr marL="609600" indent="0">
              <a:buNone/>
              <a:defRPr sz="1200" b="1"/>
            </a:lvl3pPr>
            <a:lvl4pPr marL="914400" indent="0">
              <a:buNone/>
              <a:defRPr sz="1065" b="1"/>
            </a:lvl4pPr>
            <a:lvl5pPr marL="1219200" indent="0">
              <a:buNone/>
              <a:defRPr sz="1065" b="1"/>
            </a:lvl5pPr>
            <a:lvl6pPr marL="1524000" indent="0">
              <a:buNone/>
              <a:defRPr sz="1065" b="1"/>
            </a:lvl6pPr>
            <a:lvl7pPr marL="1828800" indent="0">
              <a:buNone/>
              <a:defRPr sz="1065" b="1"/>
            </a:lvl7pPr>
            <a:lvl8pPr marL="2133600" indent="0">
              <a:buNone/>
              <a:defRPr sz="1065" b="1"/>
            </a:lvl8pPr>
            <a:lvl9pPr marL="2438400" indent="0">
              <a:buNone/>
              <a:defRPr sz="106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4800" y="1449917"/>
            <a:ext cx="2693459" cy="2634192"/>
          </a:xfrm>
        </p:spPr>
        <p:txBody>
          <a:bodyPr/>
          <a:lstStyle>
            <a:lvl1pPr>
              <a:defRPr sz="1600"/>
            </a:lvl1pPr>
            <a:lvl2pPr>
              <a:defRPr sz="1335"/>
            </a:lvl2pPr>
            <a:lvl3pPr>
              <a:defRPr sz="1200"/>
            </a:lvl3pPr>
            <a:lvl4pPr>
              <a:defRPr sz="1065"/>
            </a:lvl4pPr>
            <a:lvl5pPr>
              <a:defRPr sz="1065"/>
            </a:lvl5pPr>
            <a:lvl6pPr>
              <a:defRPr sz="1065"/>
            </a:lvl6pPr>
            <a:lvl7pPr>
              <a:defRPr sz="1065"/>
            </a:lvl7pPr>
            <a:lvl8pPr>
              <a:defRPr sz="1065"/>
            </a:lvl8pPr>
            <a:lvl9pPr>
              <a:defRPr sz="106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96683" y="1023409"/>
            <a:ext cx="2694517" cy="426508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00" indent="0">
              <a:buNone/>
              <a:defRPr sz="1335" b="1"/>
            </a:lvl2pPr>
            <a:lvl3pPr marL="609600" indent="0">
              <a:buNone/>
              <a:defRPr sz="1200" b="1"/>
            </a:lvl3pPr>
            <a:lvl4pPr marL="914400" indent="0">
              <a:buNone/>
              <a:defRPr sz="1065" b="1"/>
            </a:lvl4pPr>
            <a:lvl5pPr marL="1219200" indent="0">
              <a:buNone/>
              <a:defRPr sz="1065" b="1"/>
            </a:lvl5pPr>
            <a:lvl6pPr marL="1524000" indent="0">
              <a:buNone/>
              <a:defRPr sz="1065" b="1"/>
            </a:lvl6pPr>
            <a:lvl7pPr marL="1828800" indent="0">
              <a:buNone/>
              <a:defRPr sz="1065" b="1"/>
            </a:lvl7pPr>
            <a:lvl8pPr marL="2133600" indent="0">
              <a:buNone/>
              <a:defRPr sz="1065" b="1"/>
            </a:lvl8pPr>
            <a:lvl9pPr marL="2438400" indent="0">
              <a:buNone/>
              <a:defRPr sz="106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96683" y="1449917"/>
            <a:ext cx="2694517" cy="2634192"/>
          </a:xfrm>
        </p:spPr>
        <p:txBody>
          <a:bodyPr/>
          <a:lstStyle>
            <a:lvl1pPr>
              <a:defRPr sz="1600"/>
            </a:lvl1pPr>
            <a:lvl2pPr>
              <a:defRPr sz="1335"/>
            </a:lvl2pPr>
            <a:lvl3pPr>
              <a:defRPr sz="1200"/>
            </a:lvl3pPr>
            <a:lvl4pPr>
              <a:defRPr sz="1065"/>
            </a:lvl4pPr>
            <a:lvl5pPr>
              <a:defRPr sz="1065"/>
            </a:lvl5pPr>
            <a:lvl6pPr>
              <a:defRPr sz="1065"/>
            </a:lvl6pPr>
            <a:lvl7pPr>
              <a:defRPr sz="1065"/>
            </a:lvl7pPr>
            <a:lvl8pPr>
              <a:defRPr sz="1065"/>
            </a:lvl8pPr>
            <a:lvl9pPr>
              <a:defRPr sz="106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2033"/>
            <a:ext cx="2005542" cy="774700"/>
          </a:xfrm>
        </p:spPr>
        <p:txBody>
          <a:bodyPr anchor="b"/>
          <a:lstStyle>
            <a:lvl1pPr algn="l">
              <a:defRPr sz="133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83367" y="182033"/>
            <a:ext cx="3407833" cy="3902075"/>
          </a:xfrm>
        </p:spPr>
        <p:txBody>
          <a:bodyPr/>
          <a:lstStyle>
            <a:lvl1pPr>
              <a:defRPr sz="2135"/>
            </a:lvl1pPr>
            <a:lvl2pPr>
              <a:defRPr sz="1865"/>
            </a:lvl2pPr>
            <a:lvl3pPr>
              <a:defRPr sz="1600"/>
            </a:lvl3pPr>
            <a:lvl4pPr>
              <a:defRPr sz="1335"/>
            </a:lvl4pPr>
            <a:lvl5pPr>
              <a:defRPr sz="1335"/>
            </a:lvl5pPr>
            <a:lvl6pPr>
              <a:defRPr sz="1335"/>
            </a:lvl6pPr>
            <a:lvl7pPr>
              <a:defRPr sz="1335"/>
            </a:lvl7pPr>
            <a:lvl8pPr>
              <a:defRPr sz="1335"/>
            </a:lvl8pPr>
            <a:lvl9pPr>
              <a:defRPr sz="133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800" y="956733"/>
            <a:ext cx="2005542" cy="3127375"/>
          </a:xfrm>
        </p:spPr>
        <p:txBody>
          <a:bodyPr/>
          <a:lstStyle>
            <a:lvl1pPr marL="0" indent="0">
              <a:buNone/>
              <a:defRPr sz="935"/>
            </a:lvl1pPr>
            <a:lvl2pPr marL="304800" indent="0">
              <a:buNone/>
              <a:defRPr sz="800"/>
            </a:lvl2pPr>
            <a:lvl3pPr marL="609600" indent="0">
              <a:buNone/>
              <a:defRPr sz="665"/>
            </a:lvl3pPr>
            <a:lvl4pPr marL="914400" indent="0">
              <a:buNone/>
              <a:defRPr sz="600"/>
            </a:lvl4pPr>
            <a:lvl5pPr marL="1219200" indent="0">
              <a:buNone/>
              <a:defRPr sz="600"/>
            </a:lvl5pPr>
            <a:lvl6pPr marL="1524000" indent="0">
              <a:buNone/>
              <a:defRPr sz="600"/>
            </a:lvl6pPr>
            <a:lvl7pPr marL="1828800" indent="0">
              <a:buNone/>
              <a:defRPr sz="600"/>
            </a:lvl7pPr>
            <a:lvl8pPr marL="2133600" indent="0">
              <a:buNone/>
              <a:defRPr sz="600"/>
            </a:lvl8pPr>
            <a:lvl9pPr marL="243840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4859" y="3200400"/>
            <a:ext cx="3657600" cy="377825"/>
          </a:xfrm>
        </p:spPr>
        <p:txBody>
          <a:bodyPr anchor="b"/>
          <a:lstStyle>
            <a:lvl1pPr algn="l">
              <a:defRPr sz="133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94859" y="408517"/>
            <a:ext cx="3657600" cy="2743200"/>
          </a:xfrm>
        </p:spPr>
        <p:txBody>
          <a:bodyPr/>
          <a:lstStyle>
            <a:lvl1pPr marL="0" indent="0">
              <a:buNone/>
              <a:defRPr sz="2135"/>
            </a:lvl1pPr>
            <a:lvl2pPr marL="304800" indent="0">
              <a:buNone/>
              <a:defRPr sz="1865"/>
            </a:lvl2pPr>
            <a:lvl3pPr marL="609600" indent="0">
              <a:buNone/>
              <a:defRPr sz="1600"/>
            </a:lvl3pPr>
            <a:lvl4pPr marL="914400" indent="0">
              <a:buNone/>
              <a:defRPr sz="1335"/>
            </a:lvl4pPr>
            <a:lvl5pPr marL="1219200" indent="0">
              <a:buNone/>
              <a:defRPr sz="1335"/>
            </a:lvl5pPr>
            <a:lvl6pPr marL="1524000" indent="0">
              <a:buNone/>
              <a:defRPr sz="1335"/>
            </a:lvl6pPr>
            <a:lvl7pPr marL="1828800" indent="0">
              <a:buNone/>
              <a:defRPr sz="1335"/>
            </a:lvl7pPr>
            <a:lvl8pPr marL="2133600" indent="0">
              <a:buNone/>
              <a:defRPr sz="1335"/>
            </a:lvl8pPr>
            <a:lvl9pPr marL="2438400" indent="0">
              <a:buNone/>
              <a:defRPr sz="1335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94859" y="3578225"/>
            <a:ext cx="3657600" cy="536575"/>
          </a:xfrm>
        </p:spPr>
        <p:txBody>
          <a:bodyPr/>
          <a:lstStyle>
            <a:lvl1pPr marL="0" indent="0">
              <a:buNone/>
              <a:defRPr sz="935"/>
            </a:lvl1pPr>
            <a:lvl2pPr marL="304800" indent="0">
              <a:buNone/>
              <a:defRPr sz="800"/>
            </a:lvl2pPr>
            <a:lvl3pPr marL="609600" indent="0">
              <a:buNone/>
              <a:defRPr sz="665"/>
            </a:lvl3pPr>
            <a:lvl4pPr marL="914400" indent="0">
              <a:buNone/>
              <a:defRPr sz="600"/>
            </a:lvl4pPr>
            <a:lvl5pPr marL="1219200" indent="0">
              <a:buNone/>
              <a:defRPr sz="600"/>
            </a:lvl5pPr>
            <a:lvl6pPr marL="1524000" indent="0">
              <a:buNone/>
              <a:defRPr sz="600"/>
            </a:lvl6pPr>
            <a:lvl7pPr marL="1828800" indent="0">
              <a:buNone/>
              <a:defRPr sz="600"/>
            </a:lvl7pPr>
            <a:lvl8pPr marL="2133600" indent="0">
              <a:buNone/>
              <a:defRPr sz="600"/>
            </a:lvl8pPr>
            <a:lvl9pPr marL="2438400" indent="0">
              <a:buNone/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419600" y="183092"/>
            <a:ext cx="1371600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183092"/>
            <a:ext cx="4013200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066800"/>
            <a:ext cx="54864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4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82800" y="4237567"/>
            <a:ext cx="1930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68800" y="4237567"/>
            <a:ext cx="14224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09600" rtl="0" eaLnBrk="1" latinLnBrk="0" hangingPunct="1">
        <a:spcBef>
          <a:spcPct val="0"/>
        </a:spcBef>
        <a:buNone/>
        <a:defRPr sz="29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609600" rtl="0" eaLnBrk="1" latinLnBrk="0" hangingPunct="1">
        <a:spcBef>
          <a:spcPct val="13000"/>
        </a:spcBef>
        <a:buFont typeface="Arial" panose="020B0604020202020204" pitchFamily="34" charset="0"/>
        <a:buChar char="•"/>
        <a:defRPr sz="2135" kern="1200">
          <a:solidFill>
            <a:schemeClr val="tx1"/>
          </a:solidFill>
          <a:latin typeface="+mn-lt"/>
          <a:ea typeface="+mn-ea"/>
          <a:cs typeface="+mn-cs"/>
        </a:defRPr>
      </a:lvl1pPr>
      <a:lvl2pPr marL="495300" indent="-190500" algn="l" defTabSz="609600" rtl="0" eaLnBrk="1" latinLnBrk="0" hangingPunct="1">
        <a:spcBef>
          <a:spcPct val="13000"/>
        </a:spcBef>
        <a:buFont typeface="Arial" panose="020B0604020202020204" pitchFamily="34" charset="0"/>
        <a:buChar char="–"/>
        <a:defRPr sz="1865" kern="1200">
          <a:solidFill>
            <a:schemeClr val="tx1"/>
          </a:solidFill>
          <a:latin typeface="+mn-lt"/>
          <a:ea typeface="+mn-ea"/>
          <a:cs typeface="+mn-cs"/>
        </a:defRPr>
      </a:lvl2pPr>
      <a:lvl3pPr marL="762000" indent="-152400" algn="l" defTabSz="609600" rtl="0" eaLnBrk="1" latinLnBrk="0" hangingPunct="1">
        <a:spcBef>
          <a:spcPct val="13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66800" indent="-152400" algn="l" defTabSz="609600" rtl="0" eaLnBrk="1" latinLnBrk="0" hangingPunct="1">
        <a:spcBef>
          <a:spcPct val="13000"/>
        </a:spcBef>
        <a:buFont typeface="Arial" panose="020B0604020202020204" pitchFamily="34" charset="0"/>
        <a:buChar char="–"/>
        <a:defRPr sz="1335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152400" algn="l" defTabSz="609600" rtl="0" eaLnBrk="1" latinLnBrk="0" hangingPunct="1">
        <a:spcBef>
          <a:spcPct val="13000"/>
        </a:spcBef>
        <a:buFont typeface="Arial" panose="020B0604020202020204" pitchFamily="34" charset="0"/>
        <a:buChar char="»"/>
        <a:defRPr sz="1335" kern="1200">
          <a:solidFill>
            <a:schemeClr val="tx1"/>
          </a:solidFill>
          <a:latin typeface="+mn-lt"/>
          <a:ea typeface="+mn-ea"/>
          <a:cs typeface="+mn-cs"/>
        </a:defRPr>
      </a:lvl5pPr>
      <a:lvl6pPr marL="1676400" indent="-152400" algn="l" defTabSz="609600" rtl="0" eaLnBrk="1" latinLnBrk="0" hangingPunct="1">
        <a:spcBef>
          <a:spcPct val="13000"/>
        </a:spcBef>
        <a:buFont typeface="Arial" panose="020B0604020202020204" pitchFamily="34" charset="0"/>
        <a:buChar char="•"/>
        <a:defRPr sz="1335" kern="1200">
          <a:solidFill>
            <a:schemeClr val="tx1"/>
          </a:solidFill>
          <a:latin typeface="+mn-lt"/>
          <a:ea typeface="+mn-ea"/>
          <a:cs typeface="+mn-cs"/>
        </a:defRPr>
      </a:lvl6pPr>
      <a:lvl7pPr marL="1981200" indent="-152400" algn="l" defTabSz="609600" rtl="0" eaLnBrk="1" latinLnBrk="0" hangingPunct="1">
        <a:spcBef>
          <a:spcPct val="13000"/>
        </a:spcBef>
        <a:buFont typeface="Arial" panose="020B0604020202020204" pitchFamily="34" charset="0"/>
        <a:buChar char="•"/>
        <a:defRPr sz="1335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52400" algn="l" defTabSz="609600" rtl="0" eaLnBrk="1" latinLnBrk="0" hangingPunct="1">
        <a:spcBef>
          <a:spcPct val="13000"/>
        </a:spcBef>
        <a:buFont typeface="Arial" panose="020B0604020202020204" pitchFamily="34" charset="0"/>
        <a:buChar char="•"/>
        <a:defRPr sz="1335" kern="1200">
          <a:solidFill>
            <a:schemeClr val="tx1"/>
          </a:solidFill>
          <a:latin typeface="+mn-lt"/>
          <a:ea typeface="+mn-ea"/>
          <a:cs typeface="+mn-cs"/>
        </a:defRPr>
      </a:lvl8pPr>
      <a:lvl9pPr marL="2590800" indent="-152400" algn="l" defTabSz="609600" rtl="0" eaLnBrk="1" latinLnBrk="0" hangingPunct="1">
        <a:spcBef>
          <a:spcPct val="13000"/>
        </a:spcBef>
        <a:buFont typeface="Arial" panose="020B0604020202020204" pitchFamily="34" charset="0"/>
        <a:buChar char="•"/>
        <a:defRPr sz="1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6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400" algn="l" defTabSz="6096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13" Type="http://schemas.openxmlformats.org/officeDocument/2006/relationships/chart" Target="../charts/chart6.xml"/><Relationship Id="rId18" Type="http://schemas.openxmlformats.org/officeDocument/2006/relationships/chart" Target="../charts/chart11.xml"/><Relationship Id="rId3" Type="http://schemas.openxmlformats.org/officeDocument/2006/relationships/tags" Target="../tags/tag3.xml"/><Relationship Id="rId7" Type="http://schemas.openxmlformats.org/officeDocument/2006/relationships/image" Target="../media/image4.jpg"/><Relationship Id="rId12" Type="http://schemas.openxmlformats.org/officeDocument/2006/relationships/chart" Target="../charts/chart5.xml"/><Relationship Id="rId17" Type="http://schemas.openxmlformats.org/officeDocument/2006/relationships/chart" Target="../charts/chart10.xml"/><Relationship Id="rId2" Type="http://schemas.openxmlformats.org/officeDocument/2006/relationships/tags" Target="../tags/tag2.xml"/><Relationship Id="rId16" Type="http://schemas.openxmlformats.org/officeDocument/2006/relationships/chart" Target="../charts/chart9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11" Type="http://schemas.openxmlformats.org/officeDocument/2006/relationships/chart" Target="../charts/chart4.xml"/><Relationship Id="rId5" Type="http://schemas.openxmlformats.org/officeDocument/2006/relationships/slideLayout" Target="../slideLayouts/slideLayout4.xml"/><Relationship Id="rId15" Type="http://schemas.openxmlformats.org/officeDocument/2006/relationships/chart" Target="../charts/chart8.xml"/><Relationship Id="rId10" Type="http://schemas.openxmlformats.org/officeDocument/2006/relationships/chart" Target="../charts/chart3.xml"/><Relationship Id="rId4" Type="http://schemas.openxmlformats.org/officeDocument/2006/relationships/tags" Target="../tags/tag4.xml"/><Relationship Id="rId9" Type="http://schemas.openxmlformats.org/officeDocument/2006/relationships/chart" Target="../charts/chart2.xml"/><Relationship Id="rId14" Type="http://schemas.openxmlformats.org/officeDocument/2006/relationships/chart" Target="../charts/char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2.xml"/><Relationship Id="rId3" Type="http://schemas.openxmlformats.org/officeDocument/2006/relationships/tags" Target="../tags/tag7.xml"/><Relationship Id="rId7" Type="http://schemas.openxmlformats.org/officeDocument/2006/relationships/image" Target="../media/image4.jpg"/><Relationship Id="rId12" Type="http://schemas.openxmlformats.org/officeDocument/2006/relationships/image" Target="../media/image5.sv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notesSlide" Target="../notesSlides/notesSlide2.xml"/><Relationship Id="rId11" Type="http://schemas.openxmlformats.org/officeDocument/2006/relationships/chart" Target="../charts/chart15.xml"/><Relationship Id="rId5" Type="http://schemas.openxmlformats.org/officeDocument/2006/relationships/slideLayout" Target="../slideLayouts/slideLayout2.xml"/><Relationship Id="rId10" Type="http://schemas.openxmlformats.org/officeDocument/2006/relationships/chart" Target="../charts/chart14.xml"/><Relationship Id="rId4" Type="http://schemas.openxmlformats.org/officeDocument/2006/relationships/tags" Target="../tags/tag8.xml"/><Relationship Id="rId9" Type="http://schemas.openxmlformats.org/officeDocument/2006/relationships/chart" Target="../charts/chart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4.jpg"/><Relationship Id="rId7" Type="http://schemas.openxmlformats.org/officeDocument/2006/relationships/chart" Target="../charts/chart19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18.xml"/><Relationship Id="rId5" Type="http://schemas.openxmlformats.org/officeDocument/2006/relationships/chart" Target="../charts/chart17.xml"/><Relationship Id="rId4" Type="http://schemas.openxmlformats.org/officeDocument/2006/relationships/chart" Target="../charts/char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-1" y="2416689"/>
            <a:ext cx="1489037" cy="397366"/>
            <a:chOff x="0" y="0"/>
            <a:chExt cx="1536012" cy="15698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36012" cy="156984"/>
            </a:xfrm>
            <a:custGeom>
              <a:avLst/>
              <a:gdLst/>
              <a:ahLst/>
              <a:cxnLst/>
              <a:rect l="l" t="t" r="r" b="b"/>
              <a:pathLst>
                <a:path w="1536012" h="156984">
                  <a:moveTo>
                    <a:pt x="0" y="0"/>
                  </a:moveTo>
                  <a:lnTo>
                    <a:pt x="1536012" y="0"/>
                  </a:lnTo>
                  <a:lnTo>
                    <a:pt x="1536012" y="156984"/>
                  </a:lnTo>
                  <a:lnTo>
                    <a:pt x="0" y="15698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33864" tIns="33864" rIns="33864" bIns="33864" rtlCol="0" anchor="ctr"/>
            <a:lstStyle/>
            <a:p>
              <a:pPr>
                <a:lnSpc>
                  <a:spcPts val="2940"/>
                </a:lnSpc>
              </a:pPr>
              <a:endParaRPr sz="1200"/>
            </a:p>
          </p:txBody>
        </p:sp>
      </p:grpSp>
      <p:sp>
        <p:nvSpPr>
          <p:cNvPr id="13" name="Freeform 13"/>
          <p:cNvSpPr/>
          <p:nvPr/>
        </p:nvSpPr>
        <p:spPr>
          <a:xfrm>
            <a:off x="7061200" y="4089400"/>
            <a:ext cx="5126990" cy="384810"/>
          </a:xfrm>
          <a:custGeom>
            <a:avLst/>
            <a:gdLst/>
            <a:ahLst/>
            <a:cxnLst/>
            <a:rect l="l" t="t" r="r" b="b"/>
            <a:pathLst>
              <a:path w="2135072" h="135474">
                <a:moveTo>
                  <a:pt x="0" y="0"/>
                </a:moveTo>
                <a:lnTo>
                  <a:pt x="2135072" y="0"/>
                </a:lnTo>
                <a:lnTo>
                  <a:pt x="2135072" y="135474"/>
                </a:lnTo>
                <a:lnTo>
                  <a:pt x="0" y="135474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</p:spPr>
        <p:txBody>
          <a:bodyPr/>
          <a:lstStyle/>
          <a:p>
            <a:endParaRPr lang="vi-VN"/>
          </a:p>
        </p:txBody>
      </p:sp>
      <p:sp>
        <p:nvSpPr>
          <p:cNvPr id="15" name="TextBox 15"/>
          <p:cNvSpPr txBox="1"/>
          <p:nvPr/>
        </p:nvSpPr>
        <p:spPr>
          <a:xfrm>
            <a:off x="7425266" y="2752785"/>
            <a:ext cx="4398857" cy="1477328"/>
          </a:xfrm>
          <a:prstGeom prst="rect">
            <a:avLst/>
          </a:prstGeom>
          <a:effectLst>
            <a:outerShdw blurRad="1016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ct val="100000"/>
              </a:lnSpc>
              <a:spcBef>
                <a:spcPct val="0"/>
              </a:spcBef>
            </a:pPr>
            <a:r>
              <a:rPr lang="en-US" sz="4800" u="none" dirty="0">
                <a:solidFill>
                  <a:srgbClr val="12222B"/>
                </a:solidFill>
                <a:latin typeface="Open Sans Bold"/>
              </a:rPr>
              <a:t>Re-Inspection </a:t>
            </a:r>
            <a:br>
              <a:rPr lang="en-US" sz="4800" u="none" dirty="0">
                <a:solidFill>
                  <a:srgbClr val="12222B"/>
                </a:solidFill>
                <a:latin typeface="Open Sans Bold"/>
              </a:rPr>
            </a:br>
            <a:r>
              <a:rPr lang="en-US" sz="4800" u="none" dirty="0">
                <a:solidFill>
                  <a:srgbClr val="12222B"/>
                </a:solidFill>
                <a:latin typeface="Open Sans Bold"/>
              </a:rPr>
              <a:t>Report</a:t>
            </a:r>
          </a:p>
        </p:txBody>
      </p:sp>
      <p:pic>
        <p:nvPicPr>
          <p:cNvPr id="16" name="Picture 15"/>
          <p:cNvPicPr/>
          <p:nvPr/>
        </p:nvPicPr>
        <p:blipFill>
          <a:blip r:embed="rId2"/>
          <a:stretch>
            <a:fillRect/>
          </a:stretch>
        </p:blipFill>
        <p:spPr>
          <a:xfrm>
            <a:off x="10414000" y="533400"/>
            <a:ext cx="1488440" cy="672677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7192857" y="2514600"/>
            <a:ext cx="2224617" cy="268817"/>
            <a:chOff x="0" y="0"/>
            <a:chExt cx="2058649" cy="162211"/>
          </a:xfrm>
          <a:solidFill>
            <a:schemeClr val="accent5">
              <a:lumMod val="50000"/>
            </a:schemeClr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2058649" cy="162211"/>
            </a:xfrm>
            <a:custGeom>
              <a:avLst/>
              <a:gdLst/>
              <a:ahLst/>
              <a:cxnLst/>
              <a:rect l="l" t="t" r="r" b="b"/>
              <a:pathLst>
                <a:path w="2058649" h="162211">
                  <a:moveTo>
                    <a:pt x="0" y="0"/>
                  </a:moveTo>
                  <a:lnTo>
                    <a:pt x="2058649" y="0"/>
                  </a:lnTo>
                  <a:lnTo>
                    <a:pt x="2058649" y="162211"/>
                  </a:lnTo>
                  <a:lnTo>
                    <a:pt x="0" y="1622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60035" y="0"/>
              <a:ext cx="1865439" cy="162211"/>
            </a:xfrm>
            <a:prstGeom prst="rect">
              <a:avLst/>
            </a:prstGeom>
            <a:grpFill/>
            <a:ln>
              <a:noFill/>
            </a:ln>
          </p:spPr>
          <p:txBody>
            <a:bodyPr lIns="33864" tIns="33864" rIns="33864" bIns="33864" rtlCol="0" anchor="ctr"/>
            <a:lstStyle/>
            <a:p>
              <a:pPr algn="ctr">
                <a:lnSpc>
                  <a:spcPts val="2940"/>
                </a:lnSpc>
              </a:pPr>
              <a:endParaRPr lang="en-US" sz="1400" u="none" dirty="0">
                <a:solidFill>
                  <a:schemeClr val="bg1"/>
                </a:solidFill>
                <a:latin typeface="Noto Sans Bold" panose="020B0802040504020204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-468630" y="2487930"/>
            <a:ext cx="6653530" cy="4143163"/>
            <a:chOff x="-1947" y="6237"/>
            <a:chExt cx="15717" cy="9787"/>
          </a:xfrm>
          <a:blipFill rotWithShape="1">
            <a:blip r:embed="rId3"/>
            <a:stretch>
              <a:fillRect/>
            </a:stretch>
          </a:blipFill>
        </p:grpSpPr>
        <p:sp>
          <p:nvSpPr>
            <p:cNvPr id="20" name="Rounded Rectangle 19"/>
            <p:cNvSpPr/>
            <p:nvPr/>
          </p:nvSpPr>
          <p:spPr>
            <a:xfrm rot="2820000">
              <a:off x="2285" y="2637"/>
              <a:ext cx="1800" cy="9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noFill/>
              </a:endParaRPr>
            </a:p>
          </p:txBody>
        </p:sp>
        <p:sp>
          <p:nvSpPr>
            <p:cNvPr id="21" name="Rounded Rectangle 20"/>
            <p:cNvSpPr/>
            <p:nvPr/>
          </p:nvSpPr>
          <p:spPr>
            <a:xfrm rot="2820000">
              <a:off x="3767" y="2058"/>
              <a:ext cx="1800" cy="1264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noFill/>
              </a:endParaRPr>
            </a:p>
          </p:txBody>
        </p:sp>
        <p:sp>
          <p:nvSpPr>
            <p:cNvPr id="22" name="Rounded Rectangle 21"/>
            <p:cNvSpPr/>
            <p:nvPr/>
          </p:nvSpPr>
          <p:spPr>
            <a:xfrm rot="2820000">
              <a:off x="6904" y="5386"/>
              <a:ext cx="1800" cy="10643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noFill/>
              </a:endParaRPr>
            </a:p>
          </p:txBody>
        </p:sp>
        <p:sp>
          <p:nvSpPr>
            <p:cNvPr id="23" name="Rounded Rectangle 22"/>
            <p:cNvSpPr/>
            <p:nvPr/>
          </p:nvSpPr>
          <p:spPr>
            <a:xfrm rot="2820000">
              <a:off x="7822" y="3328"/>
              <a:ext cx="1800" cy="773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noFill/>
              </a:endParaRPr>
            </a:p>
          </p:txBody>
        </p:sp>
        <p:sp>
          <p:nvSpPr>
            <p:cNvPr id="28" name="Rounded Rectangle 27"/>
            <p:cNvSpPr/>
            <p:nvPr/>
          </p:nvSpPr>
          <p:spPr>
            <a:xfrm rot="2820000">
              <a:off x="1706" y="8391"/>
              <a:ext cx="1800" cy="910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noFill/>
              </a:endParaRPr>
            </a:p>
          </p:txBody>
        </p:sp>
        <p:sp>
          <p:nvSpPr>
            <p:cNvPr id="29" name="Rounded Rectangle 28"/>
            <p:cNvSpPr/>
            <p:nvPr/>
          </p:nvSpPr>
          <p:spPr>
            <a:xfrm rot="2820000">
              <a:off x="6935" y="7471"/>
              <a:ext cx="1800" cy="1187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n>
                  <a:noFill/>
                </a:ln>
                <a:noFill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2239" y="14100"/>
              <a:ext cx="1841" cy="19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noFill/>
              </a:endParaRPr>
            </a:p>
          </p:txBody>
        </p:sp>
      </p:grpSp>
      <p:sp>
        <p:nvSpPr>
          <p:cNvPr id="33" name="Freeform 17"/>
          <p:cNvSpPr/>
          <p:nvPr/>
        </p:nvSpPr>
        <p:spPr>
          <a:xfrm>
            <a:off x="812800" y="480060"/>
            <a:ext cx="2681393" cy="492337"/>
          </a:xfrm>
          <a:custGeom>
            <a:avLst/>
            <a:gdLst/>
            <a:ahLst/>
            <a:cxnLst/>
            <a:rect l="l" t="t" r="r" b="b"/>
            <a:pathLst>
              <a:path w="4260505" h="784830">
                <a:moveTo>
                  <a:pt x="0" y="0"/>
                </a:moveTo>
                <a:lnTo>
                  <a:pt x="4260505" y="0"/>
                </a:lnTo>
                <a:lnTo>
                  <a:pt x="4260505" y="784830"/>
                </a:lnTo>
                <a:lnTo>
                  <a:pt x="0" y="784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effectLst/>
        </p:spPr>
        <p:txBody>
          <a:bodyPr/>
          <a:lstStyle/>
          <a:p>
            <a:endParaRPr lang="en-US" sz="1200" b="1"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4" name="TextBox 17"/>
          <p:cNvSpPr txBox="1"/>
          <p:nvPr/>
        </p:nvSpPr>
        <p:spPr>
          <a:xfrm>
            <a:off x="10261600" y="4474210"/>
            <a:ext cx="2074757" cy="464185"/>
          </a:xfrm>
          <a:prstGeom prst="rect">
            <a:avLst/>
          </a:prstGeom>
          <a:effectLst>
            <a:outerShdw blurRad="889000" dist="38100" dir="2700000" algn="tl" rotWithShape="0">
              <a:schemeClr val="tx2">
                <a:alpha val="18000"/>
              </a:scheme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620"/>
              </a:lnSpc>
              <a:spcBef>
                <a:spcPct val="0"/>
              </a:spcBef>
            </a:pPr>
            <a:r>
              <a:rPr lang="en-US" sz="1725" b="1" spc="-51">
                <a:solidFill>
                  <a:schemeClr val="accent4">
                    <a:lumMod val="50000"/>
                  </a:schemeClr>
                </a:solidFill>
                <a:latin typeface="Open Sans Bold" charset="0"/>
                <a:ea typeface="Poppins Bold" panose="00000800000000000000"/>
                <a:cs typeface="Open Sans Bold" charset="0"/>
                <a:sym typeface="Poppins Bold" panose="00000800000000000000"/>
              </a:rPr>
              <a:t>By: nedd.phan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11999" y="4648200"/>
            <a:ext cx="1655105" cy="290195"/>
          </a:xfrm>
          <a:prstGeom prst="roundRect">
            <a:avLst/>
          </a:prstGeom>
          <a:noFill/>
          <a:ln>
            <a:solidFill>
              <a:schemeClr val="bg2">
                <a:lumMod val="2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lumMod val="7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2">
                    <a:lumMod val="50000"/>
                  </a:schemeClr>
                </a:solidFill>
              </a:rPr>
              <a:t>Date: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ns2="http://schemas.openxmlformats.org/officeDocument/2006/relationships" xmlns:ns3="http://schemas.microsoft.com/office/powerpoint/2010/main" xmlns:ns5="http://schemas.microsoft.com/office/drawing/2014/main" xmlns:ns6="http://schemas.openxmlformats.org/markup-compatibility/2006" xmlns:ns7="http://schemas.microsoft.com/office/powerpoint/2015/09/main" xmlns:p="http://schemas.openxmlformats.org/presentationml/2006/main">
  <p:cSld>
    <p:bg>
      <p:bgPr>
        <a:blipFill dpi="0" rotWithShape="1">
          <a:blip ns2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9"/>
          <p:cNvGrpSpPr/>
          <p:nvPr/>
        </p:nvGrpSpPr>
        <p:grpSpPr>
          <a:xfrm>
            <a:off x="-508000" y="618278"/>
            <a:ext cx="13411200" cy="1146387"/>
            <a:chOff x="-1313" y="230"/>
            <a:chExt cx="31680" cy="2708"/>
          </a:xfrm>
        </p:grpSpPr>
        <p:sp>
          <p:nvSpPr>
            <p:cNvPr id="22" name="Freeform 21"/>
            <p:cNvSpPr/>
            <p:nvPr/>
          </p:nvSpPr>
          <p:spPr>
            <a:xfrm>
              <a:off x="14527" y="230"/>
              <a:ext cx="15840" cy="2700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4107" h="2103">
                  <a:moveTo>
                    <a:pt x="0" y="0"/>
                  </a:moveTo>
                  <a:lnTo>
                    <a:pt x="14107" y="0"/>
                  </a:lnTo>
                  <a:lnTo>
                    <a:pt x="14107" y="2103"/>
                  </a:lnTo>
                  <a:lnTo>
                    <a:pt x="4" y="2103"/>
                  </a:lnTo>
                  <a:lnTo>
                    <a:pt x="25" y="2098"/>
                  </a:lnTo>
                  <a:cubicBezTo>
                    <a:pt x="490" y="1978"/>
                    <a:pt x="835" y="1555"/>
                    <a:pt x="835" y="1052"/>
                  </a:cubicBezTo>
                  <a:cubicBezTo>
                    <a:pt x="835" y="549"/>
                    <a:pt x="490" y="126"/>
                    <a:pt x="25" y="6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accent5">
                    <a:lumMod val="75000"/>
                  </a:schemeClr>
                </a:gs>
                <a:gs pos="95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  <a:effectLst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r"/>
              <a:endParaRPr lang="en-US" altLang="en-US" sz="1335" dirty="0"/>
            </a:p>
          </p:txBody>
        </p:sp>
        <p:sp>
          <p:nvSpPr>
            <p:cNvPr id="13" name="Freeform 12"/>
            <p:cNvSpPr/>
            <p:nvPr/>
          </p:nvSpPr>
          <p:spPr>
            <a:xfrm rot="10800000">
              <a:off x="-1313" y="231"/>
              <a:ext cx="15840" cy="2707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4107" h="2103">
                  <a:moveTo>
                    <a:pt x="0" y="0"/>
                  </a:moveTo>
                  <a:lnTo>
                    <a:pt x="14107" y="0"/>
                  </a:lnTo>
                  <a:lnTo>
                    <a:pt x="14107" y="2103"/>
                  </a:lnTo>
                  <a:lnTo>
                    <a:pt x="4" y="2103"/>
                  </a:lnTo>
                  <a:lnTo>
                    <a:pt x="25" y="2098"/>
                  </a:lnTo>
                  <a:cubicBezTo>
                    <a:pt x="490" y="1978"/>
                    <a:pt x="835" y="1555"/>
                    <a:pt x="835" y="1052"/>
                  </a:cubicBezTo>
                  <a:cubicBezTo>
                    <a:pt x="835" y="549"/>
                    <a:pt x="490" y="126"/>
                    <a:pt x="25" y="6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tx2">
                    <a:lumMod val="75000"/>
                  </a:schemeClr>
                </a:gs>
                <a:gs pos="95000">
                  <a:srgbClr val="FFFFFF">
                    <a:alpha val="0"/>
                  </a:srgbClr>
                </a:gs>
              </a:gsLst>
              <a:lin ang="0" scaled="0"/>
            </a:gradFill>
            <a:ln>
              <a:noFill/>
            </a:ln>
            <a:effectLst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r"/>
              <a:endParaRPr lang="en-US" altLang="en-US" sz="1335"/>
            </a:p>
          </p:txBody>
        </p:sp>
      </p:grpSp>
      <p:graphicFrame>
        <p:nvGraphicFramePr>
          <p:cNvPr id="24" name="Chart 5"/>
          <p:cNvGraphicFramePr/>
          <p:nvPr>
            <p:extLst>
              <p:ext uri="{D42A27DB-BD31-4B8C-83A1-F6EECF244321}">
                <ns3:modId val="3092266453"/>
              </p:ext>
            </p:extLst>
          </p:nvPr>
        </p:nvGraphicFramePr>
        <p:xfrm>
          <a:off x="7315200" y="551180"/>
          <a:ext cx="3138170" cy="1277620"/>
        </p:xfrm>
        <a:graphic>
          <a:graphicData uri="http://schemas.openxmlformats.org/drawingml/2006/chart">
            <c:chart ns2:id="rId8"/>
          </a:graphicData>
        </a:graphic>
      </p:graphicFrame>
      <p:graphicFrame>
        <p:nvGraphicFramePr>
          <p:cNvPr id="21" name="Chart 5"/>
          <p:cNvGraphicFramePr/>
          <p:nvPr>
            <p:extLst>
              <p:ext uri="{D42A27DB-BD31-4B8C-83A1-F6EECF244321}">
                <ns3:modId val="1851935227"/>
              </p:ext>
            </p:extLst>
          </p:nvPr>
        </p:nvGraphicFramePr>
        <p:xfrm>
          <a:off x="1371600" y="551180"/>
          <a:ext cx="3138170" cy="1277620"/>
        </p:xfrm>
        <a:graphic>
          <a:graphicData uri="http://schemas.openxmlformats.org/drawingml/2006/chart">
            <c:chart ns2:id="rId9"/>
          </a:graphicData>
        </a:graphic>
      </p:graphicFrame>
      <p:graphicFrame>
        <p:nvGraphicFramePr>
          <p:cNvPr id="12" name="Chart 5"/>
          <p:cNvGraphicFramePr>
            <a:graphicFrameLocks noGrp="1"/>
          </p:cNvGraphicFramePr>
          <p:nvPr>
            <p:ph sz="half" idx="2"/>
            <p:extLst>
              <p:ext uri="{D42A27DB-BD31-4B8C-83A1-F6EECF244321}">
                <ns3:modId val="534098952"/>
              </p:ext>
            </p:extLst>
          </p:nvPr>
        </p:nvGraphicFramePr>
        <p:xfrm>
          <a:off x="4917440" y="551180"/>
          <a:ext cx="2134235" cy="1277620"/>
        </p:xfrm>
        <a:graphic>
          <a:graphicData uri="http://schemas.openxmlformats.org/drawingml/2006/chart">
            <c:chart ns2:id="rId10"/>
          </a:graphicData>
        </a:graphic>
      </p:graphicFrame>
      <p:graphicFrame>
        <p:nvGraphicFramePr>
          <p:cNvPr id="2" name="Chart 3"/>
          <p:cNvGraphicFramePr/>
          <p:nvPr>
            <p:extLst>
              <p:ext uri="{D42A27DB-BD31-4B8C-83A1-F6EECF244321}">
                <ns3:modId val="3530497722"/>
              </p:ext>
            </p:extLst>
          </p:nvPr>
        </p:nvGraphicFramePr>
        <p:xfrm>
          <a:off x="7778749" y="2159748"/>
          <a:ext cx="4260849" cy="1116852"/>
        </p:xfrm>
        <a:graphic>
          <a:graphicData uri="http://schemas.openxmlformats.org/drawingml/2006/chart">
            <c:chart ns2:id="rId11"/>
          </a:graphicData>
        </a:graphic>
      </p:graphicFrame>
      <p:graphicFrame>
        <p:nvGraphicFramePr>
          <p:cNvPr id="5" name="Chart 4"/>
          <p:cNvGraphicFramePr/>
          <p:nvPr>
            <p:extLst>
              <p:ext uri="{D42A27DB-BD31-4B8C-83A1-F6EECF244321}">
                <ns3:modId val="4010830869"/>
              </p:ext>
            </p:extLst>
          </p:nvPr>
        </p:nvGraphicFramePr>
        <p:xfrm>
          <a:off x="7764145" y="3333113"/>
          <a:ext cx="4275454" cy="1086487"/>
        </p:xfrm>
        <a:graphic>
          <a:graphicData uri="http://schemas.openxmlformats.org/drawingml/2006/chart">
            <c:chart ns2:id="rId12"/>
          </a:graphicData>
        </a:graphic>
      </p:graphicFrame>
      <p:cxnSp>
        <p:nvCxnSpPr>
          <p:cNvPr id="6" name="Straight Connector 5"/>
          <p:cNvCxnSpPr/>
          <p:nvPr/>
        </p:nvCxnSpPr>
        <p:spPr>
          <a:xfrm>
            <a:off x="-50589" y="4419600"/>
            <a:ext cx="12293177" cy="0"/>
          </a:xfrm>
          <a:prstGeom prst="line">
            <a:avLst/>
          </a:prstGeom>
          <a:ln w="9525" cap="flat" cmpd="sng" algn="ctr">
            <a:solidFill>
              <a:schemeClr val="accent2">
                <a:lumMod val="75000"/>
              </a:schemeClr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Text Box 9"/>
          <p:cNvSpPr txBox="1"/>
          <p:nvPr/>
        </p:nvSpPr>
        <p:spPr>
          <a:xfrm>
            <a:off x="5807075" y="1075690"/>
            <a:ext cx="748030" cy="3587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35" b="1" dirty="0">
                <a:sym typeface="+mn-ea"/>
              </a:rPr>
              <a:t>Insp. times 898</a:t>
            </a:r>
            <a:endParaRPr lang="en-US" sz="935" b="1" dirty="0"/>
          </a:p>
        </p:txBody>
      </p:sp>
      <p:sp>
        <p:nvSpPr>
          <p:cNvPr id="64" name="Text Box 63"/>
          <p:cNvSpPr txBox="1"/>
          <p:nvPr/>
        </p:nvSpPr>
        <p:spPr>
          <a:xfrm>
            <a:off x="2846705" y="1080770"/>
            <a:ext cx="725170" cy="4013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35" b="1" dirty="0">
                <a:sym typeface="+mn-ea"/>
              </a:rPr>
              <a:t>Insp. times</a:t>
            </a:r>
            <a:r>
              <a:rPr lang="en-US" sz="935" b="1" dirty="0"/>
              <a:t> 305</a:t>
            </a:r>
          </a:p>
        </p:txBody>
      </p:sp>
      <p:sp>
        <p:nvSpPr>
          <p:cNvPr id="78" name="Text Box 77"/>
          <p:cNvSpPr txBox="1"/>
          <p:nvPr/>
        </p:nvSpPr>
        <p:spPr>
          <a:xfrm>
            <a:off x="440690" y="2117090"/>
            <a:ext cx="738717" cy="3526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Montserrat Bold" charset="0"/>
                <a:cs typeface="Montserrat Bold" charset="0"/>
              </a:rPr>
              <a:t>VH</a:t>
            </a:r>
            <a:endParaRPr lang="en-US" sz="2665" b="1" dirty="0">
              <a:solidFill>
                <a:schemeClr val="accent6">
                  <a:lumMod val="75000"/>
                </a:schemeClr>
              </a:solidFill>
              <a:latin typeface="Montserrat Bold" charset="0"/>
              <a:cs typeface="Montserrat Bold" charset="0"/>
            </a:endParaRPr>
          </a:p>
        </p:txBody>
      </p:sp>
      <p:sp>
        <p:nvSpPr>
          <p:cNvPr id="79" name="Text Box 78"/>
          <p:cNvSpPr txBox="1"/>
          <p:nvPr/>
        </p:nvSpPr>
        <p:spPr>
          <a:xfrm>
            <a:off x="440690" y="3276600"/>
            <a:ext cx="1119479" cy="3526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Montserrat Bold" charset="0"/>
                <a:cs typeface="Montserrat Bold" charset="0"/>
              </a:rPr>
              <a:t>VH2</a:t>
            </a:r>
            <a:endParaRPr lang="en-US" sz="2665" b="1" dirty="0">
              <a:solidFill>
                <a:schemeClr val="accent6">
                  <a:lumMod val="75000"/>
                </a:schemeClr>
              </a:solidFill>
              <a:latin typeface="Montserrat Bold" charset="0"/>
              <a:cs typeface="Montserrat Bold" charset="0"/>
            </a:endParaRPr>
          </a:p>
        </p:txBody>
      </p:sp>
      <p:sp>
        <p:nvSpPr>
          <p:cNvPr id="80" name="Text Box 79"/>
          <p:cNvSpPr txBox="1"/>
          <p:nvPr/>
        </p:nvSpPr>
        <p:spPr>
          <a:xfrm>
            <a:off x="445135" y="4699000"/>
            <a:ext cx="607483" cy="3526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2400" b="1">
                <a:solidFill>
                  <a:schemeClr val="accent6">
                    <a:lumMod val="75000"/>
                  </a:schemeClr>
                </a:solidFill>
                <a:latin typeface="Montserrat Bold" charset="0"/>
                <a:cs typeface="Montserrat Bold" charset="0"/>
              </a:rPr>
              <a:t>JV</a:t>
            </a:r>
            <a:endParaRPr lang="en-US" sz="2665" b="1">
              <a:solidFill>
                <a:schemeClr val="accent6">
                  <a:lumMod val="75000"/>
                </a:schemeClr>
              </a:solidFill>
              <a:latin typeface="Montserrat Bold" charset="0"/>
              <a:cs typeface="Montserrat Bold" charset="0"/>
            </a:endParaRPr>
          </a:p>
        </p:txBody>
      </p:sp>
      <p:sp>
        <p:nvSpPr>
          <p:cNvPr id="81" name="Text Box 80"/>
          <p:cNvSpPr txBox="1"/>
          <p:nvPr/>
        </p:nvSpPr>
        <p:spPr>
          <a:xfrm>
            <a:off x="445135" y="5963073"/>
            <a:ext cx="859968" cy="3526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Montserrat Bold" charset="0"/>
                <a:cs typeface="Montserrat Bold" charset="0"/>
              </a:rPr>
              <a:t>JV2</a:t>
            </a:r>
            <a:endParaRPr lang="en-US" sz="2665" b="1" dirty="0">
              <a:solidFill>
                <a:schemeClr val="accent6">
                  <a:lumMod val="75000"/>
                </a:schemeClr>
              </a:solidFill>
              <a:latin typeface="Montserrat Bold" charset="0"/>
              <a:cs typeface="Montserrat Bold" charset="0"/>
            </a:endParaRPr>
          </a:p>
        </p:txBody>
      </p:sp>
      <p:sp>
        <p:nvSpPr>
          <p:cNvPr id="106" name="Pentagon 105"/>
          <p:cNvSpPr/>
          <p:nvPr/>
        </p:nvSpPr>
        <p:spPr>
          <a:xfrm>
            <a:off x="1655473" y="1877055"/>
            <a:ext cx="2009140" cy="186066"/>
          </a:xfrm>
          <a:prstGeom prst="homePlate">
            <a:avLst/>
          </a:prstGeom>
          <a:solidFill>
            <a:srgbClr val="3D5234"/>
          </a:solidFill>
          <a:ln>
            <a:noFill/>
          </a:ln>
          <a:effectLst>
            <a:outerShdw blurRad="50800" dist="38100" algn="l" rotWithShape="0">
              <a:schemeClr val="tx2">
                <a:lumMod val="50000"/>
                <a:alpha val="76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TOP 5 COUNTRY AUDIT</a:t>
            </a:r>
          </a:p>
        </p:txBody>
      </p:sp>
      <p:sp>
        <p:nvSpPr>
          <p:cNvPr id="107" name="Pentagon 106"/>
          <p:cNvSpPr/>
          <p:nvPr/>
        </p:nvSpPr>
        <p:spPr>
          <a:xfrm>
            <a:off x="4391053" y="1897375"/>
            <a:ext cx="1920240" cy="186066"/>
          </a:xfrm>
          <a:prstGeom prst="homePlate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>
            <a:outerShdw blurRad="50800" dist="38100" algn="l" rotWithShape="0">
              <a:schemeClr val="tx2">
                <a:lumMod val="50000"/>
                <a:alpha val="75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TOP 5 MODEL AUDIT</a:t>
            </a:r>
          </a:p>
        </p:txBody>
      </p:sp>
      <p:sp>
        <p:nvSpPr>
          <p:cNvPr id="108" name="Pentagon 107"/>
          <p:cNvSpPr/>
          <p:nvPr/>
        </p:nvSpPr>
        <p:spPr>
          <a:xfrm>
            <a:off x="7870853" y="1897375"/>
            <a:ext cx="1539240" cy="187114"/>
          </a:xfrm>
          <a:prstGeom prst="homePlate">
            <a:avLst/>
          </a:prstGeom>
          <a:solidFill>
            <a:srgbClr val="92D050"/>
          </a:solidFill>
          <a:ln>
            <a:noFill/>
          </a:ln>
          <a:effectLst>
            <a:outerShdw blurRad="50800" dist="38100" algn="l" rotWithShape="0">
              <a:schemeClr val="accent3">
                <a:lumMod val="50000"/>
                <a:alpha val="76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/>
              <a:t>TOP 5 DEFECT</a:t>
            </a:r>
          </a:p>
        </p:txBody>
      </p:sp>
      <p:grpSp>
        <p:nvGrpSpPr>
          <p:cNvPr id="175" name="Group 174"/>
          <p:cNvGrpSpPr/>
          <p:nvPr/>
        </p:nvGrpSpPr>
        <p:grpSpPr>
          <a:xfrm>
            <a:off x="6946900" y="2548997"/>
            <a:ext cx="365760" cy="183287"/>
            <a:chOff x="14812" y="4564"/>
            <a:chExt cx="1049" cy="528"/>
          </a:xfrm>
        </p:grpSpPr>
        <p:sp>
          <p:nvSpPr>
            <p:cNvPr id="167" name="Chevron 166"/>
            <p:cNvSpPr/>
            <p:nvPr/>
          </p:nvSpPr>
          <p:spPr>
            <a:xfrm>
              <a:off x="15375" y="4564"/>
              <a:ext cx="486" cy="529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73" name="Chevron 172"/>
            <p:cNvSpPr/>
            <p:nvPr/>
          </p:nvSpPr>
          <p:spPr>
            <a:xfrm>
              <a:off x="14812" y="4564"/>
              <a:ext cx="486" cy="529"/>
            </a:xfrm>
            <a:prstGeom prst="chevron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174" name="Chevron 173"/>
            <p:cNvSpPr/>
            <p:nvPr/>
          </p:nvSpPr>
          <p:spPr>
            <a:xfrm>
              <a:off x="15089" y="4564"/>
              <a:ext cx="486" cy="529"/>
            </a:xfrm>
            <a:prstGeom prst="chevron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aphicFrame>
        <p:nvGraphicFramePr>
          <p:cNvPr id="8" name="Chart 7"/>
          <p:cNvGraphicFramePr/>
          <p:nvPr>
            <p:extLst>
              <p:ext uri="{D42A27DB-BD31-4B8C-83A1-F6EECF244321}">
                <ns3:modId val="1609760435"/>
              </p:ext>
            </p:extLst>
          </p:nvPr>
        </p:nvGraphicFramePr>
        <p:xfrm>
          <a:off x="7714614" y="4542367"/>
          <a:ext cx="4324985" cy="1096433"/>
        </p:xfrm>
        <a:graphic>
          <a:graphicData uri="http://schemas.openxmlformats.org/drawingml/2006/chart">
            <c:chart ns2:id="rId13"/>
          </a:graphicData>
        </a:graphic>
      </p:graphicFrame>
      <p:graphicFrame>
        <p:nvGraphicFramePr>
          <p:cNvPr id="11" name="Chart 10"/>
          <p:cNvGraphicFramePr/>
          <p:nvPr>
            <p:extLst>
              <p:ext uri="{D42A27DB-BD31-4B8C-83A1-F6EECF244321}">
                <ns3:modId val="2320497403"/>
              </p:ext>
            </p:extLst>
          </p:nvPr>
        </p:nvGraphicFramePr>
        <p:xfrm>
          <a:off x="7714614" y="5727564"/>
          <a:ext cx="4324984" cy="1096433"/>
        </p:xfrm>
        <a:graphic>
          <a:graphicData uri="http://schemas.openxmlformats.org/drawingml/2006/chart">
            <c:chart ns2:id="rId14"/>
          </a:graphicData>
        </a:graphic>
      </p:graphicFrame>
      <p:sp>
        <p:nvSpPr>
          <p:cNvPr id="17" name="Text Box 16"/>
          <p:cNvSpPr txBox="1"/>
          <p:nvPr/>
        </p:nvSpPr>
        <p:spPr>
          <a:xfrm>
            <a:off x="386080" y="6263005"/>
            <a:ext cx="98552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1" dirty="0">
                <a:sym typeface="+mn-ea"/>
              </a:rPr>
              <a:t>Insp. times</a:t>
            </a:r>
            <a:r>
              <a:rPr lang="en-US" sz="800" b="1" i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 571</a:t>
            </a:r>
          </a:p>
        </p:txBody>
      </p:sp>
      <p:sp>
        <p:nvSpPr>
          <p:cNvPr id="18" name="Text Box 17"/>
          <p:cNvSpPr txBox="1"/>
          <p:nvPr/>
        </p:nvSpPr>
        <p:spPr>
          <a:xfrm>
            <a:off x="381000" y="5035762"/>
            <a:ext cx="94488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1" dirty="0">
                <a:sym typeface="+mn-ea"/>
              </a:rPr>
              <a:t>Insp. times</a:t>
            </a:r>
            <a:r>
              <a:rPr lang="en-US" sz="800" b="1" i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 99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8763000" y="1080770"/>
            <a:ext cx="748030" cy="3587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35" b="1" dirty="0">
                <a:sym typeface="+mn-ea"/>
              </a:rPr>
              <a:t>Insp. times 561</a:t>
            </a:r>
            <a:endParaRPr lang="en-US" sz="935" b="1" dirty="0"/>
          </a:p>
        </p:txBody>
      </p:sp>
      <p:sp>
        <p:nvSpPr>
          <p:cNvPr id="7" name="Text Box 6"/>
          <p:cNvSpPr txBox="1"/>
          <p:nvPr/>
        </p:nvSpPr>
        <p:spPr>
          <a:xfrm>
            <a:off x="344805" y="2436308"/>
            <a:ext cx="950595" cy="4013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1" i="1" dirty="0">
                <a:sym typeface="+mn-ea"/>
              </a:rPr>
              <a:t>Insp. times</a:t>
            </a:r>
            <a:r>
              <a:rPr lang="en-US" sz="800" b="1" i="1" dirty="0"/>
              <a:t>: 282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344805" y="3606907"/>
            <a:ext cx="950595" cy="271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800" b="1" i="1" dirty="0">
                <a:sym typeface="+mn-ea"/>
              </a:rPr>
              <a:t>Insp. times</a:t>
            </a:r>
            <a:r>
              <a:rPr lang="en-US" sz="800" b="1" i="1" dirty="0"/>
              <a:t>: 23</a:t>
            </a:r>
          </a:p>
        </p:txBody>
      </p:sp>
      <p:graphicFrame>
        <p:nvGraphicFramePr>
          <p:cNvPr id="27" name="Chart 3"/>
          <p:cNvGraphicFramePr/>
          <p:nvPr>
            <p:extLst>
              <p:ext uri="{D42A27DB-BD31-4B8C-83A1-F6EECF244321}">
                <ns3:modId val="2846112496"/>
              </p:ext>
            </p:extLst>
          </p:nvPr>
        </p:nvGraphicFramePr>
        <p:xfrm>
          <a:off x="1659890" y="2133600"/>
          <a:ext cx="2076450" cy="1085215"/>
        </p:xfrm>
        <a:graphic>
          <a:graphicData uri="http://schemas.openxmlformats.org/drawingml/2006/chart">
            <c:chart ns2:id="rId15"/>
          </a:graphicData>
        </a:graphic>
      </p:graphicFrame>
      <p:graphicFrame>
        <p:nvGraphicFramePr>
          <p:cNvPr id="29" name="Chart 28"/>
          <p:cNvGraphicFramePr/>
          <p:nvPr>
            <p:extLst>
              <p:ext uri="{D42A27DB-BD31-4B8C-83A1-F6EECF244321}">
                <ns3:modId val="2412226132"/>
              </p:ext>
            </p:extLst>
          </p:nvPr>
        </p:nvGraphicFramePr>
        <p:xfrm>
          <a:off x="1659890" y="3255644"/>
          <a:ext cx="2110740" cy="1163956"/>
        </p:xfrm>
        <a:graphic>
          <a:graphicData uri="http://schemas.openxmlformats.org/drawingml/2006/chart">
            <c:chart ns2:id="rId16"/>
          </a:graphicData>
        </a:graphic>
      </p:graphicFrame>
      <p:graphicFrame>
        <p:nvGraphicFramePr>
          <p:cNvPr id="34" name="Chart 33"/>
          <p:cNvGraphicFramePr/>
          <p:nvPr>
            <p:extLst>
              <p:ext uri="{D42A27DB-BD31-4B8C-83A1-F6EECF244321}">
                <ns3:modId val="1577277395"/>
              </p:ext>
            </p:extLst>
          </p:nvPr>
        </p:nvGraphicFramePr>
        <p:xfrm>
          <a:off x="1431290" y="5761567"/>
          <a:ext cx="2256156" cy="1096433"/>
        </p:xfrm>
        <a:graphic>
          <a:graphicData uri="http://schemas.openxmlformats.org/drawingml/2006/chart">
            <c:chart ns2:id="rId17"/>
          </a:graphicData>
        </a:graphic>
      </p:graphicFrame>
      <p:graphicFrame>
        <p:nvGraphicFramePr>
          <p:cNvPr id="32" name="Chart 4"/>
          <p:cNvGraphicFramePr/>
          <p:nvPr>
            <p:extLst>
              <p:ext uri="{D42A27DB-BD31-4B8C-83A1-F6EECF244321}">
                <ns3:modId val="782371648"/>
              </p:ext>
            </p:extLst>
          </p:nvPr>
        </p:nvGraphicFramePr>
        <p:xfrm>
          <a:off x="1425575" y="4521837"/>
          <a:ext cx="2280285" cy="1193163"/>
        </p:xfrm>
        <a:graphic>
          <a:graphicData uri="http://schemas.openxmlformats.org/drawingml/2006/chart">
            <c:chart ns2:id="rId18"/>
          </a:graphicData>
        </a:graphic>
      </p:graphicFrame>
      <p:sp>
        <p:nvSpPr>
          <p:cNvPr id="14" name="Text Box 13"/>
          <p:cNvSpPr txBox="1"/>
          <p:nvPr/>
        </p:nvSpPr>
        <p:spPr>
          <a:xfrm>
            <a:off x="-211" y="59159"/>
            <a:ext cx="4636135" cy="5232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>
              <a:spcBef>
                <a:spcPct val="0"/>
              </a:spcBef>
            </a:pPr>
            <a:r>
              <a:rPr kumimoji="0" lang="en-ID" sz="2800" b="1" i="0" u="none" strike="noStrike" kern="1200" cap="none" spc="50" normalizeH="0" baseline="0" noProof="0" dirty="0">
                <a:ln>
                  <a:noFill/>
                </a:ln>
                <a:solidFill>
                  <a:srgbClr val="3C4DA0"/>
                </a:solidFill>
                <a:effectLst/>
                <a:uLnTx/>
                <a:uFillTx/>
                <a:latin typeface="Neo Sans Std" panose="020B05040305040B0204"/>
                <a:ea typeface="Open Sans Light" panose="020B0306030504020204" pitchFamily="34" charset="0"/>
                <a:cs typeface="Open Sans Light" panose="020B0306030504020204" pitchFamily="34" charset="0"/>
              </a:rPr>
              <a:t>Re-Inspection </a:t>
            </a:r>
            <a:r>
              <a:rPr kumimoji="0" lang="en-ID" sz="2800" b="1" i="0" u="none" strike="noStrike" kern="1200" cap="none" spc="50" normalizeH="0" baseline="0" noProof="0" dirty="0" err="1">
                <a:ln>
                  <a:noFill/>
                </a:ln>
                <a:solidFill>
                  <a:srgbClr val="3C4DA0"/>
                </a:solidFill>
                <a:effectLst/>
                <a:uLnTx/>
                <a:uFillTx/>
                <a:latin typeface="Neo Sans Std" panose="020B05040305040B0204"/>
                <a:ea typeface="Open Sans Light" panose="020B0306030504020204" pitchFamily="34" charset="0"/>
                <a:cs typeface="Open Sans Light" panose="020B0306030504020204" pitchFamily="34" charset="0"/>
              </a:rPr>
              <a:t>Report_</a:t>
            </a:r>
            <a:r>
              <a:rPr kumimoji="0" lang="en-ID" sz="1600" b="1" i="0" u="none" strike="noStrike" kern="1200" cap="none" spc="50" normalizeH="0" baseline="0" noProof="0" dirty="0" err="1">
                <a:ln>
                  <a:noFill/>
                </a:ln>
                <a:solidFill>
                  <a:srgbClr val="3C4DA0"/>
                </a:solidFill>
                <a:effectLst/>
                <a:uLnTx/>
                <a:uFillTx/>
                <a:latin typeface="Neo Sans Std" panose="020B05040305040B0204"/>
                <a:ea typeface="Open Sans Light" panose="020B0306030504020204" pitchFamily="34" charset="0"/>
                <a:cs typeface="Open Sans Light" panose="020B0306030504020204" pitchFamily="34" charset="0"/>
              </a:rPr>
              <a:t>July</a:t>
            </a:r>
            <a:r>
              <a:rPr kumimoji="0" lang="en-ID" sz="1600" b="1" i="0" u="none" strike="noStrike" kern="1200" cap="none" spc="0" normalizeH="0" baseline="0" noProof="0" dirty="0">
                <a:ln>
                  <a:noFill/>
                </a:ln>
                <a:solidFill>
                  <a:srgbClr val="3C4DA0"/>
                </a:solidFill>
                <a:effectLst/>
                <a:uLnTx/>
                <a:uFillTx/>
                <a:latin typeface="Neo Sans Std" panose="020B05040305040B0204"/>
                <a:ea typeface="Open Sans Light" panose="020B0306030504020204" pitchFamily="34" charset="0"/>
                <a:cs typeface="Open Sans Light" panose="020B0306030504020204" pitchFamily="34" charset="0"/>
              </a:rPr>
              <a:t> 2026</a:t>
            </a:r>
            <a:endParaRPr lang="en-US" sz="2000" baseline="-25000" dirty="0">
              <a:solidFill>
                <a:srgbClr val="3C4DA0"/>
              </a:solidFill>
              <a:latin typeface="Open Sans Bold"/>
              <a:sym typeface="+mn-ea"/>
            </a:endParaRPr>
          </a:p>
        </p:txBody>
      </p:sp>
      <p:graphicFrame>
        <p:nvGraphicFramePr>
          <p:cNvPr id="19" name="Content Placeholder 95">
            <a:extLst>
              <a:ext uri="{FF2B5EF4-FFF2-40B4-BE49-F238E27FC236}">
                <ns5:creationId id="{4FBB4AA0-EDE3-E3C2-0E7A-74CBC850D8AA}"/>
              </a:ext>
            </a:extLst>
          </p:cNvPr>
          <p:cNvGraphicFramePr>
            <a:graphicFrameLocks/>
          </p:cNvGraphicFramePr>
          <p:nvPr>
            <p:custDataLst>
              <p:tags ns2:id="rId1"/>
            </p:custDataLst>
            <p:extLst>
              <p:ext uri="{D42A27DB-BD31-4B8C-83A1-F6EECF244321}">
                <ns3:modId val="1817674995"/>
              </p:ext>
            </p:extLst>
          </p:nvPr>
        </p:nvGraphicFramePr>
        <p:xfrm>
          <a:off x="4454244" y="2174268"/>
          <a:ext cx="2134235" cy="797044"/>
        </p:xfrm>
        <a:graphic>
          <a:graphicData uri="http://schemas.openxmlformats.org/drawingml/2006/table">
            <a:tbl>
              <a:tblPr bandCol="1">
                <a:tableStyleId>{793D81CF-94F2-401A-BA57-92F5A7B2D0C5}</a:tableStyleId>
              </a:tblPr>
              <a:tblGrid>
                <a:gridCol w="1756186">
                  <a:extLst>
                    <a:ext uri="{9D8B030D-6E8A-4147-A177-3AD203B41FA5}">
                      <ns5:colId val="20000"/>
                    </a:ext>
                  </a:extLst>
                </a:gridCol>
                <a:gridCol w="378049">
                  <a:extLst>
                    <a:ext uri="{9D8B030D-6E8A-4147-A177-3AD203B41FA5}">
                      <ns5:colId val="20001"/>
                    </a:ext>
                  </a:extLst>
                </a:gridCol>
              </a:tblGrid>
              <a:tr h="118012">
                <a:tc>
                  <a:txBody>
                    <a:bodyPr/>
                    <a:lstStyle/>
                    <a:p>
                      <a:pPr algn="ctr" fontAlgn="b"/>
                      <a:r>
                        <a:rPr sz="935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</a:t>
                      </a:r>
                      <a:endParaRPr lang="en-US" sz="935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289" marR="5289" marT="5289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sz="935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%</a:t>
                      </a:r>
                      <a:r>
                        <a:rPr lang="en-US" sz="935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Fail</a:t>
                      </a:r>
                    </a:p>
                  </a:txBody>
                  <a:tcPr marL="5289" marR="5289" marT="5289" marB="0" anchor="ctr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ns5:rowId val="10000"/>
                  </a:ext>
                </a:extLst>
              </a:tr>
              <a:tr h="1029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NIKE AIR WINFLO 12 (MS/WS)</a:t>
                      </a:r>
                    </a:p>
                  </a:txBody>
                  <a:tcPr marL="7034" marR="7034" marT="7034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7,92%</a:t>
                      </a:r>
                    </a:p>
                  </a:txBody>
                  <a:tcPr marL="7034" marR="7034" marT="7034" marB="0" anchor="b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ns5:rowId val="10001"/>
                  </a:ext>
                </a:extLst>
              </a:tr>
              <a:tr h="1029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JORDAN SPIZIKE LOW (GS)</a:t>
                      </a:r>
                    </a:p>
                  </a:txBody>
                  <a:tcPr marL="7034" marR="7034" marT="7034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6,93%</a:t>
                      </a:r>
                    </a:p>
                  </a:txBody>
                  <a:tcPr marL="7034" marR="7034" marT="7034" marB="0" anchor="b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ns5:rowId val="10002"/>
                  </a:ext>
                </a:extLst>
              </a:tr>
              <a:tr h="1029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NIKE SB FORCE 58</a:t>
                      </a:r>
                    </a:p>
                  </a:txBody>
                  <a:tcPr marL="7034" marR="7034" marT="7034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6,27%</a:t>
                      </a:r>
                    </a:p>
                  </a:txBody>
                  <a:tcPr marL="7034" marR="7034" marT="7034" marB="0" anchor="b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ns5:rowId val="10003"/>
                  </a:ext>
                </a:extLst>
              </a:tr>
              <a:tr h="1029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AIR JORDAN 1 LOW SE (MS/WS)</a:t>
                      </a:r>
                    </a:p>
                  </a:txBody>
                  <a:tcPr marL="7034" marR="7034" marT="7034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5,61%</a:t>
                      </a:r>
                    </a:p>
                  </a:txBody>
                  <a:tcPr marL="7034" marR="7034" marT="7034" marB="0" anchor="b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ns5:rowId val="10004"/>
                  </a:ext>
                </a:extLst>
              </a:tr>
              <a:tr h="1334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JORDAN COURT CONNECT LOW (GS)</a:t>
                      </a:r>
                    </a:p>
                  </a:txBody>
                  <a:tcPr marL="7034" marR="7034" marT="7034" marB="0" anchor="b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4,62%</a:t>
                      </a:r>
                    </a:p>
                  </a:txBody>
                  <a:tcPr marL="7034" marR="7034" marT="7034" marB="0" anchor="b">
                    <a:lnL>
                      <a:noFill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ns5:rowId val="10005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ns5:creationId id="{A53AB6EF-CC7F-AB74-AC23-ADCF740FE6D2}"/>
              </a:ext>
            </a:extLst>
          </p:cNvPr>
          <p:cNvGraphicFramePr/>
          <p:nvPr>
            <p:custDataLst>
              <p:tags ns2:id="rId2"/>
            </p:custDataLst>
            <p:extLst>
              <p:ext uri="{D42A27DB-BD31-4B8C-83A1-F6EECF244321}">
                <ns3:modId val="4162548380"/>
              </p:ext>
            </p:extLst>
          </p:nvPr>
        </p:nvGraphicFramePr>
        <p:xfrm>
          <a:off x="4427856" y="3380640"/>
          <a:ext cx="2160623" cy="830455"/>
        </p:xfrm>
        <a:graphic>
          <a:graphicData uri="http://schemas.openxmlformats.org/drawingml/2006/table">
            <a:tbl>
              <a:tblPr bandCol="1">
                <a:tableStyleId>{793D81CF-94F2-401A-BA57-92F5A7B2D0C5}</a:tableStyleId>
              </a:tblPr>
              <a:tblGrid>
                <a:gridCol w="1744344">
                  <a:extLst>
                    <a:ext uri="{9D8B030D-6E8A-4147-A177-3AD203B41FA5}">
                      <ns5:colId val="20000"/>
                    </a:ext>
                  </a:extLst>
                </a:gridCol>
                <a:gridCol w="416279">
                  <a:extLst>
                    <a:ext uri="{9D8B030D-6E8A-4147-A177-3AD203B41FA5}">
                      <ns5:colId val="20001"/>
                    </a:ext>
                  </a:extLst>
                </a:gridCol>
              </a:tblGrid>
              <a:tr h="154850">
                <a:tc>
                  <a:txBody>
                    <a:bodyPr/>
                    <a:lstStyle/>
                    <a:p>
                      <a:pPr algn="ctr" fontAlgn="b"/>
                      <a:r>
                        <a:rPr sz="935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</a:t>
                      </a:r>
                    </a:p>
                  </a:txBody>
                  <a:tcPr marL="5289" marR="5289" marT="5289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935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% Fail</a:t>
                      </a:r>
                    </a:p>
                  </a:txBody>
                  <a:tcPr marL="5289" marR="5289" marT="5289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ns5:rowId val="10000"/>
                  </a:ext>
                </a:extLst>
              </a:tr>
              <a:tr h="1351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NIKE AIR MAX EXCEE (MS/WS)</a:t>
                      </a:r>
                    </a:p>
                  </a:txBody>
                  <a:tcPr marL="7034" marR="7034" marT="703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17,65%</a:t>
                      </a:r>
                    </a:p>
                  </a:txBody>
                  <a:tcPr marL="7034" marR="7034" marT="7034" marB="0" anchor="b"/>
                </a:tc>
                <a:extLst>
                  <a:ext uri="{0D108BD9-81ED-4DB2-BD59-A6C34878D82A}">
                    <ns5:rowId val="10001"/>
                  </a:ext>
                </a:extLst>
              </a:tr>
              <a:tr h="1351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AIR WINFLO 11 GTX (MS/WS)</a:t>
                      </a:r>
                    </a:p>
                  </a:txBody>
                  <a:tcPr marL="7034" marR="7034" marT="703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2,94%</a:t>
                      </a:r>
                    </a:p>
                  </a:txBody>
                  <a:tcPr marL="7034" marR="7034" marT="7034" marB="0" anchor="b"/>
                </a:tc>
                <a:extLst>
                  <a:ext uri="{0D108BD9-81ED-4DB2-BD59-A6C34878D82A}">
                    <ns5:rowId val="10002"/>
                  </a:ext>
                </a:extLst>
              </a:tr>
              <a:tr h="1351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AIR FORCE 1 (GS)</a:t>
                      </a:r>
                    </a:p>
                  </a:txBody>
                  <a:tcPr marL="7034" marR="7034" marT="703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2,94%</a:t>
                      </a:r>
                    </a:p>
                  </a:txBody>
                  <a:tcPr marL="7034" marR="7034" marT="7034" marB="0" anchor="b"/>
                </a:tc>
                <a:extLst>
                  <a:ext uri="{0D108BD9-81ED-4DB2-BD59-A6C34878D82A}">
                    <ns5:rowId val="10003"/>
                  </a:ext>
                </a:extLst>
              </a:tr>
              <a:tr h="1351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NIKE AIR MAX SC (MS/WS)</a:t>
                      </a:r>
                    </a:p>
                  </a:txBody>
                  <a:tcPr marL="7034" marR="7034" marT="703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8,82%</a:t>
                      </a:r>
                    </a:p>
                  </a:txBody>
                  <a:tcPr marL="7034" marR="7034" marT="7034" marB="0" anchor="b"/>
                </a:tc>
                <a:extLst>
                  <a:ext uri="{0D108BD9-81ED-4DB2-BD59-A6C34878D82A}">
                    <ns5:rowId val="10004"/>
                  </a:ext>
                </a:extLst>
              </a:tr>
              <a:tr h="1351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NIKE INITIATOR (MS/WS)</a:t>
                      </a:r>
                    </a:p>
                  </a:txBody>
                  <a:tcPr marL="7034" marR="7034" marT="703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8,82%</a:t>
                      </a:r>
                    </a:p>
                  </a:txBody>
                  <a:tcPr marL="7034" marR="7034" marT="7034" marB="0" anchor="b"/>
                </a:tc>
                <a:extLst>
                  <a:ext uri="{0D108BD9-81ED-4DB2-BD59-A6C34878D82A}">
                    <ns5:rowId val="10005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ns5:creationId id="{A08994EC-DB9C-F7E3-9B41-8D6BD5716E71}"/>
              </a:ext>
            </a:extLst>
          </p:cNvPr>
          <p:cNvGraphicFramePr/>
          <p:nvPr>
            <p:custDataLst>
              <p:tags ns2:id="rId3"/>
            </p:custDataLst>
            <p:extLst>
              <p:ext uri="{D42A27DB-BD31-4B8C-83A1-F6EECF244321}">
                <ns3:modId val="4124387555"/>
              </p:ext>
            </p:extLst>
          </p:nvPr>
        </p:nvGraphicFramePr>
        <p:xfrm>
          <a:off x="4454245" y="4538774"/>
          <a:ext cx="2116523" cy="908436"/>
        </p:xfrm>
        <a:graphic>
          <a:graphicData uri="http://schemas.openxmlformats.org/drawingml/2006/table">
            <a:tbl>
              <a:tblPr bandCol="1">
                <a:tableStyleId>{793D81CF-94F2-401A-BA57-92F5A7B2D0C5}</a:tableStyleId>
              </a:tblPr>
              <a:tblGrid>
                <a:gridCol w="1723663">
                  <a:extLst>
                    <a:ext uri="{9D8B030D-6E8A-4147-A177-3AD203B41FA5}">
                      <ns5:colId val="20000"/>
                    </a:ext>
                  </a:extLst>
                </a:gridCol>
                <a:gridCol w="392860">
                  <a:extLst>
                    <a:ext uri="{9D8B030D-6E8A-4147-A177-3AD203B41FA5}">
                      <ns5:colId val="20001"/>
                    </a:ext>
                  </a:extLst>
                </a:gridCol>
              </a:tblGrid>
              <a:tr h="176382">
                <a:tc>
                  <a:txBody>
                    <a:bodyPr/>
                    <a:lstStyle/>
                    <a:p>
                      <a:pPr algn="ctr" fontAlgn="b"/>
                      <a:r>
                        <a:rPr sz="935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</a:t>
                      </a:r>
                      <a:endParaRPr sz="935" b="1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289" marR="5289" marT="5289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935" b="1" dirty="0">
                          <a:solidFill>
                            <a:srgbClr val="000000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% Fail</a:t>
                      </a:r>
                      <a:endParaRPr sz="935" b="1" i="0" dirty="0">
                        <a:solidFill>
                          <a:srgbClr val="000000"/>
                        </a:solidFill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289" marR="5289" marT="5289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ns5:rowId val="10000"/>
                  </a:ext>
                </a:extLst>
              </a:tr>
              <a:tr h="15364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NIKE EBERNON LOW (MS/WS)</a:t>
                      </a:r>
                    </a:p>
                  </a:txBody>
                  <a:tcPr marL="7034" marR="7034" marT="703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26,74%</a:t>
                      </a:r>
                    </a:p>
                  </a:txBody>
                  <a:tcPr marL="7034" marR="7034" marT="7034" marB="0" anchor="b"/>
                </a:tc>
                <a:extLst>
                  <a:ext uri="{0D108BD9-81ED-4DB2-BD59-A6C34878D82A}">
                    <ns5:rowId val="10001"/>
                  </a:ext>
                </a:extLst>
              </a:tr>
              <a:tr h="1530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NIKE INITIATOR (MS/WS)</a:t>
                      </a:r>
                    </a:p>
                  </a:txBody>
                  <a:tcPr marL="7034" marR="7034" marT="703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17,44%</a:t>
                      </a:r>
                    </a:p>
                  </a:txBody>
                  <a:tcPr marL="7034" marR="7034" marT="7034" marB="0" anchor="b"/>
                </a:tc>
                <a:extLst>
                  <a:ext uri="{0D108BD9-81ED-4DB2-BD59-A6C34878D82A}">
                    <ns5:rowId val="10002"/>
                  </a:ext>
                </a:extLst>
              </a:tr>
              <a:tr h="1524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NIKE AIR MAX SC (MS/WS)</a:t>
                      </a:r>
                    </a:p>
                  </a:txBody>
                  <a:tcPr marL="7034" marR="7034" marT="703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9,30%</a:t>
                      </a:r>
                    </a:p>
                  </a:txBody>
                  <a:tcPr marL="7034" marR="7034" marT="7034" marB="0" anchor="b"/>
                </a:tc>
                <a:extLst>
                  <a:ext uri="{0D108BD9-81ED-4DB2-BD59-A6C34878D82A}">
                    <ns5:rowId val="10003"/>
                  </a:ext>
                </a:extLst>
              </a:tr>
              <a:tr h="1364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NIKE COURT VISION LOW (MS/WS)</a:t>
                      </a:r>
                    </a:p>
                  </a:txBody>
                  <a:tcPr marL="7034" marR="7034" marT="703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3,49%</a:t>
                      </a:r>
                    </a:p>
                  </a:txBody>
                  <a:tcPr marL="7034" marR="7034" marT="7034" marB="0" anchor="b"/>
                </a:tc>
                <a:extLst>
                  <a:ext uri="{0D108BD9-81ED-4DB2-BD59-A6C34878D82A}">
                    <ns5:rowId val="10004"/>
                  </a:ext>
                </a:extLst>
              </a:tr>
              <a:tr h="1364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NIKE COURT BOROUGH MID (GS)</a:t>
                      </a:r>
                    </a:p>
                  </a:txBody>
                  <a:tcPr marL="7034" marR="7034" marT="703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4,65%</a:t>
                      </a:r>
                    </a:p>
                  </a:txBody>
                  <a:tcPr marL="7034" marR="7034" marT="7034" marB="0" anchor="b"/>
                </a:tc>
                <a:extLst>
                  <a:ext uri="{0D108BD9-81ED-4DB2-BD59-A6C34878D82A}">
                    <ns5:rowId val="10005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ns5:creationId id="{A2BAD37C-4E07-D7AA-8BD9-0C1B06A9808F}"/>
              </a:ext>
            </a:extLst>
          </p:cNvPr>
          <p:cNvGraphicFramePr/>
          <p:nvPr>
            <p:custDataLst>
              <p:tags ns2:id="rId4"/>
            </p:custDataLst>
            <p:extLst>
              <p:ext uri="{D42A27DB-BD31-4B8C-83A1-F6EECF244321}">
                <ns3:modId val="3131748857"/>
              </p:ext>
            </p:extLst>
          </p:nvPr>
        </p:nvGraphicFramePr>
        <p:xfrm>
          <a:off x="4454245" y="5724109"/>
          <a:ext cx="2117955" cy="863256"/>
        </p:xfrm>
        <a:graphic>
          <a:graphicData uri="http://schemas.openxmlformats.org/drawingml/2006/table">
            <a:tbl>
              <a:tblPr bandCol="1">
                <a:tableStyleId>{793D81CF-94F2-401A-BA57-92F5A7B2D0C5}</a:tableStyleId>
              </a:tblPr>
              <a:tblGrid>
                <a:gridCol w="1702213">
                  <a:extLst>
                    <a:ext uri="{9D8B030D-6E8A-4147-A177-3AD203B41FA5}">
                      <ns5:colId val="20000"/>
                    </a:ext>
                  </a:extLst>
                </a:gridCol>
                <a:gridCol w="415742">
                  <a:extLst>
                    <a:ext uri="{9D8B030D-6E8A-4147-A177-3AD203B41FA5}">
                      <ns5:colId val="20001"/>
                    </a:ext>
                  </a:extLst>
                </a:gridCol>
              </a:tblGrid>
              <a:tr h="137214">
                <a:tc>
                  <a:txBody>
                    <a:bodyPr/>
                    <a:lstStyle/>
                    <a:p>
                      <a:pPr algn="ctr" fontAlgn="b"/>
                      <a:r>
                        <a:rPr sz="935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</a:t>
                      </a:r>
                    </a:p>
                  </a:txBody>
                  <a:tcPr marL="5289" marR="5289" marT="5289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935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% Fail</a:t>
                      </a:r>
                    </a:p>
                  </a:txBody>
                  <a:tcPr marL="5289" marR="5289" marT="5289" marB="0" anchor="ctr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ns5:rowId val="10000"/>
                  </a:ext>
                </a:extLst>
              </a:tr>
              <a:tr h="1464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NIKE COURT VISION LOW (MS/WS)</a:t>
                      </a:r>
                    </a:p>
                  </a:txBody>
                  <a:tcPr marL="7034" marR="7034" marT="703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20,21%</a:t>
                      </a:r>
                    </a:p>
                  </a:txBody>
                  <a:tcPr marL="7034" marR="7034" marT="7034" marB="0" anchor="b"/>
                </a:tc>
                <a:extLst>
                  <a:ext uri="{0D108BD9-81ED-4DB2-BD59-A6C34878D82A}">
                    <ns5:rowId val="10001"/>
                  </a:ext>
                </a:extLst>
              </a:tr>
              <a:tr h="1464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JORDAN 1 MID SE (PS/TD)</a:t>
                      </a:r>
                    </a:p>
                  </a:txBody>
                  <a:tcPr marL="7034" marR="7034" marT="703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11,16%</a:t>
                      </a:r>
                    </a:p>
                  </a:txBody>
                  <a:tcPr marL="7034" marR="7034" marT="7034" marB="0" anchor="b"/>
                </a:tc>
                <a:extLst>
                  <a:ext uri="{0D108BD9-81ED-4DB2-BD59-A6C34878D82A}">
                    <ns5:rowId val="10002"/>
                  </a:ext>
                </a:extLst>
              </a:tr>
              <a:tr h="1464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AIR JORDAN 1 MID SE (GS)</a:t>
                      </a:r>
                    </a:p>
                  </a:txBody>
                  <a:tcPr marL="7034" marR="7034" marT="703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10,53%</a:t>
                      </a:r>
                    </a:p>
                  </a:txBody>
                  <a:tcPr marL="7034" marR="7034" marT="7034" marB="0" anchor="b"/>
                </a:tc>
                <a:extLst>
                  <a:ext uri="{0D108BD9-81ED-4DB2-BD59-A6C34878D82A}">
                    <ns5:rowId val="10003"/>
                  </a:ext>
                </a:extLst>
              </a:tr>
              <a:tr h="14706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NIKE INITIATOR (MS/WS)</a:t>
                      </a:r>
                    </a:p>
                  </a:txBody>
                  <a:tcPr marL="7034" marR="7034" marT="703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8,42%</a:t>
                      </a:r>
                    </a:p>
                  </a:txBody>
                  <a:tcPr marL="7034" marR="7034" marT="7034" marB="0" anchor="b"/>
                </a:tc>
                <a:extLst>
                  <a:ext uri="{0D108BD9-81ED-4DB2-BD59-A6C34878D82A}">
                    <ns5:rowId val="10004"/>
                  </a:ext>
                </a:extLst>
              </a:tr>
              <a:tr h="1197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vi-V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JORDAN 1 LOW ALT (PS)</a:t>
                      </a:r>
                    </a:p>
                  </a:txBody>
                  <a:tcPr marL="7034" marR="7034" marT="703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vi-V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7,16%</a:t>
                      </a:r>
                    </a:p>
                  </a:txBody>
                  <a:tcPr marL="7034" marR="7034" marT="7034" marB="0" anchor="b"/>
                </a:tc>
                <a:extLst>
                  <a:ext uri="{0D108BD9-81ED-4DB2-BD59-A6C34878D82A}">
                    <ns5:rowId val="10005"/>
                  </a:ext>
                </a:extLst>
              </a:tr>
            </a:tbl>
          </a:graphicData>
        </a:graphic>
      </p:graphicFrame>
      <p:grpSp>
        <p:nvGrpSpPr>
          <p:cNvPr id="57" name="Group 56">
            <a:extLst>
              <a:ext uri="{FF2B5EF4-FFF2-40B4-BE49-F238E27FC236}">
                <ns5:creationId id="{C3ABDC76-78EE-802A-1717-77567FB7D266}"/>
              </a:ext>
            </a:extLst>
          </p:cNvPr>
          <p:cNvGrpSpPr/>
          <p:nvPr/>
        </p:nvGrpSpPr>
        <p:grpSpPr>
          <a:xfrm>
            <a:off x="6933476" y="3654335"/>
            <a:ext cx="365760" cy="183287"/>
            <a:chOff x="14812" y="4564"/>
            <a:chExt cx="1049" cy="528"/>
          </a:xfrm>
        </p:grpSpPr>
        <p:sp>
          <p:nvSpPr>
            <p:cNvPr id="58" name="Chevron 166">
              <a:extLst>
                <a:ext uri="{FF2B5EF4-FFF2-40B4-BE49-F238E27FC236}">
                  <ns5:creationId id="{54D2F605-92F1-6C7B-001F-360E4CC4104B}"/>
                </a:ext>
              </a:extLst>
            </p:cNvPr>
            <p:cNvSpPr/>
            <p:nvPr/>
          </p:nvSpPr>
          <p:spPr>
            <a:xfrm>
              <a:off x="15375" y="4564"/>
              <a:ext cx="486" cy="529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59" name="Chevron 172">
              <a:extLst>
                <a:ext uri="{FF2B5EF4-FFF2-40B4-BE49-F238E27FC236}">
                  <ns5:creationId id="{B5C715CB-E682-E171-8DD3-7CB33E9702C2}"/>
                </a:ext>
              </a:extLst>
            </p:cNvPr>
            <p:cNvSpPr/>
            <p:nvPr/>
          </p:nvSpPr>
          <p:spPr>
            <a:xfrm>
              <a:off x="14812" y="4564"/>
              <a:ext cx="486" cy="529"/>
            </a:xfrm>
            <a:prstGeom prst="chevron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60" name="Chevron 173">
              <a:extLst>
                <a:ext uri="{FF2B5EF4-FFF2-40B4-BE49-F238E27FC236}">
                  <ns5:creationId id="{725C1899-CA07-3902-7F38-E6A95588E171}"/>
                </a:ext>
              </a:extLst>
            </p:cNvPr>
            <p:cNvSpPr/>
            <p:nvPr/>
          </p:nvSpPr>
          <p:spPr>
            <a:xfrm>
              <a:off x="15089" y="4564"/>
              <a:ext cx="486" cy="529"/>
            </a:xfrm>
            <a:prstGeom prst="chevron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61" name="Group 60">
            <a:extLst>
              <a:ext uri="{FF2B5EF4-FFF2-40B4-BE49-F238E27FC236}">
                <ns5:creationId id="{41756E79-DB34-3545-5503-DC8ECF4D5AF1}"/>
              </a:ext>
            </a:extLst>
          </p:cNvPr>
          <p:cNvGrpSpPr/>
          <p:nvPr/>
        </p:nvGrpSpPr>
        <p:grpSpPr>
          <a:xfrm>
            <a:off x="6946900" y="4945651"/>
            <a:ext cx="365760" cy="183287"/>
            <a:chOff x="14812" y="4564"/>
            <a:chExt cx="1049" cy="528"/>
          </a:xfrm>
        </p:grpSpPr>
        <p:sp>
          <p:nvSpPr>
            <p:cNvPr id="62" name="Chevron 166">
              <a:extLst>
                <a:ext uri="{FF2B5EF4-FFF2-40B4-BE49-F238E27FC236}">
                  <ns5:creationId id="{618F9C95-835A-ED71-43F3-7A1D821C2D62}"/>
                </a:ext>
              </a:extLst>
            </p:cNvPr>
            <p:cNvSpPr/>
            <p:nvPr/>
          </p:nvSpPr>
          <p:spPr>
            <a:xfrm>
              <a:off x="15375" y="4564"/>
              <a:ext cx="486" cy="529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63" name="Chevron 172">
              <a:extLst>
                <a:ext uri="{FF2B5EF4-FFF2-40B4-BE49-F238E27FC236}">
                  <ns5:creationId id="{4081A4C4-E0D5-60DD-CF25-C6AB85673C6D}"/>
                </a:ext>
              </a:extLst>
            </p:cNvPr>
            <p:cNvSpPr/>
            <p:nvPr/>
          </p:nvSpPr>
          <p:spPr>
            <a:xfrm>
              <a:off x="14812" y="4564"/>
              <a:ext cx="486" cy="529"/>
            </a:xfrm>
            <a:prstGeom prst="chevron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65" name="Chevron 173">
              <a:extLst>
                <a:ext uri="{FF2B5EF4-FFF2-40B4-BE49-F238E27FC236}">
                  <ns5:creationId id="{B7E52168-AA9C-3E56-EEE2-6F99486B8BCF}"/>
                </a:ext>
              </a:extLst>
            </p:cNvPr>
            <p:cNvSpPr/>
            <p:nvPr/>
          </p:nvSpPr>
          <p:spPr>
            <a:xfrm>
              <a:off x="15089" y="4564"/>
              <a:ext cx="486" cy="529"/>
            </a:xfrm>
            <a:prstGeom prst="chevron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  <p:grpSp>
        <p:nvGrpSpPr>
          <p:cNvPr id="66" name="Group 65">
            <a:extLst>
              <a:ext uri="{FF2B5EF4-FFF2-40B4-BE49-F238E27FC236}">
                <ns5:creationId id="{AE551DA4-5C30-74E6-39DC-BE68C41E218B}"/>
              </a:ext>
            </a:extLst>
          </p:cNvPr>
          <p:cNvGrpSpPr/>
          <p:nvPr/>
        </p:nvGrpSpPr>
        <p:grpSpPr>
          <a:xfrm>
            <a:off x="6960324" y="6178327"/>
            <a:ext cx="365760" cy="183287"/>
            <a:chOff x="14812" y="4564"/>
            <a:chExt cx="1049" cy="528"/>
          </a:xfrm>
        </p:grpSpPr>
        <p:sp>
          <p:nvSpPr>
            <p:cNvPr id="67" name="Chevron 166">
              <a:extLst>
                <a:ext uri="{FF2B5EF4-FFF2-40B4-BE49-F238E27FC236}">
                  <ns5:creationId id="{A1723D9C-D17C-2355-C0EF-CBEC169BE29C}"/>
                </a:ext>
              </a:extLst>
            </p:cNvPr>
            <p:cNvSpPr/>
            <p:nvPr/>
          </p:nvSpPr>
          <p:spPr>
            <a:xfrm>
              <a:off x="15375" y="4564"/>
              <a:ext cx="486" cy="529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68" name="Chevron 172">
              <a:extLst>
                <a:ext uri="{FF2B5EF4-FFF2-40B4-BE49-F238E27FC236}">
                  <ns5:creationId id="{571ECA40-7FDE-8DB3-BB75-34943D2C3BCE}"/>
                </a:ext>
              </a:extLst>
            </p:cNvPr>
            <p:cNvSpPr/>
            <p:nvPr/>
          </p:nvSpPr>
          <p:spPr>
            <a:xfrm>
              <a:off x="14812" y="4564"/>
              <a:ext cx="486" cy="529"/>
            </a:xfrm>
            <a:prstGeom prst="chevron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  <p:sp>
          <p:nvSpPr>
            <p:cNvPr id="69" name="Chevron 173">
              <a:extLst>
                <a:ext uri="{FF2B5EF4-FFF2-40B4-BE49-F238E27FC236}">
                  <ns5:creationId id="{FE1F0E33-C6BA-7855-9C52-08D20C1DEE73}"/>
                </a:ext>
              </a:extLst>
            </p:cNvPr>
            <p:cNvSpPr/>
            <p:nvPr/>
          </p:nvSpPr>
          <p:spPr>
            <a:xfrm>
              <a:off x="15089" y="4564"/>
              <a:ext cx="486" cy="529"/>
            </a:xfrm>
            <a:prstGeom prst="chevron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/>
            </a:p>
          </p:txBody>
        </p:sp>
      </p:grpSp>
    </p:spTree>
  </p:cSld>
  <p:clrMapOvr>
    <a:masterClrMapping/>
  </p:clrMapOvr>
  <ns6:AlternateContent>
    <ns6:Choice Requires="p159">
      <p:transition spd="slow" ns3:dur="2000">
        <ns7:morph option="byObject"/>
      </p:transition>
    </ns6:Choice>
    <ns6:Fallback>
      <p:transition spd="slow">
        <p:fade/>
      </p:transition>
    </ns6:Fallback>
  </ns6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Chart 36"/>
          <p:cNvGraphicFramePr/>
          <p:nvPr>
            <p:extLst>
              <p:ext uri="{D42A27DB-BD31-4B8C-83A1-F6EECF244321}">
                <p14:modId xmlns:p14="http://schemas.microsoft.com/office/powerpoint/2010/main" val="1210013640"/>
              </p:ext>
            </p:extLst>
          </p:nvPr>
        </p:nvGraphicFramePr>
        <p:xfrm>
          <a:off x="1524000" y="875665"/>
          <a:ext cx="9110980" cy="14077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49" name="Text Box 48"/>
          <p:cNvSpPr txBox="1"/>
          <p:nvPr/>
        </p:nvSpPr>
        <p:spPr>
          <a:xfrm>
            <a:off x="2438400" y="609600"/>
            <a:ext cx="464566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en-US" b="1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COMPARISON OF THE TWO INSPECTIONS </a:t>
            </a:r>
          </a:p>
        </p:txBody>
      </p:sp>
      <p:sp>
        <p:nvSpPr>
          <p:cNvPr id="69" name="Text Box 68"/>
          <p:cNvSpPr txBox="1"/>
          <p:nvPr/>
        </p:nvSpPr>
        <p:spPr>
          <a:xfrm>
            <a:off x="328083" y="1852203"/>
            <a:ext cx="738717" cy="3526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Montserrat Bold" charset="0"/>
                <a:cs typeface="Montserrat Bold" charset="0"/>
              </a:rPr>
              <a:t>VH</a:t>
            </a:r>
            <a:endParaRPr lang="en-US" sz="2665" b="1" dirty="0">
              <a:solidFill>
                <a:schemeClr val="accent6">
                  <a:lumMod val="75000"/>
                </a:schemeClr>
              </a:solidFill>
              <a:latin typeface="Montserrat Bold" charset="0"/>
              <a:cs typeface="Montserrat Bold" charset="0"/>
            </a:endParaRPr>
          </a:p>
        </p:txBody>
      </p:sp>
      <p:cxnSp>
        <p:nvCxnSpPr>
          <p:cNvPr id="76" name="Straight Connector 75"/>
          <p:cNvCxnSpPr>
            <a:cxnSpLocks/>
          </p:cNvCxnSpPr>
          <p:nvPr/>
        </p:nvCxnSpPr>
        <p:spPr>
          <a:xfrm flipV="1">
            <a:off x="-152400" y="3750144"/>
            <a:ext cx="12496800" cy="59856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6" name="Chart 5"/>
          <p:cNvGraphicFramePr/>
          <p:nvPr>
            <p:extLst>
              <p:ext uri="{D42A27DB-BD31-4B8C-83A1-F6EECF244321}">
                <p14:modId xmlns:p14="http://schemas.microsoft.com/office/powerpoint/2010/main" val="2630813594"/>
              </p:ext>
            </p:extLst>
          </p:nvPr>
        </p:nvGraphicFramePr>
        <p:xfrm>
          <a:off x="1540510" y="2325052"/>
          <a:ext cx="9110980" cy="1425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8" name="Text Box 7"/>
          <p:cNvSpPr txBox="1"/>
          <p:nvPr/>
        </p:nvSpPr>
        <p:spPr>
          <a:xfrm>
            <a:off x="1066800" y="951865"/>
            <a:ext cx="5207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en-US" b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BY  </a:t>
            </a:r>
            <a:br>
              <a:rPr lang="en-US" altLang="en-US" b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en-US" altLang="en-US" b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QC</a:t>
            </a:r>
          </a:p>
        </p:txBody>
      </p:sp>
      <p:graphicFrame>
        <p:nvGraphicFramePr>
          <p:cNvPr id="11" name="Chart 10"/>
          <p:cNvGraphicFramePr/>
          <p:nvPr>
            <p:extLst>
              <p:ext uri="{D42A27DB-BD31-4B8C-83A1-F6EECF244321}">
                <p14:modId xmlns:p14="http://schemas.microsoft.com/office/powerpoint/2010/main" val="1672636929"/>
              </p:ext>
            </p:extLst>
          </p:nvPr>
        </p:nvGraphicFramePr>
        <p:xfrm>
          <a:off x="1524000" y="3911116"/>
          <a:ext cx="9110980" cy="13658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graphicFrame>
        <p:nvGraphicFramePr>
          <p:cNvPr id="13" name="Chart 12"/>
          <p:cNvGraphicFramePr/>
          <p:nvPr>
            <p:extLst>
              <p:ext uri="{D42A27DB-BD31-4B8C-83A1-F6EECF244321}">
                <p14:modId xmlns:p14="http://schemas.microsoft.com/office/powerpoint/2010/main" val="1562747804"/>
              </p:ext>
            </p:extLst>
          </p:nvPr>
        </p:nvGraphicFramePr>
        <p:xfrm>
          <a:off x="1524000" y="5371465"/>
          <a:ext cx="9110980" cy="14395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17" name="Text Box 16"/>
          <p:cNvSpPr txBox="1"/>
          <p:nvPr/>
        </p:nvSpPr>
        <p:spPr>
          <a:xfrm>
            <a:off x="1066800" y="2392680"/>
            <a:ext cx="5765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en-US" b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BY  </a:t>
            </a:r>
            <a:br>
              <a:rPr lang="en-US" altLang="en-US" b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en-US" altLang="en-US" b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MA</a:t>
            </a:r>
          </a:p>
        </p:txBody>
      </p:sp>
      <p:sp>
        <p:nvSpPr>
          <p:cNvPr id="18" name="Text Box 17"/>
          <p:cNvSpPr txBox="1"/>
          <p:nvPr/>
        </p:nvSpPr>
        <p:spPr>
          <a:xfrm>
            <a:off x="1066800" y="3966845"/>
            <a:ext cx="5207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en-US" b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BY  </a:t>
            </a:r>
            <a:br>
              <a:rPr lang="en-US" altLang="en-US" b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en-US" altLang="en-US" b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QC</a:t>
            </a:r>
          </a:p>
        </p:txBody>
      </p:sp>
      <p:sp>
        <p:nvSpPr>
          <p:cNvPr id="19" name="Text Box 18"/>
          <p:cNvSpPr txBox="1"/>
          <p:nvPr/>
        </p:nvSpPr>
        <p:spPr>
          <a:xfrm>
            <a:off x="1066800" y="5408295"/>
            <a:ext cx="5765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en-US" b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BY  </a:t>
            </a:r>
            <a:br>
              <a:rPr lang="en-US" altLang="en-US" b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en-US" altLang="en-US" b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MA</a:t>
            </a:r>
          </a:p>
        </p:txBody>
      </p:sp>
      <p:sp>
        <p:nvSpPr>
          <p:cNvPr id="40" name="Text Box 39"/>
          <p:cNvSpPr txBox="1"/>
          <p:nvPr/>
        </p:nvSpPr>
        <p:spPr>
          <a:xfrm>
            <a:off x="228600" y="4847141"/>
            <a:ext cx="1066800" cy="3943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Montserrat Bold" charset="0"/>
                <a:cs typeface="Montserrat Bold" charset="0"/>
              </a:rPr>
              <a:t>VH2</a:t>
            </a:r>
            <a:endParaRPr lang="en-US" sz="2665" b="1" dirty="0">
              <a:solidFill>
                <a:schemeClr val="accent6">
                  <a:lumMod val="75000"/>
                </a:schemeClr>
              </a:solidFill>
              <a:latin typeface="Montserrat Bold" charset="0"/>
              <a:cs typeface="Montserrat Bold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5FE6C14-042A-A0F5-B600-8D07E7D7121E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8072154" y="4381334"/>
            <a:ext cx="3855720" cy="1707515"/>
            <a:chOff x="12487" y="6839"/>
            <a:chExt cx="6072" cy="2689"/>
          </a:xfrm>
        </p:grpSpPr>
        <p:sp>
          <p:nvSpPr>
            <p:cNvPr id="9" name="Text Box 45">
              <a:extLst>
                <a:ext uri="{FF2B5EF4-FFF2-40B4-BE49-F238E27FC236}">
                  <a16:creationId xmlns:a16="http://schemas.microsoft.com/office/drawing/2014/main" id="{A8F60325-3E3A-C1CB-61CC-26DB0CA3A73E}"/>
                </a:ext>
              </a:extLst>
            </p:cNvPr>
            <p:cNvSpPr txBox="1"/>
            <p:nvPr>
              <p:custDataLst>
                <p:tags r:id="rId3"/>
              </p:custDataLst>
            </p:nvPr>
          </p:nvSpPr>
          <p:spPr>
            <a:xfrm>
              <a:off x="13212" y="6839"/>
              <a:ext cx="4890" cy="129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171450" indent="-171450" algn="l">
                <a:lnSpc>
                  <a:spcPct val="80000"/>
                </a:lnSpc>
                <a:spcBef>
                  <a:spcPts val="700"/>
                </a:spcBef>
                <a:spcAft>
                  <a:spcPts val="0"/>
                </a:spcAft>
                <a:buFont typeface="Wingdings" panose="05000000000000000000" charset="0"/>
                <a:buChar char="v"/>
              </a:pPr>
              <a:r>
                <a:rPr lang="en-US" altLang="en-US" sz="1000" b="1" dirty="0">
                  <a:solidFill>
                    <a:schemeClr val="tx1"/>
                  </a:solidFill>
                </a:rPr>
                <a:t>At </a:t>
              </a:r>
              <a:r>
                <a:rPr lang="en-US" altLang="en-US" sz="1000" b="1" dirty="0">
                  <a:solidFill>
                    <a:srgbClr val="FF0000"/>
                  </a:solidFill>
                </a:rPr>
                <a:t>RED FRAME</a:t>
              </a:r>
              <a:r>
                <a:rPr lang="en-US" altLang="en-US" sz="1000" b="1" dirty="0">
                  <a:solidFill>
                    <a:schemeClr val="accent6">
                      <a:lumMod val="75000"/>
                    </a:schemeClr>
                  </a:solidFill>
                </a:rPr>
                <a:t>,</a:t>
              </a:r>
              <a:r>
                <a:rPr lang="en-US" altLang="en-US" sz="1000" dirty="0">
                  <a:solidFill>
                    <a:schemeClr val="accent6">
                      <a:lumMod val="75000"/>
                    </a:schemeClr>
                  </a:solidFill>
                </a:rPr>
                <a:t> </a:t>
              </a:r>
              <a:r>
                <a:rPr lang="en-US" altLang="en-US" sz="1000" dirty="0">
                  <a:solidFill>
                    <a:schemeClr val="tx1"/>
                  </a:solidFill>
                  <a:sym typeface="+mn-ea"/>
                </a:rPr>
                <a:t>We observed that afte</a:t>
              </a:r>
              <a:r>
                <a:rPr lang="en-US" altLang="en-US" sz="1000" dirty="0">
                  <a:solidFill>
                    <a:schemeClr val="tx1"/>
                  </a:solidFill>
                </a:rPr>
                <a:t>r the Reinspection process,</a:t>
              </a:r>
              <a:r>
                <a:rPr lang="en-US" altLang="en-US" sz="1000" b="1" dirty="0">
                  <a:solidFill>
                    <a:schemeClr val="tx1"/>
                  </a:solidFill>
                </a:rPr>
                <a:t> MA-Reinspection </a:t>
              </a:r>
              <a:r>
                <a:rPr lang="en-US" altLang="en-US" sz="1000" dirty="0">
                  <a:solidFill>
                    <a:schemeClr val="tx1"/>
                  </a:solidFill>
                </a:rPr>
                <a:t>still detected </a:t>
              </a:r>
              <a:r>
                <a:rPr lang="en-US" altLang="en-US" sz="1000" b="1" dirty="0">
                  <a:solidFill>
                    <a:srgbClr val="10253F"/>
                  </a:solidFill>
                </a:rPr>
                <a:t>Cleanness</a:t>
              </a:r>
              <a:r>
                <a:rPr lang="en-US" altLang="en-US" sz="1000" b="1" dirty="0">
                  <a:solidFill>
                    <a:schemeClr val="tx2"/>
                  </a:solidFill>
                </a:rPr>
                <a:t> </a:t>
              </a:r>
              <a:r>
                <a:rPr lang="en-US" altLang="en-US" sz="1000" dirty="0">
                  <a:solidFill>
                    <a:schemeClr val="tx1"/>
                  </a:solidFill>
                </a:rPr>
                <a:t>issues</a:t>
              </a:r>
              <a:r>
                <a:rPr lang="en-US" altLang="en-US" sz="1000" b="1" dirty="0">
                  <a:solidFill>
                    <a:schemeClr val="tx1"/>
                  </a:solidFill>
                </a:rPr>
                <a:t> with no significant improvement</a:t>
              </a:r>
              <a:r>
                <a:rPr lang="en-US" altLang="en-US" sz="1000" dirty="0">
                  <a:solidFill>
                    <a:schemeClr val="tx1"/>
                  </a:solidFill>
                </a:rPr>
                <a:t> in the number of defects</a:t>
              </a:r>
              <a:r>
                <a:rPr lang="en-US" altLang="en-US" sz="1000" b="1" dirty="0">
                  <a:solidFill>
                    <a:schemeClr val="tx1"/>
                  </a:solidFill>
                </a:rPr>
                <a:t> compared to HFPA and QC-Reinspection</a:t>
              </a:r>
              <a:endParaRPr lang="en-US" altLang="en-US" sz="1000" b="1" dirty="0"/>
            </a:p>
          </p:txBody>
        </p:sp>
        <p:sp>
          <p:nvSpPr>
            <p:cNvPr id="10" name="Freeform 3">
              <a:extLst>
                <a:ext uri="{FF2B5EF4-FFF2-40B4-BE49-F238E27FC236}">
                  <a16:creationId xmlns:a16="http://schemas.microsoft.com/office/drawing/2014/main" id="{3C003B4B-58FC-70EA-0258-C7CEA24AEE56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12720" y="6891"/>
              <a:ext cx="461" cy="403"/>
            </a:xfrm>
            <a:custGeom>
              <a:avLst/>
              <a:gdLst/>
              <a:ahLst/>
              <a:cxnLst/>
              <a:rect l="l" t="t" r="r" b="b"/>
              <a:pathLst>
                <a:path w="1043341" h="1016784">
                  <a:moveTo>
                    <a:pt x="0" y="0"/>
                  </a:moveTo>
                  <a:lnTo>
                    <a:pt x="1043341" y="0"/>
                  </a:lnTo>
                  <a:lnTo>
                    <a:pt x="1043341" y="1016783"/>
                  </a:lnTo>
                  <a:lnTo>
                    <a:pt x="0" y="1016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 sz="1200"/>
            </a:p>
            <a:p>
              <a:endParaRPr lang="en-US" sz="1200"/>
            </a:p>
          </p:txBody>
        </p:sp>
        <p:sp>
          <p:nvSpPr>
            <p:cNvPr id="12" name="Text Box 53">
              <a:extLst>
                <a:ext uri="{FF2B5EF4-FFF2-40B4-BE49-F238E27FC236}">
                  <a16:creationId xmlns:a16="http://schemas.microsoft.com/office/drawing/2014/main" id="{4CE9BA92-AD33-B02A-7A41-15D9B44F0EB2}"/>
                </a:ext>
              </a:extLst>
            </p:cNvPr>
            <p:cNvSpPr txBox="1"/>
            <p:nvPr/>
          </p:nvSpPr>
          <p:spPr>
            <a:xfrm>
              <a:off x="12487" y="8605"/>
              <a:ext cx="6072" cy="92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171450" indent="-171450" algn="l">
                <a:lnSpc>
                  <a:spcPct val="80000"/>
                </a:lnSpc>
                <a:spcBef>
                  <a:spcPts val="700"/>
                </a:spcBef>
                <a:spcAft>
                  <a:spcPts val="0"/>
                </a:spcAft>
                <a:buFont typeface="Wingdings" panose="05000000000000000000" charset="0"/>
                <a:buChar char="Ø"/>
              </a:pPr>
              <a:r>
                <a:rPr lang="en-US" altLang="en-US" sz="1000" i="1" dirty="0">
                  <a:solidFill>
                    <a:schemeClr val="tx1"/>
                  </a:solidFill>
                </a:rPr>
                <a:t>It is </a:t>
              </a:r>
              <a:r>
                <a:rPr lang="en-US" altLang="en-US" sz="1000" i="1" dirty="0" err="1">
                  <a:solidFill>
                    <a:schemeClr val="tx1"/>
                  </a:solidFill>
                </a:rPr>
                <a:t>nescessary</a:t>
              </a:r>
              <a:r>
                <a:rPr lang="en-US" altLang="en-US" sz="1000" b="1" i="1" dirty="0">
                  <a:solidFill>
                    <a:schemeClr val="tx1"/>
                  </a:solidFill>
                </a:rPr>
                <a:t> for Reviewing the inspection standards</a:t>
              </a:r>
              <a:r>
                <a:rPr lang="en-US" altLang="en-US" sz="1000" b="1" dirty="0">
                  <a:solidFill>
                    <a:schemeClr val="tx1"/>
                  </a:solidFill>
                </a:rPr>
                <a:t> </a:t>
              </a:r>
              <a:r>
                <a:rPr lang="en-US" altLang="en-US" sz="1000" dirty="0">
                  <a:solidFill>
                    <a:schemeClr val="tx1"/>
                  </a:solidFill>
                </a:rPr>
                <a:t>among QCs - MAs, </a:t>
              </a:r>
              <a:r>
                <a:rPr lang="en-US" altLang="en-US" sz="1000" dirty="0">
                  <a:sym typeface="+mn-ea"/>
                </a:rPr>
                <a:t> as well as within each team themselves</a:t>
              </a:r>
              <a:endParaRPr lang="en-US" altLang="en-US" sz="1000" dirty="0">
                <a:solidFill>
                  <a:schemeClr val="tx1"/>
                </a:solidFill>
              </a:endParaRPr>
            </a:p>
            <a:p>
              <a:pPr algn="l"/>
              <a:endParaRPr lang="en-US" altLang="en-US" sz="1000" dirty="0"/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627ECBC-5BFB-76CC-54E3-CDB64F612F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176179"/>
              </p:ext>
            </p:extLst>
          </p:nvPr>
        </p:nvGraphicFramePr>
        <p:xfrm>
          <a:off x="8141544" y="967626"/>
          <a:ext cx="2143304" cy="17291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8304">
                  <a:extLst>
                    <a:ext uri="{9D8B030D-6E8A-4147-A177-3AD203B41FA5}">
                      <a16:colId xmlns:a16="http://schemas.microsoft.com/office/drawing/2014/main" val="2650122853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3766246057"/>
                    </a:ext>
                  </a:extLst>
                </a:gridCol>
              </a:tblGrid>
              <a:tr h="2068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CDCD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Others</a:t>
                      </a: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9315829"/>
                  </a:ext>
                </a:extLst>
              </a:tr>
              <a:tr h="2068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700" b="0" i="0" u="none" strike="noStrike" dirty="0">
                        <a:solidFill>
                          <a:srgbClr val="2C4D75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9FE8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Wrinkle upper</a:t>
                      </a: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296649"/>
                  </a:ext>
                </a:extLst>
              </a:tr>
              <a:tr h="2068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859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Eyestay off center</a:t>
                      </a: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116464"/>
                  </a:ext>
                </a:extLst>
              </a:tr>
              <a:tr h="2068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253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Cleanness</a:t>
                      </a: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9216216"/>
                  </a:ext>
                </a:extLst>
              </a:tr>
              <a:tr h="2068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  <a:cs typeface="Times New Roman" panose="02020603050405020304" pitchFamily="18" charset="0"/>
                        </a:rPr>
                        <a:t>Midsole/Outsole to upper bond gap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cs typeface="Times New Roman" panose="02020603050405020304" pitchFamily="18" charset="0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7288244"/>
                  </a:ext>
                </a:extLst>
              </a:tr>
              <a:tr h="2068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622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Over cement</a:t>
                      </a: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4547624"/>
                  </a:ext>
                </a:extLst>
              </a:tr>
              <a:tr h="2068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7FB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Thread end</a:t>
                      </a: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856845"/>
                  </a:ext>
                </a:extLst>
              </a:tr>
              <a:tr h="20683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7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00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Miss match labeling on shoe or Outer carton and Inner box</a:t>
                      </a: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717717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57AFE0B-D817-8467-C97E-DDCDA03A67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4479421"/>
              </p:ext>
            </p:extLst>
          </p:nvPr>
        </p:nvGraphicFramePr>
        <p:xfrm>
          <a:off x="10360606" y="974347"/>
          <a:ext cx="1795779" cy="14413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8304">
                  <a:extLst>
                    <a:ext uri="{9D8B030D-6E8A-4147-A177-3AD203B41FA5}">
                      <a16:colId xmlns:a16="http://schemas.microsoft.com/office/drawing/2014/main" val="2650122853"/>
                    </a:ext>
                  </a:extLst>
                </a:gridCol>
                <a:gridCol w="1557475">
                  <a:extLst>
                    <a:ext uri="{9D8B030D-6E8A-4147-A177-3AD203B41FA5}">
                      <a16:colId xmlns:a16="http://schemas.microsoft.com/office/drawing/2014/main" val="3766246057"/>
                    </a:ext>
                  </a:extLst>
                </a:gridCol>
              </a:tblGrid>
              <a:tr h="2088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5720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C09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Wrinkle bottom</a:t>
                      </a: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6783301"/>
                  </a:ext>
                </a:extLst>
              </a:tr>
              <a:tr h="18842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5720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E4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Airbag quality/stain</a:t>
                      </a: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9315829"/>
                  </a:ext>
                </a:extLst>
              </a:tr>
              <a:tr h="2088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5720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7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Rocking</a:t>
                      </a: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116464"/>
                  </a:ext>
                </a:extLst>
              </a:tr>
              <a:tr h="2088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5720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Sole attachment</a:t>
                      </a: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9216216"/>
                  </a:ext>
                </a:extLst>
              </a:tr>
              <a:tr h="2088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5720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9B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Collar shape</a:t>
                      </a: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7487633"/>
                  </a:ext>
                </a:extLst>
              </a:tr>
              <a:tr h="2088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5720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A4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Heel/Tip height inconsistent</a:t>
                      </a: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4763036"/>
                  </a:ext>
                </a:extLst>
              </a:tr>
              <a:tr h="2088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969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Bottom Cosmetic</a:t>
                      </a: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1665870"/>
                  </a:ext>
                </a:extLst>
              </a:tr>
            </a:tbl>
          </a:graphicData>
        </a:graphic>
      </p:graphicFrame>
      <p:sp>
        <p:nvSpPr>
          <p:cNvPr id="16" name="Text Box 13">
            <a:extLst>
              <a:ext uri="{FF2B5EF4-FFF2-40B4-BE49-F238E27FC236}">
                <a16:creationId xmlns:a16="http://schemas.microsoft.com/office/drawing/2014/main" id="{998D3D64-3614-491A-7B5D-D2CC35904514}"/>
              </a:ext>
            </a:extLst>
          </p:cNvPr>
          <p:cNvSpPr txBox="1"/>
          <p:nvPr/>
        </p:nvSpPr>
        <p:spPr>
          <a:xfrm>
            <a:off x="-211" y="59159"/>
            <a:ext cx="4636135" cy="5232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>
              <a:spcBef>
                <a:spcPct val="0"/>
              </a:spcBef>
            </a:pPr>
            <a:r>
              <a:rPr kumimoji="0" lang="en-ID" sz="2800" b="1" i="0" u="none" strike="noStrike" kern="1200" cap="none" spc="50" normalizeH="0" baseline="0" noProof="0" dirty="0">
                <a:ln>
                  <a:noFill/>
                </a:ln>
                <a:solidFill>
                  <a:srgbClr val="3C4DA0"/>
                </a:solidFill>
                <a:effectLst/>
                <a:uLnTx/>
                <a:uFillTx/>
                <a:latin typeface="Neo Sans Std" panose="020B05040305040B0204"/>
                <a:ea typeface="Open Sans Light" panose="020B0306030504020204" pitchFamily="34" charset="0"/>
                <a:cs typeface="Open Sans Light" panose="020B0306030504020204" pitchFamily="34" charset="0"/>
              </a:rPr>
              <a:t>Re-Inspection </a:t>
            </a:r>
            <a:r>
              <a:rPr kumimoji="0" lang="en-ID" sz="2800" b="1" i="0" u="none" strike="noStrike" kern="1200" cap="none" spc="50" normalizeH="0" baseline="0" noProof="0" dirty="0" err="1">
                <a:ln>
                  <a:noFill/>
                </a:ln>
                <a:solidFill>
                  <a:srgbClr val="3C4DA0"/>
                </a:solidFill>
                <a:effectLst/>
                <a:uLnTx/>
                <a:uFillTx/>
                <a:latin typeface="Neo Sans Std" panose="020B05040305040B0204"/>
                <a:ea typeface="Open Sans Light" panose="020B0306030504020204" pitchFamily="34" charset="0"/>
                <a:cs typeface="Open Sans Light" panose="020B0306030504020204" pitchFamily="34" charset="0"/>
              </a:rPr>
              <a:t>Report_</a:t>
            </a:r>
            <a:r>
              <a:rPr kumimoji="0" lang="en-ID" sz="1600" b="1" i="0" u="none" strike="noStrike" kern="1200" cap="none" spc="50" normalizeH="0" baseline="0" noProof="0" dirty="0" err="1">
                <a:ln>
                  <a:noFill/>
                </a:ln>
                <a:solidFill>
                  <a:srgbClr val="3C4DA0"/>
                </a:solidFill>
                <a:effectLst/>
                <a:uLnTx/>
                <a:uFillTx/>
                <a:latin typeface="Neo Sans Std" panose="020B05040305040B0204"/>
                <a:ea typeface="Open Sans Light" panose="020B0306030504020204" pitchFamily="34" charset="0"/>
                <a:cs typeface="Open Sans Light" panose="020B0306030504020204" pitchFamily="34" charset="0"/>
              </a:rPr>
              <a:t>July</a:t>
            </a:r>
            <a:r>
              <a:rPr kumimoji="0" lang="en-ID" sz="1600" b="1" i="0" u="none" strike="noStrike" kern="1200" cap="none" spc="0" normalizeH="0" baseline="0" noProof="0" dirty="0">
                <a:ln>
                  <a:noFill/>
                </a:ln>
                <a:solidFill>
                  <a:srgbClr val="3C4DA0"/>
                </a:solidFill>
                <a:effectLst/>
                <a:uLnTx/>
                <a:uFillTx/>
                <a:latin typeface="Neo Sans Std" panose="020B05040305040B0204"/>
                <a:ea typeface="Open Sans Light" panose="020B0306030504020204" pitchFamily="34" charset="0"/>
                <a:cs typeface="Open Sans Light" panose="020B0306030504020204" pitchFamily="34" charset="0"/>
              </a:rPr>
              <a:t> 2026</a:t>
            </a:r>
            <a:endParaRPr lang="en-US" sz="2000" baseline="-25000" dirty="0">
              <a:solidFill>
                <a:srgbClr val="3C4DA0"/>
              </a:solidFill>
              <a:latin typeface="Open Sans Bold"/>
              <a:sym typeface="+mn-ea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CEB92F8-23DE-5225-FDE3-C1B093D50168}"/>
              </a:ext>
            </a:extLst>
          </p:cNvPr>
          <p:cNvCxnSpPr>
            <a:cxnSpLocks/>
          </p:cNvCxnSpPr>
          <p:nvPr/>
        </p:nvCxnSpPr>
        <p:spPr>
          <a:xfrm flipV="1">
            <a:off x="4652359" y="5981382"/>
            <a:ext cx="346940" cy="109855"/>
          </a:xfrm>
          <a:prstGeom prst="straightConnector1">
            <a:avLst/>
          </a:prstGeom>
          <a:noFill/>
          <a:ln w="19050">
            <a:gradFill>
              <a:gsLst>
                <a:gs pos="0">
                  <a:srgbClr val="7030A0"/>
                </a:gs>
                <a:gs pos="100000">
                  <a:srgbClr val="FF0000"/>
                </a:gs>
              </a:gsLst>
            </a:gradFill>
            <a:headEnd type="oval" w="med" len="med"/>
            <a:tailEnd type="oval" w="sm" len="sm"/>
          </a:ln>
          <a:effectLst/>
        </p:spPr>
      </p:cxnSp>
      <p:sp>
        <p:nvSpPr>
          <p:cNvPr id="23" name="Rectangles 61">
            <a:extLst>
              <a:ext uri="{FF2B5EF4-FFF2-40B4-BE49-F238E27FC236}">
                <a16:creationId xmlns:a16="http://schemas.microsoft.com/office/drawing/2014/main" id="{50549768-1B07-5745-BD52-7473E0D9037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rot="16200000">
            <a:off x="3596332" y="4581985"/>
            <a:ext cx="2489684" cy="114794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highlight>
                <a:srgbClr val="FFFF00"/>
              </a:highlight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" name="Straight Connector 75"/>
          <p:cNvCxnSpPr/>
          <p:nvPr/>
        </p:nvCxnSpPr>
        <p:spPr>
          <a:xfrm>
            <a:off x="-152400" y="3872230"/>
            <a:ext cx="13402310" cy="24765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aphicFrame>
        <p:nvGraphicFramePr>
          <p:cNvPr id="51" name="Content Placeholder 50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4100756"/>
              </p:ext>
            </p:extLst>
          </p:nvPr>
        </p:nvGraphicFramePr>
        <p:xfrm>
          <a:off x="1524000" y="828040"/>
          <a:ext cx="8959850" cy="15259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6"/>
          <p:cNvGraphicFramePr/>
          <p:nvPr>
            <p:extLst>
              <p:ext uri="{D42A27DB-BD31-4B8C-83A1-F6EECF244321}">
                <p14:modId xmlns:p14="http://schemas.microsoft.com/office/powerpoint/2010/main" val="588929562"/>
              </p:ext>
            </p:extLst>
          </p:nvPr>
        </p:nvGraphicFramePr>
        <p:xfrm>
          <a:off x="1524635" y="2286000"/>
          <a:ext cx="8916035" cy="14465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52" name="Chart 51"/>
          <p:cNvGraphicFramePr/>
          <p:nvPr>
            <p:extLst>
              <p:ext uri="{D42A27DB-BD31-4B8C-83A1-F6EECF244321}">
                <p14:modId xmlns:p14="http://schemas.microsoft.com/office/powerpoint/2010/main" val="3075327088"/>
              </p:ext>
            </p:extLst>
          </p:nvPr>
        </p:nvGraphicFramePr>
        <p:xfrm>
          <a:off x="1524000" y="3990340"/>
          <a:ext cx="9062085" cy="13957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5" name="Chart 14"/>
          <p:cNvGraphicFramePr/>
          <p:nvPr>
            <p:extLst>
              <p:ext uri="{D42A27DB-BD31-4B8C-83A1-F6EECF244321}">
                <p14:modId xmlns:p14="http://schemas.microsoft.com/office/powerpoint/2010/main" val="416844630"/>
              </p:ext>
            </p:extLst>
          </p:nvPr>
        </p:nvGraphicFramePr>
        <p:xfrm>
          <a:off x="1524000" y="5408295"/>
          <a:ext cx="8832850" cy="13798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7" name="Text Box 16"/>
          <p:cNvSpPr txBox="1"/>
          <p:nvPr/>
        </p:nvSpPr>
        <p:spPr>
          <a:xfrm>
            <a:off x="304800" y="1828800"/>
            <a:ext cx="738717" cy="35263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2665" b="1">
                <a:solidFill>
                  <a:schemeClr val="accent6">
                    <a:lumMod val="75000"/>
                  </a:schemeClr>
                </a:solidFill>
                <a:latin typeface="Montserrat Bold" charset="0"/>
                <a:cs typeface="Montserrat Bold" charset="0"/>
              </a:rPr>
              <a:t>JV</a:t>
            </a:r>
          </a:p>
        </p:txBody>
      </p:sp>
      <p:sp>
        <p:nvSpPr>
          <p:cNvPr id="18" name="Text Box 17"/>
          <p:cNvSpPr txBox="1"/>
          <p:nvPr/>
        </p:nvSpPr>
        <p:spPr>
          <a:xfrm>
            <a:off x="1066800" y="951865"/>
            <a:ext cx="5207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en-US" b="1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BY  </a:t>
            </a:r>
            <a:br>
              <a:rPr lang="en-US" altLang="en-US" b="1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en-US" altLang="en-US" b="1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QC</a:t>
            </a:r>
          </a:p>
        </p:txBody>
      </p:sp>
      <p:sp>
        <p:nvSpPr>
          <p:cNvPr id="19" name="Text Box 18"/>
          <p:cNvSpPr txBox="1"/>
          <p:nvPr/>
        </p:nvSpPr>
        <p:spPr>
          <a:xfrm>
            <a:off x="1066800" y="2392680"/>
            <a:ext cx="5765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en-US" b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BY  </a:t>
            </a:r>
            <a:br>
              <a:rPr lang="en-US" altLang="en-US" b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en-US" altLang="en-US" b="1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MA</a:t>
            </a:r>
          </a:p>
        </p:txBody>
      </p:sp>
      <p:sp>
        <p:nvSpPr>
          <p:cNvPr id="20" name="Text Box 19"/>
          <p:cNvSpPr txBox="1"/>
          <p:nvPr/>
        </p:nvSpPr>
        <p:spPr>
          <a:xfrm>
            <a:off x="1075886" y="4127499"/>
            <a:ext cx="5207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en-US" b="1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BY  </a:t>
            </a:r>
            <a:br>
              <a:rPr lang="en-US" altLang="en-US" b="1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en-US" altLang="en-US" b="1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QC</a:t>
            </a:r>
          </a:p>
        </p:txBody>
      </p:sp>
      <p:sp>
        <p:nvSpPr>
          <p:cNvPr id="21" name="Text Box 20"/>
          <p:cNvSpPr txBox="1"/>
          <p:nvPr/>
        </p:nvSpPr>
        <p:spPr>
          <a:xfrm>
            <a:off x="1066800" y="5479415"/>
            <a:ext cx="57658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en-US" b="1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BY  </a:t>
            </a:r>
            <a:br>
              <a:rPr lang="en-US" altLang="en-US" b="1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en-US" altLang="en-US" b="1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MA</a:t>
            </a:r>
          </a:p>
        </p:txBody>
      </p:sp>
      <p:sp>
        <p:nvSpPr>
          <p:cNvPr id="40" name="Text Box 39"/>
          <p:cNvSpPr txBox="1"/>
          <p:nvPr/>
        </p:nvSpPr>
        <p:spPr>
          <a:xfrm>
            <a:off x="302172" y="4937124"/>
            <a:ext cx="838199" cy="3282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Montserrat Bold" charset="0"/>
                <a:cs typeface="Montserrat Bold" charset="0"/>
              </a:rPr>
              <a:t>JV2</a:t>
            </a:r>
            <a:endParaRPr lang="en-US" sz="2665" b="1" dirty="0">
              <a:solidFill>
                <a:schemeClr val="accent6">
                  <a:lumMod val="75000"/>
                </a:schemeClr>
              </a:solidFill>
              <a:latin typeface="Montserrat Bold" charset="0"/>
              <a:cs typeface="Montserrat Bold" charset="0"/>
            </a:endParaRPr>
          </a:p>
        </p:txBody>
      </p:sp>
      <p:sp>
        <p:nvSpPr>
          <p:cNvPr id="22" name="Text Box 21"/>
          <p:cNvSpPr txBox="1"/>
          <p:nvPr/>
        </p:nvSpPr>
        <p:spPr>
          <a:xfrm>
            <a:off x="2438400" y="546100"/>
            <a:ext cx="464566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square" rtlCol="0" anchor="t">
            <a:spAutoFit/>
            <a:scene3d>
              <a:camera prst="orthographicFront"/>
              <a:lightRig rig="threePt" dir="t"/>
            </a:scene3d>
          </a:bodyPr>
          <a:lstStyle/>
          <a:p>
            <a:pPr algn="ctr"/>
            <a:r>
              <a:rPr lang="en-US" altLang="en-US" b="1" dirty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COMPARISON OF THE TWO INSPECTIONS </a:t>
            </a:r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3B128086-FE1F-6581-0A69-975116BADE7B}"/>
              </a:ext>
            </a:extLst>
          </p:cNvPr>
          <p:cNvSpPr txBox="1"/>
          <p:nvPr/>
        </p:nvSpPr>
        <p:spPr>
          <a:xfrm>
            <a:off x="-211" y="59159"/>
            <a:ext cx="4636135" cy="5232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>
              <a:spcBef>
                <a:spcPct val="0"/>
              </a:spcBef>
            </a:pPr>
            <a:r>
              <a:rPr kumimoji="0" lang="en-ID" sz="2800" b="1" i="0" u="none" strike="noStrike" kern="1200" cap="none" spc="50" normalizeH="0" baseline="0" noProof="0" dirty="0">
                <a:ln>
                  <a:noFill/>
                </a:ln>
                <a:solidFill>
                  <a:srgbClr val="3C4DA0"/>
                </a:solidFill>
                <a:effectLst/>
                <a:uLnTx/>
                <a:uFillTx/>
                <a:latin typeface="Neo Sans Std" panose="020B05040305040B0204"/>
                <a:ea typeface="Open Sans Light" panose="020B0306030504020204" pitchFamily="34" charset="0"/>
                <a:cs typeface="Open Sans Light" panose="020B0306030504020204" pitchFamily="34" charset="0"/>
              </a:rPr>
              <a:t>Re-Inspection </a:t>
            </a:r>
            <a:r>
              <a:rPr kumimoji="0" lang="en-ID" sz="2800" b="1" i="0" u="none" strike="noStrike" kern="1200" cap="none" spc="50" normalizeH="0" baseline="0" noProof="0" dirty="0" err="1">
                <a:ln>
                  <a:noFill/>
                </a:ln>
                <a:solidFill>
                  <a:srgbClr val="3C4DA0"/>
                </a:solidFill>
                <a:effectLst/>
                <a:uLnTx/>
                <a:uFillTx/>
                <a:latin typeface="Neo Sans Std" panose="020B05040305040B0204"/>
                <a:ea typeface="Open Sans Light" panose="020B0306030504020204" pitchFamily="34" charset="0"/>
                <a:cs typeface="Open Sans Light" panose="020B0306030504020204" pitchFamily="34" charset="0"/>
              </a:rPr>
              <a:t>Report_</a:t>
            </a:r>
            <a:r>
              <a:rPr kumimoji="0" lang="en-ID" sz="1600" b="1" i="0" u="none" strike="noStrike" kern="1200" cap="none" spc="50" normalizeH="0" baseline="0" noProof="0" dirty="0" err="1">
                <a:ln>
                  <a:noFill/>
                </a:ln>
                <a:solidFill>
                  <a:srgbClr val="3C4DA0"/>
                </a:solidFill>
                <a:effectLst/>
                <a:uLnTx/>
                <a:uFillTx/>
                <a:latin typeface="Neo Sans Std" panose="020B05040305040B0204"/>
                <a:ea typeface="Open Sans Light" panose="020B0306030504020204" pitchFamily="34" charset="0"/>
                <a:cs typeface="Open Sans Light" panose="020B0306030504020204" pitchFamily="34" charset="0"/>
              </a:rPr>
              <a:t>July</a:t>
            </a:r>
            <a:r>
              <a:rPr kumimoji="0" lang="en-ID" sz="1600" b="1" i="0" u="none" strike="noStrike" kern="1200" cap="none" spc="0" normalizeH="0" baseline="0" noProof="0" dirty="0">
                <a:ln>
                  <a:noFill/>
                </a:ln>
                <a:solidFill>
                  <a:srgbClr val="3C4DA0"/>
                </a:solidFill>
                <a:effectLst/>
                <a:uLnTx/>
                <a:uFillTx/>
                <a:latin typeface="Neo Sans Std" panose="020B05040305040B0204"/>
                <a:ea typeface="Open Sans Light" panose="020B0306030504020204" pitchFamily="34" charset="0"/>
                <a:cs typeface="Open Sans Light" panose="020B0306030504020204" pitchFamily="34" charset="0"/>
              </a:rPr>
              <a:t> 2026</a:t>
            </a:r>
            <a:endParaRPr lang="en-US" sz="2000" baseline="-25000" dirty="0">
              <a:solidFill>
                <a:srgbClr val="3C4DA0"/>
              </a:solidFill>
              <a:latin typeface="Open Sans Bold"/>
              <a:sym typeface="+mn-ea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7612C2-82CB-2367-0E3C-6486B82364D5}"/>
              </a:ext>
            </a:extLst>
          </p:cNvPr>
          <p:cNvGrpSpPr/>
          <p:nvPr/>
        </p:nvGrpSpPr>
        <p:grpSpPr>
          <a:xfrm>
            <a:off x="8160066" y="4407216"/>
            <a:ext cx="3352800" cy="1059815"/>
            <a:chOff x="13219" y="7163"/>
            <a:chExt cx="5280" cy="1669"/>
          </a:xfrm>
        </p:grpSpPr>
        <p:sp>
          <p:nvSpPr>
            <p:cNvPr id="13" name="Freeform 3">
              <a:extLst>
                <a:ext uri="{FF2B5EF4-FFF2-40B4-BE49-F238E27FC236}">
                  <a16:creationId xmlns:a16="http://schemas.microsoft.com/office/drawing/2014/main" id="{03A30739-FF6A-D7C2-EC33-5D9D9220BB81}"/>
                </a:ext>
              </a:extLst>
            </p:cNvPr>
            <p:cNvSpPr/>
            <p:nvPr/>
          </p:nvSpPr>
          <p:spPr>
            <a:xfrm>
              <a:off x="13219" y="7163"/>
              <a:ext cx="461" cy="403"/>
            </a:xfrm>
            <a:custGeom>
              <a:avLst/>
              <a:gdLst/>
              <a:ahLst/>
              <a:cxnLst/>
              <a:rect l="l" t="t" r="r" b="b"/>
              <a:pathLst>
                <a:path w="1043341" h="1016784">
                  <a:moveTo>
                    <a:pt x="0" y="0"/>
                  </a:moveTo>
                  <a:lnTo>
                    <a:pt x="1043341" y="0"/>
                  </a:lnTo>
                  <a:lnTo>
                    <a:pt x="1043341" y="1016783"/>
                  </a:lnTo>
                  <a:lnTo>
                    <a:pt x="0" y="1016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Text Box 23">
              <a:extLst>
                <a:ext uri="{FF2B5EF4-FFF2-40B4-BE49-F238E27FC236}">
                  <a16:creationId xmlns:a16="http://schemas.microsoft.com/office/drawing/2014/main" id="{C2B26314-8835-23AA-4639-C10F8CE2C36E}"/>
                </a:ext>
              </a:extLst>
            </p:cNvPr>
            <p:cNvSpPr txBox="1"/>
            <p:nvPr/>
          </p:nvSpPr>
          <p:spPr>
            <a:xfrm>
              <a:off x="13680" y="7176"/>
              <a:ext cx="4819" cy="165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171450" lvl="0" indent="-171450">
                <a:lnSpc>
                  <a:spcPct val="80000"/>
                </a:lnSpc>
                <a:spcBef>
                  <a:spcPts val="700"/>
                </a:spcBef>
                <a:buFont typeface="Wingdings" panose="05000000000000000000" charset="0"/>
                <a:buChar char="v"/>
                <a:defRPr/>
              </a:pPr>
              <a:r>
                <a:rPr kumimoji="0" lang="en-US" altLang="en-US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At</a:t>
              </a:r>
              <a:r>
                <a:rPr kumimoji="0" lang="en-US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 </a:t>
              </a:r>
              <a:r>
                <a:rPr kumimoji="0" lang="en-US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</a:rPr>
                <a:t>PURPLE FRAME</a:t>
              </a:r>
              <a:r>
                <a:rPr kumimoji="0" lang="en-US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 </a:t>
              </a:r>
              <a:r>
                <a:rPr kumimoji="0" lang="en-US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  <a:t>defects detected during HFPA </a:t>
              </a:r>
              <a:r>
                <a:rPr kumimoji="0" lang="en-US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>
                      <a:lumMod val="60000"/>
                      <a:lumOff val="40000"/>
                    </a:srgbClr>
                  </a:solidFill>
                  <a:effectLst/>
                  <a:uLnTx/>
                  <a:uFillTx/>
                  <a:sym typeface="+mn-ea"/>
                </a:rPr>
                <a:t> </a:t>
              </a:r>
              <a:r>
                <a:rPr kumimoji="0" lang="en-US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9BBB59">
                      <a:lumMod val="75000"/>
                    </a:srgbClr>
                  </a:solidFill>
                  <a:effectLst/>
                  <a:uLnTx/>
                  <a:uFillTx/>
                  <a:sym typeface="+mn-ea"/>
                </a:rPr>
                <a:t>(Over cement, </a:t>
              </a:r>
              <a:r>
                <a:rPr kumimoji="0" lang="en-US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10253F"/>
                  </a:solidFill>
                  <a:effectLst/>
                  <a:uLnTx/>
                  <a:uFillTx/>
                  <a:sym typeface="+mn-ea"/>
                </a:rPr>
                <a:t>Cleanness, </a:t>
              </a:r>
              <a:r>
                <a:rPr kumimoji="0" lang="en-US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accent4">
                      <a:lumMod val="75000"/>
                    </a:schemeClr>
                  </a:solidFill>
                  <a:effectLst/>
                  <a:uLnTx/>
                  <a:uFillTx/>
                  <a:sym typeface="+mn-ea"/>
                </a:rPr>
                <a:t>Toe off center)</a:t>
              </a:r>
              <a:r>
                <a:rPr lang="en-US" altLang="en-US" sz="1000" b="1" kern="0" dirty="0">
                  <a:solidFill>
                    <a:schemeClr val="accent4">
                      <a:lumMod val="75000"/>
                    </a:schemeClr>
                  </a:solidFill>
                  <a:sym typeface="+mn-ea"/>
                </a:rPr>
                <a:t> </a:t>
              </a:r>
              <a:r>
                <a:rPr lang="en-US" sz="1000" dirty="0"/>
                <a:t>had only </a:t>
              </a:r>
              <a:r>
                <a:rPr lang="en-US" sz="1000" b="1" dirty="0"/>
                <a:t>slight improvement and even increased </a:t>
              </a:r>
              <a:r>
                <a:rPr lang="en-US" sz="1000" dirty="0"/>
                <a:t>in quantity at the QC &amp; MA re-inspection.</a:t>
              </a:r>
              <a:br>
                <a:rPr kumimoji="0" lang="en-US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</a:rPr>
              </a:br>
              <a:endParaRPr kumimoji="0" lang="en-US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464C982-6308-422E-E931-80889343C411}"/>
              </a:ext>
            </a:extLst>
          </p:cNvPr>
          <p:cNvGrpSpPr/>
          <p:nvPr/>
        </p:nvGrpSpPr>
        <p:grpSpPr>
          <a:xfrm>
            <a:off x="8127168" y="2527102"/>
            <a:ext cx="3950335" cy="708025"/>
            <a:chOff x="13200" y="3663"/>
            <a:chExt cx="6221" cy="1115"/>
          </a:xfrm>
        </p:grpSpPr>
        <p:sp>
          <p:nvSpPr>
            <p:cNvPr id="23" name="Text Box 24">
              <a:extLst>
                <a:ext uri="{FF2B5EF4-FFF2-40B4-BE49-F238E27FC236}">
                  <a16:creationId xmlns:a16="http://schemas.microsoft.com/office/drawing/2014/main" id="{CC659360-589B-9998-AD12-96B2BF1DC52B}"/>
                </a:ext>
              </a:extLst>
            </p:cNvPr>
            <p:cNvSpPr txBox="1"/>
            <p:nvPr/>
          </p:nvSpPr>
          <p:spPr>
            <a:xfrm>
              <a:off x="13680" y="3663"/>
              <a:ext cx="5741" cy="11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marR="0" lvl="0" indent="-17145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" panose="05000000000000000000" charset="0"/>
                <a:buChar char="v"/>
                <a:tabLst/>
                <a:defRPr/>
              </a:pPr>
              <a:r>
                <a:rPr kumimoji="0" lang="en-US" altLang="en-US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sym typeface="+mn-ea"/>
                </a:rPr>
                <a:t>At</a:t>
              </a:r>
              <a:r>
                <a:rPr kumimoji="0" lang="en-US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sym typeface="+mn-ea"/>
                </a:rPr>
                <a:t>  </a:t>
              </a:r>
              <a:r>
                <a:rPr kumimoji="0" lang="en-US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sym typeface="+mn-ea"/>
                </a:rPr>
                <a:t>BLUE FRAME,</a:t>
              </a:r>
              <a:r>
                <a:rPr kumimoji="0" lang="en-US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sym typeface="+mn-ea"/>
                </a:rPr>
                <a:t> </a:t>
              </a:r>
              <a:r>
                <a:rPr kumimoji="0" lang="en-US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sym typeface="+mn-ea"/>
                </a:rPr>
                <a:t>despite having undergone the Re-ins process, defects detected by MA during HFPA </a:t>
              </a:r>
              <a:r>
                <a:rPr kumimoji="0" lang="en-US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rgbClr val="4F6228"/>
                  </a:solidFill>
                  <a:effectLst/>
                  <a:uLnTx/>
                  <a:uFillTx/>
                  <a:sym typeface="+mn-ea"/>
                </a:rPr>
                <a:t> </a:t>
              </a:r>
              <a:r>
                <a:rPr kumimoji="0" lang="en-US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tx2">
                      <a:lumMod val="50000"/>
                    </a:schemeClr>
                  </a:solidFill>
                  <a:effectLst/>
                  <a:uLnTx/>
                  <a:uFillTx/>
                  <a:sym typeface="+mn-ea"/>
                </a:rPr>
                <a:t>(</a:t>
              </a:r>
              <a:r>
                <a:rPr lang="en-US" altLang="en-US" sz="1000" b="1" kern="0" dirty="0">
                  <a:solidFill>
                    <a:schemeClr val="tx2">
                      <a:lumMod val="50000"/>
                    </a:schemeClr>
                  </a:solidFill>
                  <a:sym typeface="+mn-ea"/>
                </a:rPr>
                <a:t>Cl</a:t>
              </a:r>
              <a:r>
                <a:rPr kumimoji="0" lang="en-US" altLang="en-US" sz="1000" b="1" i="0" u="none" strike="noStrike" kern="0" cap="none" spc="0" normalizeH="0" baseline="0" noProof="0" dirty="0" err="1">
                  <a:ln>
                    <a:noFill/>
                  </a:ln>
                  <a:solidFill>
                    <a:schemeClr val="tx2">
                      <a:lumMod val="50000"/>
                    </a:schemeClr>
                  </a:solidFill>
                  <a:effectLst/>
                  <a:uLnTx/>
                  <a:uFillTx/>
                  <a:sym typeface="+mn-ea"/>
                </a:rPr>
                <a:t>eanness</a:t>
              </a:r>
              <a:r>
                <a:rPr kumimoji="0" lang="en-US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chemeClr val="tx2">
                      <a:lumMod val="50000"/>
                    </a:schemeClr>
                  </a:solidFill>
                  <a:effectLst/>
                  <a:uLnTx/>
                  <a:uFillTx/>
                  <a:sym typeface="+mn-ea"/>
                </a:rPr>
                <a:t>)</a:t>
              </a:r>
              <a:r>
                <a:rPr lang="en-US" altLang="en-US" sz="1000" b="1" kern="0" dirty="0">
                  <a:solidFill>
                    <a:schemeClr val="tx2">
                      <a:lumMod val="50000"/>
                    </a:schemeClr>
                  </a:solidFill>
                  <a:sym typeface="+mn-ea"/>
                </a:rPr>
                <a:t> </a:t>
              </a:r>
              <a:r>
                <a:rPr kumimoji="0" lang="en-US" altLang="en-US" sz="100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sym typeface="+mn-ea"/>
                </a:rPr>
                <a:t>were still repeated at the MA re-inspection</a:t>
              </a:r>
              <a:r>
                <a:rPr kumimoji="0" lang="en-US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sym typeface="+mn-ea"/>
                </a:rPr>
                <a:t> with only slight improvement in quantity.</a:t>
              </a:r>
              <a:endParaRPr kumimoji="0" lang="en-US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Freeform 3">
              <a:extLst>
                <a:ext uri="{FF2B5EF4-FFF2-40B4-BE49-F238E27FC236}">
                  <a16:creationId xmlns:a16="http://schemas.microsoft.com/office/drawing/2014/main" id="{29E9B8A3-A673-E6C4-650F-70DC18A42F2B}"/>
                </a:ext>
              </a:extLst>
            </p:cNvPr>
            <p:cNvSpPr/>
            <p:nvPr/>
          </p:nvSpPr>
          <p:spPr>
            <a:xfrm>
              <a:off x="13200" y="3696"/>
              <a:ext cx="461" cy="403"/>
            </a:xfrm>
            <a:custGeom>
              <a:avLst/>
              <a:gdLst/>
              <a:ahLst/>
              <a:cxnLst/>
              <a:rect l="l" t="t" r="r" b="b"/>
              <a:pathLst>
                <a:path w="1043341" h="1016784">
                  <a:moveTo>
                    <a:pt x="0" y="0"/>
                  </a:moveTo>
                  <a:lnTo>
                    <a:pt x="1043341" y="0"/>
                  </a:lnTo>
                  <a:lnTo>
                    <a:pt x="1043341" y="1016783"/>
                  </a:lnTo>
                  <a:lnTo>
                    <a:pt x="0" y="10167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5" name="Text Box 72">
            <a:extLst>
              <a:ext uri="{FF2B5EF4-FFF2-40B4-BE49-F238E27FC236}">
                <a16:creationId xmlns:a16="http://schemas.microsoft.com/office/drawing/2014/main" id="{88F21813-9460-7168-BE5B-FEB188351F5F}"/>
              </a:ext>
            </a:extLst>
          </p:cNvPr>
          <p:cNvSpPr txBox="1"/>
          <p:nvPr/>
        </p:nvSpPr>
        <p:spPr>
          <a:xfrm>
            <a:off x="8127168" y="5353471"/>
            <a:ext cx="3855720" cy="5861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marR="0" lvl="0" indent="-171450" defTabSz="914400" eaLnBrk="1" fontAlgn="auto" latinLnBrk="0" hangingPunct="1">
              <a:lnSpc>
                <a:spcPct val="8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  <a:tabLst/>
              <a:defRPr/>
            </a:pPr>
            <a:r>
              <a:rPr kumimoji="0" lang="en-US" altLang="en-US" sz="10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It is </a:t>
            </a:r>
            <a:r>
              <a:rPr kumimoji="0" lang="en-US" altLang="en-US" sz="1000" b="0" i="1" u="none" strike="noStrike" kern="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nescessary</a:t>
            </a:r>
            <a:r>
              <a:rPr kumimoji="0" lang="en-US" altLang="en-US" sz="1000" b="0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for</a:t>
            </a:r>
            <a:r>
              <a:rPr kumimoji="0" lang="en-US" altLang="en-US" sz="1000" b="1" i="1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Reviewing the inspection standards</a:t>
            </a:r>
            <a:r>
              <a:rPr kumimoji="0" lang="en-US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 </a:t>
            </a:r>
            <a:r>
              <a:rPr kumimoji="0" lang="en-US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among QCs - MAs, </a:t>
            </a:r>
            <a:r>
              <a:rPr kumimoji="0" lang="en-US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sym typeface="+mn-ea"/>
              </a:rPr>
              <a:t> as well as within each team themselves</a:t>
            </a:r>
            <a:endParaRPr kumimoji="0" lang="en-US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38" name="Rectangles 79">
            <a:extLst>
              <a:ext uri="{FF2B5EF4-FFF2-40B4-BE49-F238E27FC236}">
                <a16:creationId xmlns:a16="http://schemas.microsoft.com/office/drawing/2014/main" id="{CD3D6425-4234-9855-1104-11B393468DEB}"/>
              </a:ext>
            </a:extLst>
          </p:cNvPr>
          <p:cNvSpPr/>
          <p:nvPr/>
        </p:nvSpPr>
        <p:spPr>
          <a:xfrm rot="16200000">
            <a:off x="4354196" y="2904277"/>
            <a:ext cx="1051562" cy="6089653"/>
          </a:xfrm>
          <a:prstGeom prst="rect">
            <a:avLst/>
          </a:prstGeom>
          <a:noFill/>
          <a:ln w="25400" cap="flat" cmpd="sng" algn="ctr">
            <a:solidFill>
              <a:srgbClr val="8064A2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highlight>
                <a:srgbClr val="FFFF00"/>
              </a:highlight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2CE2547C-EA2D-EC98-BECD-EEAC717AFF28}"/>
              </a:ext>
            </a:extLst>
          </p:cNvPr>
          <p:cNvCxnSpPr>
            <a:cxnSpLocks/>
          </p:cNvCxnSpPr>
          <p:nvPr/>
        </p:nvCxnSpPr>
        <p:spPr>
          <a:xfrm>
            <a:off x="4724400" y="5587788"/>
            <a:ext cx="304800" cy="253004"/>
          </a:xfrm>
          <a:prstGeom prst="straightConnector1">
            <a:avLst/>
          </a:prstGeom>
          <a:noFill/>
          <a:ln w="19050" cap="flat" cmpd="sng">
            <a:gradFill>
              <a:gsLst>
                <a:gs pos="0">
                  <a:srgbClr val="C0504D">
                    <a:lumMod val="20000"/>
                    <a:lumOff val="80000"/>
                  </a:srgbClr>
                </a:gs>
                <a:gs pos="88000">
                  <a:srgbClr val="8064A2"/>
                </a:gs>
              </a:gsLst>
            </a:gradFill>
            <a:headEnd type="oval" w="med" len="med"/>
            <a:tailEnd type="oval" w="sm" len="sm"/>
          </a:ln>
          <a:effectLst/>
        </p:spPr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4C8FB7B0-9EEC-6218-2828-B4827275EF6B}"/>
              </a:ext>
            </a:extLst>
          </p:cNvPr>
          <p:cNvCxnSpPr>
            <a:cxnSpLocks/>
          </p:cNvCxnSpPr>
          <p:nvPr/>
        </p:nvCxnSpPr>
        <p:spPr>
          <a:xfrm>
            <a:off x="3471274" y="5587788"/>
            <a:ext cx="368639" cy="55988"/>
          </a:xfrm>
          <a:prstGeom prst="straightConnector1">
            <a:avLst/>
          </a:prstGeom>
          <a:noFill/>
          <a:ln w="19050" cap="flat" cmpd="sng">
            <a:gradFill>
              <a:gsLst>
                <a:gs pos="0">
                  <a:srgbClr val="C0504D">
                    <a:lumMod val="20000"/>
                    <a:lumOff val="80000"/>
                  </a:srgbClr>
                </a:gs>
                <a:gs pos="88000">
                  <a:srgbClr val="8064A2"/>
                </a:gs>
              </a:gsLst>
            </a:gradFill>
            <a:headEnd type="oval" w="med" len="med"/>
            <a:tailEnd type="oval" w="sm" len="sm"/>
          </a:ln>
          <a:effectLst/>
        </p:spPr>
      </p:cxnSp>
      <p:sp>
        <p:nvSpPr>
          <p:cNvPr id="36" name="Rectangles 61">
            <a:extLst>
              <a:ext uri="{FF2B5EF4-FFF2-40B4-BE49-F238E27FC236}">
                <a16:creationId xmlns:a16="http://schemas.microsoft.com/office/drawing/2014/main" id="{9A064DF5-E570-3609-47D9-D8E72634632C}"/>
              </a:ext>
            </a:extLst>
          </p:cNvPr>
          <p:cNvSpPr/>
          <p:nvPr/>
        </p:nvSpPr>
        <p:spPr>
          <a:xfrm rot="16200000">
            <a:off x="6692785" y="2192184"/>
            <a:ext cx="1054416" cy="1181186"/>
          </a:xfrm>
          <a:prstGeom prst="rect">
            <a:avLst/>
          </a:prstGeom>
          <a:noFill/>
          <a:ln w="25400" cap="flat" cmpd="sng" algn="ctr">
            <a:solidFill>
              <a:srgbClr val="1F497D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highlight>
                <a:srgbClr val="FFFF00"/>
              </a:highlight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FA9C964-6719-AAB4-2D59-A3AE605299CF}"/>
              </a:ext>
            </a:extLst>
          </p:cNvPr>
          <p:cNvCxnSpPr>
            <a:cxnSpLocks/>
          </p:cNvCxnSpPr>
          <p:nvPr/>
        </p:nvCxnSpPr>
        <p:spPr>
          <a:xfrm flipV="1">
            <a:off x="4702279" y="6172200"/>
            <a:ext cx="333010" cy="59312"/>
          </a:xfrm>
          <a:prstGeom prst="straightConnector1">
            <a:avLst/>
          </a:prstGeom>
          <a:noFill/>
          <a:ln w="19050" cap="flat" cmpd="sng">
            <a:gradFill>
              <a:gsLst>
                <a:gs pos="0">
                  <a:srgbClr val="C0504D">
                    <a:lumMod val="20000"/>
                    <a:lumOff val="80000"/>
                  </a:srgbClr>
                </a:gs>
                <a:gs pos="88000">
                  <a:srgbClr val="8064A2"/>
                </a:gs>
              </a:gsLst>
            </a:gradFill>
            <a:headEnd type="oval" w="med" len="med"/>
            <a:tailEnd type="oval" w="sm" len="sm"/>
          </a:ln>
          <a:effectLst/>
        </p:spPr>
      </p:cxn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97274E3F-5FB9-93A8-9130-ED52725E9C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049156"/>
              </p:ext>
            </p:extLst>
          </p:nvPr>
        </p:nvGraphicFramePr>
        <p:xfrm>
          <a:off x="8314639" y="745832"/>
          <a:ext cx="1907540" cy="1585700"/>
        </p:xfrm>
        <a:graphic>
          <a:graphicData uri="http://schemas.openxmlformats.org/drawingml/2006/table">
            <a:tbl>
              <a:tblPr/>
              <a:tblGrid>
                <a:gridCol w="231140">
                  <a:extLst>
                    <a:ext uri="{9D8B030D-6E8A-4147-A177-3AD203B41FA5}">
                      <a16:colId xmlns:a16="http://schemas.microsoft.com/office/drawing/2014/main" val="2650122853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766246057"/>
                    </a:ext>
                  </a:extLst>
                </a:gridCol>
              </a:tblGrid>
              <a:tr h="2173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0253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vi-V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Cleanness</a:t>
                      </a: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5720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6783301"/>
                  </a:ext>
                </a:extLst>
              </a:tr>
              <a:tr h="2173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cs typeface="Times New Roman" panose="02020603050405020304" pitchFamily="18" charset="0"/>
                        </a:rPr>
                        <a:t>Midsole/Outsole to upper bond gap</a:t>
                      </a:r>
                    </a:p>
                  </a:txBody>
                  <a:tcPr marL="45720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9315829"/>
                  </a:ext>
                </a:extLst>
              </a:tr>
              <a:tr h="2173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7F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vi-V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Thread end</a:t>
                      </a:r>
                    </a:p>
                  </a:txBody>
                  <a:tcPr marL="45720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296649"/>
                  </a:ext>
                </a:extLst>
              </a:tr>
              <a:tr h="2173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622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vi-VN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Over </a:t>
                      </a:r>
                      <a:r>
                        <a:rPr lang="en-US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+mn-ea"/>
                          <a:cs typeface="Times New Roman" panose="02020603050405020304" pitchFamily="18" charset="0"/>
                        </a:rPr>
                        <a:t>cement</a:t>
                      </a:r>
                      <a:endParaRPr lang="vi-VN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+mj-lt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45720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116464"/>
                  </a:ext>
                </a:extLst>
              </a:tr>
              <a:tr h="2173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53735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Over buffing</a:t>
                      </a:r>
                    </a:p>
                  </a:txBody>
                  <a:tcPr marL="45720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9216216"/>
                  </a:ext>
                </a:extLst>
              </a:tr>
              <a:tr h="2173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5F6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Bond gap at bottom</a:t>
                      </a: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9414990"/>
                  </a:ext>
                </a:extLst>
              </a:tr>
              <a:tr h="2173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E9B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Collar shape</a:t>
                      </a: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6152340"/>
                  </a:ext>
                </a:extLst>
              </a:tr>
            </a:tbl>
          </a:graphicData>
        </a:graphic>
      </p:graphicFrame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4C4B9A72-01E5-FA5F-57F4-CB8C81CBDB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4206733"/>
              </p:ext>
            </p:extLst>
          </p:nvPr>
        </p:nvGraphicFramePr>
        <p:xfrm>
          <a:off x="10440670" y="730250"/>
          <a:ext cx="1594214" cy="1566877"/>
        </p:xfrm>
        <a:graphic>
          <a:graphicData uri="http://schemas.openxmlformats.org/drawingml/2006/table">
            <a:tbl>
              <a:tblPr/>
              <a:tblGrid>
                <a:gridCol w="231140">
                  <a:extLst>
                    <a:ext uri="{9D8B030D-6E8A-4147-A177-3AD203B41FA5}">
                      <a16:colId xmlns:a16="http://schemas.microsoft.com/office/drawing/2014/main" val="2650122853"/>
                    </a:ext>
                  </a:extLst>
                </a:gridCol>
                <a:gridCol w="1363074">
                  <a:extLst>
                    <a:ext uri="{9D8B030D-6E8A-4147-A177-3AD203B41FA5}">
                      <a16:colId xmlns:a16="http://schemas.microsoft.com/office/drawing/2014/main" val="3766246057"/>
                    </a:ext>
                  </a:extLst>
                </a:gridCol>
              </a:tblGrid>
              <a:tr h="2173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Sole attachment</a:t>
                      </a: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6783301"/>
                  </a:ext>
                </a:extLst>
              </a:tr>
              <a:tr h="26253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Stitching margin/SPI</a:t>
                      </a: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9315829"/>
                  </a:ext>
                </a:extLst>
              </a:tr>
              <a:tr h="21739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/>
                        </a:defRPr>
                      </a:lvl9pPr>
                    </a:lstStyle>
                    <a:p>
                      <a:pPr algn="l" fontAlgn="ctr">
                        <a:buNone/>
                      </a:pP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6A4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Heel/Tip height inconsistent</a:t>
                      </a: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296649"/>
                  </a:ext>
                </a:extLst>
              </a:tr>
              <a:tr h="2173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4BD9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Hairy edge</a:t>
                      </a: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810246"/>
                  </a:ext>
                </a:extLst>
              </a:tr>
              <a:tr h="2173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315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Toe off center</a:t>
                      </a: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693274"/>
                  </a:ext>
                </a:extLst>
              </a:tr>
              <a:tr h="2173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9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FFD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Outsole thread stitching</a:t>
                      </a: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7205637"/>
                  </a:ext>
                </a:extLst>
              </a:tr>
              <a:tr h="21739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vi-VN" sz="10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45720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D7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Rocking</a:t>
                      </a:r>
                    </a:p>
                  </a:txBody>
                  <a:tcPr marL="7034" marR="7034" marT="7034" marB="0"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6663827"/>
                  </a:ext>
                </a:extLst>
              </a:tr>
            </a:tbl>
          </a:graphicData>
        </a:graphic>
      </p:graphicFrame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29C9103-C46D-2FE9-DD9E-E0EDD55FA4D3}"/>
              </a:ext>
            </a:extLst>
          </p:cNvPr>
          <p:cNvCxnSpPr>
            <a:cxnSpLocks/>
          </p:cNvCxnSpPr>
          <p:nvPr/>
        </p:nvCxnSpPr>
        <p:spPr>
          <a:xfrm flipV="1">
            <a:off x="7084060" y="3009265"/>
            <a:ext cx="307340" cy="195"/>
          </a:xfrm>
          <a:prstGeom prst="straightConnector1">
            <a:avLst/>
          </a:prstGeom>
          <a:noFill/>
          <a:ln w="19050" cap="flat" cmpd="sng">
            <a:gradFill>
              <a:gsLst>
                <a:gs pos="0">
                  <a:srgbClr val="4F81BD">
                    <a:hueOff val="-4200000"/>
                    <a:lumMod val="97000"/>
                  </a:srgbClr>
                </a:gs>
                <a:gs pos="100000">
                  <a:srgbClr val="4F81BD"/>
                </a:gs>
              </a:gsLst>
            </a:gradFill>
            <a:headEnd type="oval" w="med" len="med"/>
            <a:tailEnd type="oval" w="sm" len="sm"/>
          </a:ln>
          <a:effectLst/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86BB1EF-110B-17AB-142D-AAEA3CC9A727}"/>
              </a:ext>
            </a:extLst>
          </p:cNvPr>
          <p:cNvCxnSpPr>
            <a:cxnSpLocks/>
          </p:cNvCxnSpPr>
          <p:nvPr/>
        </p:nvCxnSpPr>
        <p:spPr>
          <a:xfrm flipV="1">
            <a:off x="2283253" y="5801995"/>
            <a:ext cx="391830" cy="38797"/>
          </a:xfrm>
          <a:prstGeom prst="straightConnector1">
            <a:avLst/>
          </a:prstGeom>
          <a:noFill/>
          <a:ln w="19050" cap="flat" cmpd="sng">
            <a:gradFill>
              <a:gsLst>
                <a:gs pos="0">
                  <a:srgbClr val="C0504D">
                    <a:lumMod val="20000"/>
                    <a:lumOff val="80000"/>
                  </a:srgbClr>
                </a:gs>
                <a:gs pos="88000">
                  <a:srgbClr val="8064A2"/>
                </a:gs>
              </a:gsLst>
            </a:gradFill>
            <a:headEnd type="oval" w="med" len="med"/>
            <a:tailEnd type="oval" w="sm" len="sm"/>
          </a:ln>
          <a:effectLst/>
        </p:spPr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7192857" y="2514600"/>
            <a:ext cx="2224617" cy="268817"/>
            <a:chOff x="0" y="0"/>
            <a:chExt cx="2058649" cy="162211"/>
          </a:xfrm>
          <a:solidFill>
            <a:schemeClr val="accent5">
              <a:lumMod val="50000"/>
            </a:schemeClr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2058649" cy="162211"/>
            </a:xfrm>
            <a:custGeom>
              <a:avLst/>
              <a:gdLst/>
              <a:ahLst/>
              <a:cxnLst/>
              <a:rect l="l" t="t" r="r" b="b"/>
              <a:pathLst>
                <a:path w="2058649" h="162211">
                  <a:moveTo>
                    <a:pt x="0" y="0"/>
                  </a:moveTo>
                  <a:lnTo>
                    <a:pt x="2058649" y="0"/>
                  </a:lnTo>
                  <a:lnTo>
                    <a:pt x="2058649" y="162211"/>
                  </a:lnTo>
                  <a:lnTo>
                    <a:pt x="0" y="16221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vi-V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60035" y="0"/>
              <a:ext cx="1865439" cy="162211"/>
            </a:xfrm>
            <a:prstGeom prst="rect">
              <a:avLst/>
            </a:prstGeom>
            <a:grpFill/>
            <a:ln>
              <a:noFill/>
            </a:ln>
          </p:spPr>
          <p:txBody>
            <a:bodyPr lIns="33864" tIns="33864" rIns="33864" bIns="33864" rtlCol="0" anchor="ctr"/>
            <a:lstStyle/>
            <a:p>
              <a:pPr algn="ctr">
                <a:lnSpc>
                  <a:spcPts val="2940"/>
                </a:lnSpc>
              </a:pPr>
              <a:endParaRPr lang="en-US" sz="1400" u="none" dirty="0">
                <a:solidFill>
                  <a:schemeClr val="bg1"/>
                </a:solidFill>
                <a:latin typeface="Noto Sans Bold" panose="020B0802040504020204"/>
              </a:endParaRPr>
            </a:p>
          </p:txBody>
        </p:sp>
      </p:grpSp>
      <p:sp>
        <p:nvSpPr>
          <p:cNvPr id="14" name="Rounded Rectangle 13"/>
          <p:cNvSpPr/>
          <p:nvPr/>
        </p:nvSpPr>
        <p:spPr>
          <a:xfrm>
            <a:off x="10109200" y="4685453"/>
            <a:ext cx="2017183" cy="316230"/>
          </a:xfrm>
          <a:prstGeom prst="roundRect">
            <a:avLst>
              <a:gd name="adj" fmla="val 50000"/>
            </a:avLst>
          </a:prstGeom>
          <a:solidFill>
            <a:srgbClr val="3D523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grpSp>
        <p:nvGrpSpPr>
          <p:cNvPr id="6" name="Group 6"/>
          <p:cNvGrpSpPr/>
          <p:nvPr/>
        </p:nvGrpSpPr>
        <p:grpSpPr>
          <a:xfrm>
            <a:off x="-1" y="2416689"/>
            <a:ext cx="1489037" cy="397366"/>
            <a:chOff x="0" y="0"/>
            <a:chExt cx="1536012" cy="15698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36012" cy="156984"/>
            </a:xfrm>
            <a:custGeom>
              <a:avLst/>
              <a:gdLst/>
              <a:ahLst/>
              <a:cxnLst/>
              <a:rect l="l" t="t" r="r" b="b"/>
              <a:pathLst>
                <a:path w="1536012" h="156984">
                  <a:moveTo>
                    <a:pt x="0" y="0"/>
                  </a:moveTo>
                  <a:lnTo>
                    <a:pt x="1536012" y="0"/>
                  </a:lnTo>
                  <a:lnTo>
                    <a:pt x="1536012" y="156984"/>
                  </a:lnTo>
                  <a:lnTo>
                    <a:pt x="0" y="15698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vi-V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33864" tIns="33864" rIns="33864" bIns="33864" rtlCol="0" anchor="ctr"/>
            <a:lstStyle/>
            <a:p>
              <a:pPr>
                <a:lnSpc>
                  <a:spcPts val="2940"/>
                </a:lnSpc>
              </a:pPr>
              <a:endParaRPr sz="1200"/>
            </a:p>
          </p:txBody>
        </p:sp>
      </p:grpSp>
      <p:sp>
        <p:nvSpPr>
          <p:cNvPr id="13" name="Freeform 13"/>
          <p:cNvSpPr/>
          <p:nvPr/>
        </p:nvSpPr>
        <p:spPr>
          <a:xfrm>
            <a:off x="7061200" y="4089400"/>
            <a:ext cx="5126990" cy="384810"/>
          </a:xfrm>
          <a:custGeom>
            <a:avLst/>
            <a:gdLst/>
            <a:ahLst/>
            <a:cxnLst/>
            <a:rect l="l" t="t" r="r" b="b"/>
            <a:pathLst>
              <a:path w="2135072" h="135474">
                <a:moveTo>
                  <a:pt x="0" y="0"/>
                </a:moveTo>
                <a:lnTo>
                  <a:pt x="2135072" y="0"/>
                </a:lnTo>
                <a:lnTo>
                  <a:pt x="2135072" y="135474"/>
                </a:lnTo>
                <a:lnTo>
                  <a:pt x="0" y="135474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</p:spPr>
        <p:txBody>
          <a:bodyPr/>
          <a:lstStyle/>
          <a:p>
            <a:endParaRPr lang="vi-VN"/>
          </a:p>
        </p:txBody>
      </p:sp>
      <p:sp>
        <p:nvSpPr>
          <p:cNvPr id="15" name="TextBox 15"/>
          <p:cNvSpPr txBox="1"/>
          <p:nvPr/>
        </p:nvSpPr>
        <p:spPr>
          <a:xfrm>
            <a:off x="7010188" y="2271818"/>
            <a:ext cx="4398857" cy="2376170"/>
          </a:xfrm>
          <a:prstGeom prst="rect">
            <a:avLst/>
          </a:prstGeom>
          <a:effectLst>
            <a:outerShdw blurRad="1016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lnSpc>
                <a:spcPts val="9265"/>
              </a:lnSpc>
              <a:spcBef>
                <a:spcPct val="0"/>
              </a:spcBef>
            </a:pPr>
            <a:r>
              <a:rPr lang="en-US" sz="5865" u="none" dirty="0">
                <a:solidFill>
                  <a:srgbClr val="12222B"/>
                </a:solidFill>
                <a:latin typeface="Open Sans Bold"/>
              </a:rPr>
              <a:t>THANK YOU!</a:t>
            </a:r>
          </a:p>
        </p:txBody>
      </p:sp>
      <p:pic>
        <p:nvPicPr>
          <p:cNvPr id="16" name="Picture 15"/>
          <p:cNvPicPr/>
          <p:nvPr/>
        </p:nvPicPr>
        <p:blipFill>
          <a:blip r:embed="rId2"/>
          <a:stretch>
            <a:fillRect/>
          </a:stretch>
        </p:blipFill>
        <p:spPr>
          <a:xfrm>
            <a:off x="10414000" y="533400"/>
            <a:ext cx="1488440" cy="672677"/>
          </a:xfrm>
          <a:prstGeom prst="rect">
            <a:avLst/>
          </a:prstGeom>
        </p:spPr>
      </p:pic>
      <p:grpSp>
        <p:nvGrpSpPr>
          <p:cNvPr id="32" name="Group 31"/>
          <p:cNvGrpSpPr/>
          <p:nvPr/>
        </p:nvGrpSpPr>
        <p:grpSpPr>
          <a:xfrm>
            <a:off x="-468630" y="2487930"/>
            <a:ext cx="6653530" cy="4143163"/>
            <a:chOff x="-1947" y="6237"/>
            <a:chExt cx="15717" cy="9787"/>
          </a:xfrm>
          <a:blipFill rotWithShape="1">
            <a:blip r:embed="rId3"/>
            <a:stretch>
              <a:fillRect/>
            </a:stretch>
          </a:blipFill>
        </p:grpSpPr>
        <p:sp>
          <p:nvSpPr>
            <p:cNvPr id="20" name="Rounded Rectangle 19"/>
            <p:cNvSpPr/>
            <p:nvPr/>
          </p:nvSpPr>
          <p:spPr>
            <a:xfrm rot="2820000">
              <a:off x="2285" y="2637"/>
              <a:ext cx="1800" cy="9000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noFill/>
              </a:endParaRPr>
            </a:p>
          </p:txBody>
        </p:sp>
        <p:sp>
          <p:nvSpPr>
            <p:cNvPr id="21" name="Rounded Rectangle 20"/>
            <p:cNvSpPr/>
            <p:nvPr/>
          </p:nvSpPr>
          <p:spPr>
            <a:xfrm rot="2820000">
              <a:off x="3767" y="2058"/>
              <a:ext cx="1800" cy="1264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noFill/>
              </a:endParaRPr>
            </a:p>
          </p:txBody>
        </p:sp>
        <p:sp>
          <p:nvSpPr>
            <p:cNvPr id="22" name="Rounded Rectangle 21"/>
            <p:cNvSpPr/>
            <p:nvPr/>
          </p:nvSpPr>
          <p:spPr>
            <a:xfrm rot="2820000">
              <a:off x="6904" y="5386"/>
              <a:ext cx="1800" cy="10643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noFill/>
              </a:endParaRPr>
            </a:p>
          </p:txBody>
        </p:sp>
        <p:sp>
          <p:nvSpPr>
            <p:cNvPr id="23" name="Rounded Rectangle 22"/>
            <p:cNvSpPr/>
            <p:nvPr/>
          </p:nvSpPr>
          <p:spPr>
            <a:xfrm rot="2820000">
              <a:off x="7822" y="3328"/>
              <a:ext cx="1800" cy="7735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noFill/>
              </a:endParaRPr>
            </a:p>
          </p:txBody>
        </p:sp>
        <p:sp>
          <p:nvSpPr>
            <p:cNvPr id="28" name="Rounded Rectangle 27"/>
            <p:cNvSpPr/>
            <p:nvPr/>
          </p:nvSpPr>
          <p:spPr>
            <a:xfrm rot="2820000">
              <a:off x="1706" y="8391"/>
              <a:ext cx="1800" cy="9106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noFill/>
              </a:endParaRPr>
            </a:p>
          </p:txBody>
        </p:sp>
        <p:sp>
          <p:nvSpPr>
            <p:cNvPr id="29" name="Rounded Rectangle 28"/>
            <p:cNvSpPr/>
            <p:nvPr/>
          </p:nvSpPr>
          <p:spPr>
            <a:xfrm rot="2820000">
              <a:off x="6935" y="7471"/>
              <a:ext cx="1800" cy="11871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ln>
                  <a:noFill/>
                </a:ln>
                <a:noFill/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2239" y="14100"/>
              <a:ext cx="1841" cy="192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200">
                <a:noFill/>
              </a:endParaRPr>
            </a:p>
          </p:txBody>
        </p:sp>
      </p:grpSp>
      <p:sp>
        <p:nvSpPr>
          <p:cNvPr id="33" name="Freeform 17"/>
          <p:cNvSpPr/>
          <p:nvPr/>
        </p:nvSpPr>
        <p:spPr>
          <a:xfrm>
            <a:off x="812800" y="480060"/>
            <a:ext cx="2681393" cy="492337"/>
          </a:xfrm>
          <a:custGeom>
            <a:avLst/>
            <a:gdLst/>
            <a:ahLst/>
            <a:cxnLst/>
            <a:rect l="l" t="t" r="r" b="b"/>
            <a:pathLst>
              <a:path w="4260505" h="784830">
                <a:moveTo>
                  <a:pt x="0" y="0"/>
                </a:moveTo>
                <a:lnTo>
                  <a:pt x="4260505" y="0"/>
                </a:lnTo>
                <a:lnTo>
                  <a:pt x="4260505" y="784830"/>
                </a:lnTo>
                <a:lnTo>
                  <a:pt x="0" y="7848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effectLst/>
        </p:spPr>
        <p:txBody>
          <a:bodyPr/>
          <a:lstStyle/>
          <a:p>
            <a:endParaRPr lang="en-US" sz="1200" b="1">
              <a:effectLst>
                <a:glow rad="101600">
                  <a:schemeClr val="accent1">
                    <a:satMod val="175000"/>
                    <a:alpha val="40000"/>
                  </a:schemeClr>
                </a:glow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Freeform 6"/>
          <p:cNvSpPr/>
          <p:nvPr/>
        </p:nvSpPr>
        <p:spPr>
          <a:xfrm>
            <a:off x="10233492" y="4740337"/>
            <a:ext cx="203690" cy="201468"/>
          </a:xfrm>
          <a:custGeom>
            <a:avLst/>
            <a:gdLst/>
            <a:ahLst/>
            <a:cxnLst/>
            <a:rect l="l" t="t" r="r" b="b"/>
            <a:pathLst>
              <a:path w="305535" h="302202">
                <a:moveTo>
                  <a:pt x="0" y="0"/>
                </a:moveTo>
                <a:lnTo>
                  <a:pt x="305535" y="0"/>
                </a:lnTo>
                <a:lnTo>
                  <a:pt x="305535" y="302203"/>
                </a:lnTo>
                <a:lnTo>
                  <a:pt x="0" y="3022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12" name="TextBox 7"/>
          <p:cNvSpPr txBox="1"/>
          <p:nvPr/>
        </p:nvSpPr>
        <p:spPr>
          <a:xfrm>
            <a:off x="10515600" y="4648200"/>
            <a:ext cx="1525270" cy="243417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l">
              <a:lnSpc>
                <a:spcPts val="2415"/>
              </a:lnSpc>
            </a:pPr>
            <a:r>
              <a:rPr lang="en-US" sz="1600">
                <a:solidFill>
                  <a:srgbClr val="FFFFFF"/>
                </a:solidFill>
                <a:latin typeface="Angsana New" panose="02020603050405020304" charset="0"/>
                <a:ea typeface="Aileron" panose="00000500000000000000"/>
                <a:cs typeface="Angsana New" panose="02020603050405020304" charset="0"/>
                <a:sym typeface="Aileron" panose="00000500000000000000"/>
              </a:rPr>
              <a:t>nedd.phan@chingluh.com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59*61"/>
  <p:tag name="TABLE_ENDDRAG_RECT" val="340*154*159*6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21*104"/>
  <p:tag name="TABLE_ENDDRAG_RECT" val="369*338*221*10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21*87"/>
  <p:tag name="TABLE_ENDDRAG_RECT" val="413*531*221*8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221*86"/>
  <p:tag name="TABLE_ENDDRAG_RECT" val="413*681*221*8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15,&quot;left&quot;:330,&quot;top&quot;:99.65,&quot;width&quot;:900.4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15,&quot;left&quot;:330,&quot;top&quot;:99.65,&quot;width&quot;:900.4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15,&quot;left&quot;:330,&quot;top&quot;:99.65,&quot;width&quot;:900.4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2.15,&quot;left&quot;:330,&quot;top&quot;:99.65,&quot;width&quot;:900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4107</TotalTime>
  <Words>707</Words>
  <Application>Microsoft Office PowerPoint</Application>
  <PresentationFormat>Widescreen</PresentationFormat>
  <Paragraphs>161</Paragraphs>
  <Slides>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Noto Sans Bold</vt:lpstr>
      <vt:lpstr>Montserrat Bold</vt:lpstr>
      <vt:lpstr>Neo Sans Std</vt:lpstr>
      <vt:lpstr>Calibri</vt:lpstr>
      <vt:lpstr>Arial</vt:lpstr>
      <vt:lpstr>Wingdings</vt:lpstr>
      <vt:lpstr>Open Sans Bold</vt:lpstr>
      <vt:lpstr>Angsana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Blue Professional Modern Technology Pitch Deck Presentation</dc:title>
  <dc:creator/>
  <cp:lastModifiedBy>Minh Thuong Phan</cp:lastModifiedBy>
  <cp:revision>27</cp:revision>
  <dcterms:created xsi:type="dcterms:W3CDTF">2006-08-16T00:00:00Z</dcterms:created>
  <dcterms:modified xsi:type="dcterms:W3CDTF">2026-08-05T08:16:27Z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8A87BC92547D41E6A93368D00AFB2B16_13</vt:lpwstr>
  </property>
  <property fmtid="{D5CDD505-2E9C-101B-9397-08002B2CF9AE}" pid="3" name="KSOProductBuildVer">
    <vt:lpwstr>1033-12.2.0.21179</vt:lpwstr>
  </property>
</Properties>
</file>